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Poppins Bold" charset="1" panose="00000800000000000000"/>
      <p:regular r:id="rId38"/>
    </p:embeddedFont>
    <p:embeddedFont>
      <p:font typeface="Cairo" charset="1" panose="00000500000000000000"/>
      <p:regular r:id="rId39"/>
    </p:embeddedFont>
    <p:embeddedFont>
      <p:font typeface="Aptos" charset="1" panose="020B0004020202020204"/>
      <p:regular r:id="rId40"/>
    </p:embeddedFont>
    <p:embeddedFont>
      <p:font typeface="Aptos Bold" charset="1" panose="020B0004020202020204"/>
      <p:regular r:id="rId41"/>
    </p:embeddedFont>
    <p:embeddedFont>
      <p:font typeface="Poppins" charset="1" panose="00000500000000000000"/>
      <p:regular r:id="rId42"/>
    </p:embeddedFont>
    <p:embeddedFont>
      <p:font typeface="Cairo Bold" charset="1" panose="0000080000000000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12" Target="../media/image4.png" Type="http://schemas.openxmlformats.org/officeDocument/2006/relationships/image"/><Relationship Id="rId13" Target="../media/image6.png" Type="http://schemas.openxmlformats.org/officeDocument/2006/relationships/image"/><Relationship Id="rId14" Target="../media/image7.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 Id="rId5" Target="../media/image6.png" Type="http://schemas.openxmlformats.org/officeDocument/2006/relationships/image"/><Relationship Id="rId6" Target="../media/image12.png" Type="http://schemas.openxmlformats.org/officeDocument/2006/relationships/image"/><Relationship Id="rId7"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4.pn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21.png" Type="http://schemas.openxmlformats.org/officeDocument/2006/relationships/image"/><Relationship Id="rId12" Target="../media/image22.png" Type="http://schemas.openxmlformats.org/officeDocument/2006/relationships/image"/><Relationship Id="rId13" Target="../media/image23.png" Type="http://schemas.openxmlformats.org/officeDocument/2006/relationships/image"/><Relationship Id="rId14" Target="../media/image24.png" Type="http://schemas.openxmlformats.org/officeDocument/2006/relationships/image"/><Relationship Id="rId15" Target="../media/image25.png" Type="http://schemas.openxmlformats.org/officeDocument/2006/relationships/image"/><Relationship Id="rId16" Target="../media/image7.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6.png" Type="http://schemas.openxmlformats.org/officeDocument/2006/relationships/image"/><Relationship Id="rId5" Target="../media/image4.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29.jpeg" Type="http://schemas.openxmlformats.org/officeDocument/2006/relationships/image"/><Relationship Id="rId9"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0.jpeg" Type="http://schemas.openxmlformats.org/officeDocument/2006/relationships/image"/><Relationship Id="rId9"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1.jpeg" Type="http://schemas.openxmlformats.org/officeDocument/2006/relationships/image"/><Relationship Id="rId9"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2.jpeg" Type="http://schemas.openxmlformats.org/officeDocument/2006/relationships/image"/><Relationship Id="rId9"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3.jpeg" Type="http://schemas.openxmlformats.org/officeDocument/2006/relationships/image"/><Relationship Id="rId9"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4.jpeg" Type="http://schemas.openxmlformats.org/officeDocument/2006/relationships/image"/><Relationship Id="rId9"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5.jpeg" Type="http://schemas.openxmlformats.org/officeDocument/2006/relationships/image"/><Relationship Id="rId9" Target="../media/image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6.jpeg" Type="http://schemas.openxmlformats.org/officeDocument/2006/relationships/image"/><Relationship Id="rId9" Target="../media/image7.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7.jpeg" Type="http://schemas.openxmlformats.org/officeDocument/2006/relationships/image"/><Relationship Id="rId9"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8.jpeg" Type="http://schemas.openxmlformats.org/officeDocument/2006/relationships/image"/><Relationship Id="rId9" Target="../media/image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39.jpeg" Type="http://schemas.openxmlformats.org/officeDocument/2006/relationships/image"/><Relationship Id="rId9" Target="../media/image7.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40.jpeg" Type="http://schemas.openxmlformats.org/officeDocument/2006/relationships/image"/><Relationship Id="rId9" Target="../media/image7.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41.jpeg" Type="http://schemas.openxmlformats.org/officeDocument/2006/relationships/image"/><Relationship Id="rId9" Target="../media/image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2.png" Type="http://schemas.openxmlformats.org/officeDocument/2006/relationships/image"/><Relationship Id="rId5" Target="../media/image4.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43.jpeg" Type="http://schemas.openxmlformats.org/officeDocument/2006/relationships/image"/><Relationship Id="rId9" Target="../media/image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4.png" Type="http://schemas.openxmlformats.org/officeDocument/2006/relationships/image"/><Relationship Id="rId5" Target="../media/image4.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png" Type="http://schemas.openxmlformats.org/officeDocument/2006/relationships/image"/><Relationship Id="rId12" Target="../media/image7.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45.jpeg" Type="http://schemas.openxmlformats.org/officeDocument/2006/relationships/image"/><Relationship Id="rId9" Target="../media/image4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9.png" Type="http://schemas.openxmlformats.org/officeDocument/2006/relationships/image"/><Relationship Id="rId5" Target="../media/image4.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0.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51.jpeg" Type="http://schemas.openxmlformats.org/officeDocument/2006/relationships/image"/><Relationship Id="rId9" Target="../media/image7.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0.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52.jpeg" Type="http://schemas.openxmlformats.org/officeDocument/2006/relationships/image"/><Relationship Id="rId9" Target="../media/image7.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0.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53.jpeg" Type="http://schemas.openxmlformats.org/officeDocument/2006/relationships/image"/><Relationship Id="rId9" Target="../media/image7.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0.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7.jpeg" Type="http://schemas.openxmlformats.org/officeDocument/2006/relationships/image"/><Relationship Id="rId8" Target="../media/image6.png" Type="http://schemas.openxmlformats.org/officeDocument/2006/relationships/image"/><Relationship Id="rId9" Target="../media/image54.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0.png" Type="http://schemas.openxmlformats.org/officeDocument/2006/relationships/image"/><Relationship Id="rId5" Target="../media/image28.png" Type="http://schemas.openxmlformats.org/officeDocument/2006/relationships/image"/><Relationship Id="rId6" Target="../media/image4.png" Type="http://schemas.openxmlformats.org/officeDocument/2006/relationships/image"/><Relationship Id="rId7" Target="../media/image6.png" Type="http://schemas.openxmlformats.org/officeDocument/2006/relationships/image"/><Relationship Id="rId8" Target="../media/image55.jpeg" Type="http://schemas.openxmlformats.org/officeDocument/2006/relationships/image"/><Relationship Id="rId9" Target="../media/image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6.png" Type="http://schemas.openxmlformats.org/officeDocument/2006/relationships/image"/><Relationship Id="rId5" Target="../media/image4.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png" Type="http://schemas.openxmlformats.org/officeDocument/2006/relationships/image"/><Relationship Id="rId12" Target="../media/image7.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57.png" Type="http://schemas.openxmlformats.org/officeDocument/2006/relationships/image"/><Relationship Id="rId5" Target="../media/image58.png" Type="http://schemas.openxmlformats.org/officeDocument/2006/relationships/image"/><Relationship Id="rId6" Target="../media/image59.png" Type="http://schemas.openxmlformats.org/officeDocument/2006/relationships/image"/><Relationship Id="rId7" Target="../media/image4.png" Type="http://schemas.openxmlformats.org/officeDocument/2006/relationships/image"/><Relationship Id="rId8" Target="../media/image6.png" Type="http://schemas.openxmlformats.org/officeDocument/2006/relationships/image"/><Relationship Id="rId9" Target="../media/image6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63.png" Type="http://schemas.openxmlformats.org/officeDocument/2006/relationships/image"/><Relationship Id="rId5" Target="../media/image4.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734838"/>
            <a:ext cx="16859250" cy="428625"/>
            <a:chOff x="0" y="0"/>
            <a:chExt cx="22479000" cy="571500"/>
          </a:xfrm>
        </p:grpSpPr>
        <p:sp>
          <p:nvSpPr>
            <p:cNvPr name="Freeform 9" id="9" descr="image.png"/>
            <p:cNvSpPr/>
            <p:nvPr/>
          </p:nvSpPr>
          <p:spPr>
            <a:xfrm flipH="false" flipV="false" rot="0">
              <a:off x="0" y="0"/>
              <a:ext cx="22479000" cy="571500"/>
            </a:xfrm>
            <a:custGeom>
              <a:avLst/>
              <a:gdLst/>
              <a:ahLst/>
              <a:cxnLst/>
              <a:rect r="r" b="b" t="t" l="l"/>
              <a:pathLst>
                <a:path h="571500" w="22479000">
                  <a:moveTo>
                    <a:pt x="0" y="0"/>
                  </a:moveTo>
                  <a:lnTo>
                    <a:pt x="22479000" y="0"/>
                  </a:lnTo>
                  <a:lnTo>
                    <a:pt x="22479000" y="571500"/>
                  </a:lnTo>
                  <a:lnTo>
                    <a:pt x="0" y="571500"/>
                  </a:lnTo>
                  <a:lnTo>
                    <a:pt x="0" y="0"/>
                  </a:lnTo>
                  <a:close/>
                </a:path>
              </a:pathLst>
            </a:custGeom>
            <a:blipFill>
              <a:blip r:embed="rId4"/>
              <a:stretch>
                <a:fillRect l="0" t="0" r="0" b="-3333"/>
              </a:stretch>
            </a:blipFill>
          </p:spPr>
        </p:sp>
      </p:grpSp>
      <p:grpSp>
        <p:nvGrpSpPr>
          <p:cNvPr name="Group 10" id="10"/>
          <p:cNvGrpSpPr/>
          <p:nvPr/>
        </p:nvGrpSpPr>
        <p:grpSpPr>
          <a:xfrm rot="0">
            <a:off x="714375" y="628650"/>
            <a:ext cx="16859250" cy="1285875"/>
            <a:chOff x="0" y="0"/>
            <a:chExt cx="22479000" cy="1714500"/>
          </a:xfrm>
        </p:grpSpPr>
        <p:sp>
          <p:nvSpPr>
            <p:cNvPr name="Freeform 11" id="11"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5"/>
              <a:stretch>
                <a:fillRect l="0" t="0" r="0" b="0"/>
              </a:stretch>
            </a:blipFill>
          </p:spPr>
        </p:sp>
      </p:grpSp>
      <p:grpSp>
        <p:nvGrpSpPr>
          <p:cNvPr name="Group 12" id="12"/>
          <p:cNvGrpSpPr/>
          <p:nvPr/>
        </p:nvGrpSpPr>
        <p:grpSpPr>
          <a:xfrm rot="0">
            <a:off x="0" y="0"/>
            <a:ext cx="18288000" cy="57150"/>
            <a:chOff x="0" y="0"/>
            <a:chExt cx="24384000" cy="76200"/>
          </a:xfrm>
        </p:grpSpPr>
        <p:sp>
          <p:nvSpPr>
            <p:cNvPr name="Freeform 13" id="13"/>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4" id="14"/>
          <p:cNvSpPr txBox="true"/>
          <p:nvPr/>
        </p:nvSpPr>
        <p:spPr>
          <a:xfrm rot="0">
            <a:off x="357188" y="4339676"/>
            <a:ext cx="17573625" cy="1895475"/>
          </a:xfrm>
          <a:prstGeom prst="rect">
            <a:avLst/>
          </a:prstGeom>
        </p:spPr>
        <p:txBody>
          <a:bodyPr anchor="t" rtlCol="false" tIns="0" lIns="0" bIns="0" rIns="0">
            <a:spAutoFit/>
          </a:bodyPr>
          <a:lstStyle/>
          <a:p>
            <a:pPr algn="ctr">
              <a:lnSpc>
                <a:spcPts val="8100"/>
              </a:lnSpc>
            </a:pPr>
            <a:r>
              <a:rPr lang="en-US" b="true" sz="5625">
                <a:solidFill>
                  <a:srgbClr val="FFFFFF"/>
                </a:solidFill>
                <a:latin typeface="Poppins Bold"/>
                <a:ea typeface="Poppins Bold"/>
                <a:cs typeface="Poppins Bold"/>
                <a:sym typeface="Poppins Bold"/>
              </a:rPr>
              <a:t>Data Analytics</a:t>
            </a:r>
          </a:p>
          <a:p>
            <a:pPr algn="ctr">
              <a:lnSpc>
                <a:spcPts val="8100"/>
              </a:lnSpc>
            </a:pPr>
            <a:r>
              <a:rPr lang="en-US" b="true" sz="5625">
                <a:solidFill>
                  <a:srgbClr val="03B3C3"/>
                </a:solidFill>
                <a:latin typeface="Poppins Bold"/>
                <a:ea typeface="Poppins Bold"/>
                <a:cs typeface="Poppins Bold"/>
                <a:sym typeface="Poppins Bold"/>
              </a:rPr>
              <a:t>End-to-End Enterprise Project</a:t>
            </a:r>
          </a:p>
        </p:txBody>
      </p:sp>
      <p:sp>
        <p:nvSpPr>
          <p:cNvPr name="TextBox 15" id="15"/>
          <p:cNvSpPr txBox="true"/>
          <p:nvPr/>
        </p:nvSpPr>
        <p:spPr>
          <a:xfrm rot="0">
            <a:off x="714375" y="6287538"/>
            <a:ext cx="16859250" cy="664664"/>
          </a:xfrm>
          <a:prstGeom prst="rect">
            <a:avLst/>
          </a:prstGeom>
        </p:spPr>
        <p:txBody>
          <a:bodyPr anchor="t" rtlCol="false" tIns="0" lIns="0" bIns="0" rIns="0">
            <a:spAutoFit/>
          </a:bodyPr>
          <a:lstStyle/>
          <a:p>
            <a:pPr algn="ctr">
              <a:lnSpc>
                <a:spcPts val="4752"/>
              </a:lnSpc>
            </a:pPr>
            <a:r>
              <a:rPr lang="ar-EG" sz="2475">
                <a:solidFill>
                  <a:srgbClr val="4085B4"/>
                </a:solidFill>
                <a:latin typeface="Cairo"/>
                <a:ea typeface="Cairo"/>
                <a:cs typeface="Cairo"/>
                <a:sym typeface="Cairo"/>
                <a:rtl val="true"/>
              </a:rPr>
              <a:t>هيكل مشروع التخرج المتكامل لمسار تحليل البيانات</a:t>
            </a:r>
          </a:p>
        </p:txBody>
      </p:sp>
      <p:grpSp>
        <p:nvGrpSpPr>
          <p:cNvPr name="Group 16" id="16"/>
          <p:cNvGrpSpPr/>
          <p:nvPr/>
        </p:nvGrpSpPr>
        <p:grpSpPr>
          <a:xfrm rot="0">
            <a:off x="1143000" y="993648"/>
            <a:ext cx="928688" cy="541582"/>
            <a:chOff x="0" y="0"/>
            <a:chExt cx="1238250" cy="722109"/>
          </a:xfrm>
        </p:grpSpPr>
        <p:sp>
          <p:nvSpPr>
            <p:cNvPr name="Freeform 17" id="17" descr="image.png"/>
            <p:cNvSpPr/>
            <p:nvPr/>
          </p:nvSpPr>
          <p:spPr>
            <a:xfrm flipH="false" flipV="false" rot="0">
              <a:off x="0" y="0"/>
              <a:ext cx="1238250" cy="722122"/>
            </a:xfrm>
            <a:custGeom>
              <a:avLst/>
              <a:gdLst/>
              <a:ahLst/>
              <a:cxnLst/>
              <a:rect r="r" b="b" t="t" l="l"/>
              <a:pathLst>
                <a:path h="722122" w="1238250">
                  <a:moveTo>
                    <a:pt x="0" y="0"/>
                  </a:moveTo>
                  <a:lnTo>
                    <a:pt x="1238250" y="0"/>
                  </a:lnTo>
                  <a:lnTo>
                    <a:pt x="1238250" y="722122"/>
                  </a:lnTo>
                  <a:lnTo>
                    <a:pt x="0" y="722122"/>
                  </a:lnTo>
                  <a:lnTo>
                    <a:pt x="0" y="0"/>
                  </a:lnTo>
                  <a:close/>
                </a:path>
              </a:pathLst>
            </a:custGeom>
            <a:blipFill>
              <a:blip r:embed="rId6"/>
              <a:stretch>
                <a:fillRect l="0" t="0" r="0" b="-246"/>
              </a:stretch>
            </a:blipFill>
          </p:spPr>
        </p:sp>
      </p:grpSp>
      <p:sp>
        <p:nvSpPr>
          <p:cNvPr name="TextBox 18" id="18"/>
          <p:cNvSpPr txBox="true"/>
          <p:nvPr/>
        </p:nvSpPr>
        <p:spPr>
          <a:xfrm rot="0">
            <a:off x="2243138" y="804339"/>
            <a:ext cx="13801725" cy="528637"/>
          </a:xfrm>
          <a:prstGeom prst="rect">
            <a:avLst/>
          </a:prstGeom>
        </p:spPr>
        <p:txBody>
          <a:bodyPr anchor="t" rtlCol="false" tIns="0" lIns="0" bIns="0" rIns="0">
            <a:spAutoFit/>
          </a:bodyPr>
          <a:lstStyle/>
          <a:p>
            <a:pPr algn="ctr">
              <a:lnSpc>
                <a:spcPts val="3240"/>
              </a:lnSpc>
            </a:pPr>
            <a:r>
              <a:rPr lang="en-US" b="true" sz="2700">
                <a:solidFill>
                  <a:srgbClr val="FFFFFF"/>
                </a:solidFill>
                <a:latin typeface="Poppins Bold"/>
                <a:ea typeface="Poppins Bold"/>
                <a:cs typeface="Poppins Bold"/>
                <a:sym typeface="Poppins Bold"/>
              </a:rPr>
              <a:t>DEPI GRADUATION PROJECT</a:t>
            </a:r>
          </a:p>
        </p:txBody>
      </p:sp>
      <p:sp>
        <p:nvSpPr>
          <p:cNvPr name="TextBox 19" id="19"/>
          <p:cNvSpPr txBox="true"/>
          <p:nvPr/>
        </p:nvSpPr>
        <p:spPr>
          <a:xfrm rot="0">
            <a:off x="2571750" y="1261539"/>
            <a:ext cx="13144500" cy="434207"/>
          </a:xfrm>
          <a:prstGeom prst="rect">
            <a:avLst/>
          </a:prstGeom>
        </p:spPr>
        <p:txBody>
          <a:bodyPr anchor="t" rtlCol="false" tIns="0" lIns="0" bIns="0" rIns="0">
            <a:spAutoFit/>
          </a:bodyPr>
          <a:lstStyle/>
          <a:p>
            <a:pPr algn="ctr">
              <a:lnSpc>
                <a:spcPts val="3022"/>
              </a:lnSpc>
            </a:pPr>
            <a:r>
              <a:rPr lang="ar-EG" sz="1575">
                <a:solidFill>
                  <a:srgbClr val="E37600"/>
                </a:solidFill>
                <a:latin typeface="Cairo"/>
                <a:ea typeface="Cairo"/>
                <a:cs typeface="Cairo"/>
                <a:sym typeface="Cairo"/>
                <a:rtl val="true"/>
              </a:rPr>
              <a:t>مسار تحليل البيانات</a:t>
            </a:r>
            <a:r>
              <a:rPr lang="en-US" sz="1575">
                <a:solidFill>
                  <a:srgbClr val="E37600"/>
                </a:solidFill>
                <a:latin typeface="Cairo"/>
                <a:ea typeface="Cairo"/>
                <a:cs typeface="Cairo"/>
                <a:sym typeface="Cairo"/>
              </a:rPr>
              <a:t> | DATA ANALYTICS TRACK</a:t>
            </a:r>
          </a:p>
        </p:txBody>
      </p:sp>
      <p:grpSp>
        <p:nvGrpSpPr>
          <p:cNvPr name="Group 20" id="20"/>
          <p:cNvGrpSpPr/>
          <p:nvPr/>
        </p:nvGrpSpPr>
        <p:grpSpPr>
          <a:xfrm rot="0">
            <a:off x="16216312" y="802110"/>
            <a:ext cx="928688" cy="924449"/>
            <a:chOff x="0" y="0"/>
            <a:chExt cx="1238250" cy="1232598"/>
          </a:xfrm>
        </p:grpSpPr>
        <p:sp>
          <p:nvSpPr>
            <p:cNvPr name="Freeform 21" id="21"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2" id="22"/>
          <p:cNvSpPr txBox="true"/>
          <p:nvPr/>
        </p:nvSpPr>
        <p:spPr>
          <a:xfrm rot="0">
            <a:off x="5750719" y="7695162"/>
            <a:ext cx="3357562" cy="266700"/>
          </a:xfrm>
          <a:prstGeom prst="rect">
            <a:avLst/>
          </a:prstGeom>
        </p:spPr>
        <p:txBody>
          <a:bodyPr anchor="t" rtlCol="false" tIns="0" lIns="0" bIns="0" rIns="0">
            <a:spAutoFit/>
          </a:bodyPr>
          <a:lstStyle/>
          <a:p>
            <a:pPr algn="ctr">
              <a:lnSpc>
                <a:spcPts val="2160"/>
              </a:lnSpc>
            </a:pPr>
            <a:r>
              <a:rPr lang="en-US" sz="1800">
                <a:solidFill>
                  <a:srgbClr val="4085B4"/>
                </a:solidFill>
                <a:latin typeface="Aptos"/>
                <a:ea typeface="Aptos"/>
                <a:cs typeface="Aptos"/>
                <a:sym typeface="Aptos"/>
              </a:rPr>
              <a:t>Prepared By: </a:t>
            </a:r>
            <a:r>
              <a:rPr lang="en-US" sz="1800">
                <a:solidFill>
                  <a:srgbClr val="D4E5F0"/>
                </a:solidFill>
                <a:latin typeface="Aptos"/>
                <a:ea typeface="Aptos"/>
                <a:cs typeface="Aptos"/>
                <a:sym typeface="Aptos"/>
              </a:rPr>
              <a:t>ClimateScope Team</a:t>
            </a:r>
          </a:p>
        </p:txBody>
      </p:sp>
      <p:grpSp>
        <p:nvGrpSpPr>
          <p:cNvPr name="Group 23" id="23"/>
          <p:cNvGrpSpPr/>
          <p:nvPr/>
        </p:nvGrpSpPr>
        <p:grpSpPr>
          <a:xfrm rot="0">
            <a:off x="9679781" y="7695162"/>
            <a:ext cx="28575" cy="557212"/>
            <a:chOff x="0" y="0"/>
            <a:chExt cx="38100" cy="742950"/>
          </a:xfrm>
        </p:grpSpPr>
        <p:sp>
          <p:nvSpPr>
            <p:cNvPr name="Freeform 24" id="24"/>
            <p:cNvSpPr/>
            <p:nvPr/>
          </p:nvSpPr>
          <p:spPr>
            <a:xfrm flipH="false" flipV="false" rot="0">
              <a:off x="0" y="0"/>
              <a:ext cx="38100" cy="742950"/>
            </a:xfrm>
            <a:custGeom>
              <a:avLst/>
              <a:gdLst/>
              <a:ahLst/>
              <a:cxnLst/>
              <a:rect r="r" b="b" t="t" l="l"/>
              <a:pathLst>
                <a:path h="742950" w="38100">
                  <a:moveTo>
                    <a:pt x="0" y="0"/>
                  </a:moveTo>
                  <a:lnTo>
                    <a:pt x="38100" y="0"/>
                  </a:lnTo>
                  <a:lnTo>
                    <a:pt x="38100" y="742950"/>
                  </a:lnTo>
                  <a:lnTo>
                    <a:pt x="0" y="742950"/>
                  </a:lnTo>
                  <a:close/>
                </a:path>
              </a:pathLst>
            </a:custGeom>
            <a:solidFill>
              <a:srgbClr val="364149"/>
            </a:solidFill>
          </p:spPr>
        </p:sp>
      </p:grpSp>
      <p:sp>
        <p:nvSpPr>
          <p:cNvPr name="TextBox 25" id="25"/>
          <p:cNvSpPr txBox="true"/>
          <p:nvPr/>
        </p:nvSpPr>
        <p:spPr>
          <a:xfrm rot="0">
            <a:off x="10279856" y="7695162"/>
            <a:ext cx="2257425" cy="533400"/>
          </a:xfrm>
          <a:prstGeom prst="rect">
            <a:avLst/>
          </a:prstGeom>
        </p:spPr>
        <p:txBody>
          <a:bodyPr anchor="t" rtlCol="false" tIns="0" lIns="0" bIns="0" rIns="0">
            <a:spAutoFit/>
          </a:bodyPr>
          <a:lstStyle/>
          <a:p>
            <a:pPr algn="ctr">
              <a:lnSpc>
                <a:spcPts val="2160"/>
              </a:lnSpc>
            </a:pPr>
            <a:r>
              <a:rPr lang="en-US" sz="1800">
                <a:solidFill>
                  <a:srgbClr val="4085B4"/>
                </a:solidFill>
                <a:latin typeface="Aptos"/>
                <a:ea typeface="Aptos"/>
                <a:cs typeface="Aptos"/>
                <a:sym typeface="Aptos"/>
              </a:rPr>
              <a:t>Affiliation:</a:t>
            </a:r>
            <a:r>
              <a:rPr lang="en-US" sz="1800">
                <a:solidFill>
                  <a:srgbClr val="000000"/>
                </a:solidFill>
                <a:latin typeface="Aptos"/>
                <a:ea typeface="Aptos"/>
                <a:cs typeface="Aptos"/>
                <a:sym typeface="Aptos"/>
              </a:rPr>
              <a:t> </a:t>
            </a:r>
            <a:r>
              <a:rPr lang="en-US" b="true" sz="1800">
                <a:solidFill>
                  <a:srgbClr val="D9EBF5"/>
                </a:solidFill>
                <a:latin typeface="Aptos Bold"/>
                <a:ea typeface="Aptos Bold"/>
                <a:cs typeface="Aptos Bold"/>
                <a:sym typeface="Aptos Bold"/>
              </a:rPr>
              <a:t>ITC / DEPI Initiative</a:t>
            </a:r>
          </a:p>
        </p:txBody>
      </p:sp>
      <p:grpSp>
        <p:nvGrpSpPr>
          <p:cNvPr name="Group 26" id="26"/>
          <p:cNvGrpSpPr/>
          <p:nvPr/>
        </p:nvGrpSpPr>
        <p:grpSpPr>
          <a:xfrm rot="0">
            <a:off x="1071562" y="628650"/>
            <a:ext cx="1148274" cy="1103376"/>
            <a:chOff x="0" y="0"/>
            <a:chExt cx="1238250" cy="1189834"/>
          </a:xfrm>
        </p:grpSpPr>
        <p:sp>
          <p:nvSpPr>
            <p:cNvPr name="Freeform 27" id="27"/>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8"/>
              <a:stretch>
                <a:fillRect l="0" t="-2034" r="0" b="-2034"/>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59747" y="43682"/>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11412141" y="2271712"/>
            <a:ext cx="6161484" cy="1571625"/>
            <a:chOff x="0" y="0"/>
            <a:chExt cx="8215312" cy="2095500"/>
          </a:xfrm>
        </p:grpSpPr>
        <p:sp>
          <p:nvSpPr>
            <p:cNvPr name="Freeform 9" id="9" descr="image.png"/>
            <p:cNvSpPr/>
            <p:nvPr/>
          </p:nvSpPr>
          <p:spPr>
            <a:xfrm flipH="false" flipV="false" rot="0">
              <a:off x="0" y="0"/>
              <a:ext cx="8215249" cy="2095500"/>
            </a:xfrm>
            <a:custGeom>
              <a:avLst/>
              <a:gdLst/>
              <a:ahLst/>
              <a:cxnLst/>
              <a:rect r="r" b="b" t="t" l="l"/>
              <a:pathLst>
                <a:path h="2095500" w="8215249">
                  <a:moveTo>
                    <a:pt x="0" y="0"/>
                  </a:moveTo>
                  <a:lnTo>
                    <a:pt x="8215249" y="0"/>
                  </a:lnTo>
                  <a:lnTo>
                    <a:pt x="8215249" y="2095500"/>
                  </a:lnTo>
                  <a:lnTo>
                    <a:pt x="0" y="2095500"/>
                  </a:lnTo>
                  <a:lnTo>
                    <a:pt x="0" y="0"/>
                  </a:lnTo>
                  <a:close/>
                </a:path>
              </a:pathLst>
            </a:custGeom>
            <a:blipFill>
              <a:blip r:embed="rId4"/>
              <a:stretch>
                <a:fillRect l="0" t="0" r="-174" b="0"/>
              </a:stretch>
            </a:blipFill>
          </p:spPr>
        </p:sp>
      </p:grpSp>
      <p:grpSp>
        <p:nvGrpSpPr>
          <p:cNvPr name="Group 10" id="10"/>
          <p:cNvGrpSpPr/>
          <p:nvPr/>
        </p:nvGrpSpPr>
        <p:grpSpPr>
          <a:xfrm rot="0">
            <a:off x="11412141" y="4057650"/>
            <a:ext cx="6161484" cy="1571625"/>
            <a:chOff x="0" y="0"/>
            <a:chExt cx="8215312" cy="2095500"/>
          </a:xfrm>
        </p:grpSpPr>
        <p:sp>
          <p:nvSpPr>
            <p:cNvPr name="Freeform 11" id="11" descr="image.png"/>
            <p:cNvSpPr/>
            <p:nvPr/>
          </p:nvSpPr>
          <p:spPr>
            <a:xfrm flipH="false" flipV="false" rot="0">
              <a:off x="0" y="0"/>
              <a:ext cx="8215249" cy="2095500"/>
            </a:xfrm>
            <a:custGeom>
              <a:avLst/>
              <a:gdLst/>
              <a:ahLst/>
              <a:cxnLst/>
              <a:rect r="r" b="b" t="t" l="l"/>
              <a:pathLst>
                <a:path h="2095500" w="8215249">
                  <a:moveTo>
                    <a:pt x="0" y="0"/>
                  </a:moveTo>
                  <a:lnTo>
                    <a:pt x="8215249" y="0"/>
                  </a:lnTo>
                  <a:lnTo>
                    <a:pt x="8215249" y="2095500"/>
                  </a:lnTo>
                  <a:lnTo>
                    <a:pt x="0" y="2095500"/>
                  </a:lnTo>
                  <a:lnTo>
                    <a:pt x="0" y="0"/>
                  </a:lnTo>
                  <a:close/>
                </a:path>
              </a:pathLst>
            </a:custGeom>
            <a:blipFill>
              <a:blip r:embed="rId5"/>
              <a:stretch>
                <a:fillRect l="0" t="0" r="-174" b="0"/>
              </a:stretch>
            </a:blipFill>
          </p:spPr>
        </p:sp>
      </p:grpSp>
      <p:grpSp>
        <p:nvGrpSpPr>
          <p:cNvPr name="Group 12" id="12"/>
          <p:cNvGrpSpPr/>
          <p:nvPr/>
        </p:nvGrpSpPr>
        <p:grpSpPr>
          <a:xfrm rot="0">
            <a:off x="11412141" y="5843588"/>
            <a:ext cx="6161484" cy="1571625"/>
            <a:chOff x="0" y="0"/>
            <a:chExt cx="8215312" cy="2095500"/>
          </a:xfrm>
        </p:grpSpPr>
        <p:sp>
          <p:nvSpPr>
            <p:cNvPr name="Freeform 13" id="13" descr="image.png"/>
            <p:cNvSpPr/>
            <p:nvPr/>
          </p:nvSpPr>
          <p:spPr>
            <a:xfrm flipH="false" flipV="false" rot="0">
              <a:off x="0" y="0"/>
              <a:ext cx="8215249" cy="2095500"/>
            </a:xfrm>
            <a:custGeom>
              <a:avLst/>
              <a:gdLst/>
              <a:ahLst/>
              <a:cxnLst/>
              <a:rect r="r" b="b" t="t" l="l"/>
              <a:pathLst>
                <a:path h="2095500" w="8215249">
                  <a:moveTo>
                    <a:pt x="0" y="0"/>
                  </a:moveTo>
                  <a:lnTo>
                    <a:pt x="8215249" y="0"/>
                  </a:lnTo>
                  <a:lnTo>
                    <a:pt x="8215249" y="2095500"/>
                  </a:lnTo>
                  <a:lnTo>
                    <a:pt x="0" y="2095500"/>
                  </a:lnTo>
                  <a:lnTo>
                    <a:pt x="0" y="0"/>
                  </a:lnTo>
                  <a:close/>
                </a:path>
              </a:pathLst>
            </a:custGeom>
            <a:blipFill>
              <a:blip r:embed="rId6"/>
              <a:stretch>
                <a:fillRect l="0" t="0" r="-174" b="0"/>
              </a:stretch>
            </a:blipFill>
          </p:spPr>
        </p:sp>
      </p:grpSp>
      <p:grpSp>
        <p:nvGrpSpPr>
          <p:cNvPr name="Group 14" id="14"/>
          <p:cNvGrpSpPr/>
          <p:nvPr/>
        </p:nvGrpSpPr>
        <p:grpSpPr>
          <a:xfrm rot="0">
            <a:off x="714375" y="2943225"/>
            <a:ext cx="4991691" cy="1448619"/>
            <a:chOff x="0" y="0"/>
            <a:chExt cx="6655587" cy="1931492"/>
          </a:xfrm>
        </p:grpSpPr>
        <p:sp>
          <p:nvSpPr>
            <p:cNvPr name="Freeform 15" id="15" descr="image.png"/>
            <p:cNvSpPr/>
            <p:nvPr/>
          </p:nvSpPr>
          <p:spPr>
            <a:xfrm flipH="false" flipV="false" rot="0">
              <a:off x="0" y="0"/>
              <a:ext cx="6655562" cy="1931543"/>
            </a:xfrm>
            <a:custGeom>
              <a:avLst/>
              <a:gdLst/>
              <a:ahLst/>
              <a:cxnLst/>
              <a:rect r="r" b="b" t="t" l="l"/>
              <a:pathLst>
                <a:path h="1931543" w="6655562">
                  <a:moveTo>
                    <a:pt x="0" y="0"/>
                  </a:moveTo>
                  <a:lnTo>
                    <a:pt x="6655562" y="0"/>
                  </a:lnTo>
                  <a:lnTo>
                    <a:pt x="6655562" y="1931543"/>
                  </a:lnTo>
                  <a:lnTo>
                    <a:pt x="0" y="1931543"/>
                  </a:lnTo>
                  <a:lnTo>
                    <a:pt x="0" y="0"/>
                  </a:lnTo>
                  <a:close/>
                </a:path>
              </a:pathLst>
            </a:custGeom>
            <a:blipFill>
              <a:blip r:embed="rId7"/>
              <a:stretch>
                <a:fillRect l="0" t="0" r="0" b="-418"/>
              </a:stretch>
            </a:blipFill>
          </p:spPr>
        </p:sp>
      </p:grpSp>
      <p:grpSp>
        <p:nvGrpSpPr>
          <p:cNvPr name="Group 16" id="16"/>
          <p:cNvGrpSpPr/>
          <p:nvPr/>
        </p:nvGrpSpPr>
        <p:grpSpPr>
          <a:xfrm rot="0">
            <a:off x="5991816" y="2943225"/>
            <a:ext cx="4991691" cy="1448619"/>
            <a:chOff x="0" y="0"/>
            <a:chExt cx="6655587" cy="1931492"/>
          </a:xfrm>
        </p:grpSpPr>
        <p:sp>
          <p:nvSpPr>
            <p:cNvPr name="Freeform 17" id="17" descr="image.png"/>
            <p:cNvSpPr/>
            <p:nvPr/>
          </p:nvSpPr>
          <p:spPr>
            <a:xfrm flipH="false" flipV="false" rot="0">
              <a:off x="0" y="0"/>
              <a:ext cx="6655562" cy="1931543"/>
            </a:xfrm>
            <a:custGeom>
              <a:avLst/>
              <a:gdLst/>
              <a:ahLst/>
              <a:cxnLst/>
              <a:rect r="r" b="b" t="t" l="l"/>
              <a:pathLst>
                <a:path h="1931543" w="6655562">
                  <a:moveTo>
                    <a:pt x="0" y="0"/>
                  </a:moveTo>
                  <a:lnTo>
                    <a:pt x="6655562" y="0"/>
                  </a:lnTo>
                  <a:lnTo>
                    <a:pt x="6655562" y="1931543"/>
                  </a:lnTo>
                  <a:lnTo>
                    <a:pt x="0" y="1931543"/>
                  </a:lnTo>
                  <a:lnTo>
                    <a:pt x="0" y="0"/>
                  </a:lnTo>
                  <a:close/>
                </a:path>
              </a:pathLst>
            </a:custGeom>
            <a:blipFill>
              <a:blip r:embed="rId8"/>
              <a:stretch>
                <a:fillRect l="0" t="0" r="0" b="-418"/>
              </a:stretch>
            </a:blipFill>
          </p:spPr>
        </p:sp>
      </p:grpSp>
      <p:grpSp>
        <p:nvGrpSpPr>
          <p:cNvPr name="Group 18" id="18"/>
          <p:cNvGrpSpPr/>
          <p:nvPr/>
        </p:nvGrpSpPr>
        <p:grpSpPr>
          <a:xfrm rot="0">
            <a:off x="714375" y="4677594"/>
            <a:ext cx="4991691" cy="1448619"/>
            <a:chOff x="0" y="0"/>
            <a:chExt cx="6655587" cy="1931492"/>
          </a:xfrm>
        </p:grpSpPr>
        <p:sp>
          <p:nvSpPr>
            <p:cNvPr name="Freeform 19" id="19" descr="image.png"/>
            <p:cNvSpPr/>
            <p:nvPr/>
          </p:nvSpPr>
          <p:spPr>
            <a:xfrm flipH="false" flipV="false" rot="0">
              <a:off x="0" y="0"/>
              <a:ext cx="6655562" cy="1931543"/>
            </a:xfrm>
            <a:custGeom>
              <a:avLst/>
              <a:gdLst/>
              <a:ahLst/>
              <a:cxnLst/>
              <a:rect r="r" b="b" t="t" l="l"/>
              <a:pathLst>
                <a:path h="1931543" w="6655562">
                  <a:moveTo>
                    <a:pt x="0" y="0"/>
                  </a:moveTo>
                  <a:lnTo>
                    <a:pt x="6655562" y="0"/>
                  </a:lnTo>
                  <a:lnTo>
                    <a:pt x="6655562" y="1931543"/>
                  </a:lnTo>
                  <a:lnTo>
                    <a:pt x="0" y="1931543"/>
                  </a:lnTo>
                  <a:lnTo>
                    <a:pt x="0" y="0"/>
                  </a:lnTo>
                  <a:close/>
                </a:path>
              </a:pathLst>
            </a:custGeom>
            <a:blipFill>
              <a:blip r:embed="rId9"/>
              <a:stretch>
                <a:fillRect l="0" t="0" r="0" b="-418"/>
              </a:stretch>
            </a:blipFill>
          </p:spPr>
        </p:sp>
      </p:grpSp>
      <p:grpSp>
        <p:nvGrpSpPr>
          <p:cNvPr name="Group 20" id="20"/>
          <p:cNvGrpSpPr/>
          <p:nvPr/>
        </p:nvGrpSpPr>
        <p:grpSpPr>
          <a:xfrm rot="0">
            <a:off x="5991816" y="4677594"/>
            <a:ext cx="4991691" cy="1448619"/>
            <a:chOff x="0" y="0"/>
            <a:chExt cx="6655587" cy="1931492"/>
          </a:xfrm>
        </p:grpSpPr>
        <p:sp>
          <p:nvSpPr>
            <p:cNvPr name="Freeform 21" id="21" descr="image.png"/>
            <p:cNvSpPr/>
            <p:nvPr/>
          </p:nvSpPr>
          <p:spPr>
            <a:xfrm flipH="false" flipV="false" rot="0">
              <a:off x="0" y="0"/>
              <a:ext cx="6655562" cy="1931543"/>
            </a:xfrm>
            <a:custGeom>
              <a:avLst/>
              <a:gdLst/>
              <a:ahLst/>
              <a:cxnLst/>
              <a:rect r="r" b="b" t="t" l="l"/>
              <a:pathLst>
                <a:path h="1931543" w="6655562">
                  <a:moveTo>
                    <a:pt x="0" y="0"/>
                  </a:moveTo>
                  <a:lnTo>
                    <a:pt x="6655562" y="0"/>
                  </a:lnTo>
                  <a:lnTo>
                    <a:pt x="6655562" y="1931543"/>
                  </a:lnTo>
                  <a:lnTo>
                    <a:pt x="0" y="1931543"/>
                  </a:lnTo>
                  <a:lnTo>
                    <a:pt x="0" y="0"/>
                  </a:lnTo>
                  <a:close/>
                </a:path>
              </a:pathLst>
            </a:custGeom>
            <a:blipFill>
              <a:blip r:embed="rId10"/>
              <a:stretch>
                <a:fillRect l="0" t="0" r="0" b="-418"/>
              </a:stretch>
            </a:blipFill>
          </p:spPr>
        </p:sp>
      </p:grpSp>
      <p:grpSp>
        <p:nvGrpSpPr>
          <p:cNvPr name="Group 22" id="22"/>
          <p:cNvGrpSpPr/>
          <p:nvPr/>
        </p:nvGrpSpPr>
        <p:grpSpPr>
          <a:xfrm rot="0">
            <a:off x="714375" y="6411963"/>
            <a:ext cx="4947425" cy="1448619"/>
            <a:chOff x="0" y="0"/>
            <a:chExt cx="6596566" cy="1931492"/>
          </a:xfrm>
        </p:grpSpPr>
        <p:sp>
          <p:nvSpPr>
            <p:cNvPr name="Freeform 23" id="23" descr="image.png"/>
            <p:cNvSpPr/>
            <p:nvPr/>
          </p:nvSpPr>
          <p:spPr>
            <a:xfrm flipH="false" flipV="false" rot="0">
              <a:off x="0" y="0"/>
              <a:ext cx="6596541" cy="1931543"/>
            </a:xfrm>
            <a:custGeom>
              <a:avLst/>
              <a:gdLst/>
              <a:ahLst/>
              <a:cxnLst/>
              <a:rect r="r" b="b" t="t" l="l"/>
              <a:pathLst>
                <a:path h="1931543" w="6596541">
                  <a:moveTo>
                    <a:pt x="0" y="0"/>
                  </a:moveTo>
                  <a:lnTo>
                    <a:pt x="6596541" y="0"/>
                  </a:lnTo>
                  <a:lnTo>
                    <a:pt x="6596541" y="1931543"/>
                  </a:lnTo>
                  <a:lnTo>
                    <a:pt x="0" y="1931543"/>
                  </a:lnTo>
                  <a:lnTo>
                    <a:pt x="0" y="0"/>
                  </a:lnTo>
                  <a:close/>
                </a:path>
              </a:pathLst>
            </a:custGeom>
            <a:blipFill>
              <a:blip r:embed="rId11"/>
              <a:stretch>
                <a:fillRect l="-447" t="0" r="-447" b="-1403"/>
              </a:stretch>
            </a:blipFill>
          </p:spPr>
        </p:sp>
      </p:grpSp>
      <p:grpSp>
        <p:nvGrpSpPr>
          <p:cNvPr name="Group 24" id="24"/>
          <p:cNvGrpSpPr/>
          <p:nvPr/>
        </p:nvGrpSpPr>
        <p:grpSpPr>
          <a:xfrm rot="0">
            <a:off x="714375" y="628650"/>
            <a:ext cx="16859250" cy="1285875"/>
            <a:chOff x="0" y="0"/>
            <a:chExt cx="22479000" cy="1714500"/>
          </a:xfrm>
        </p:grpSpPr>
        <p:sp>
          <p:nvSpPr>
            <p:cNvPr name="Freeform 25" id="25"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12"/>
              <a:stretch>
                <a:fillRect l="0" t="0" r="0" b="0"/>
              </a:stretch>
            </a:blipFill>
          </p:spPr>
        </p:sp>
      </p:grpSp>
      <p:grpSp>
        <p:nvGrpSpPr>
          <p:cNvPr name="Group 26" id="26"/>
          <p:cNvGrpSpPr/>
          <p:nvPr/>
        </p:nvGrpSpPr>
        <p:grpSpPr>
          <a:xfrm rot="0">
            <a:off x="0" y="0"/>
            <a:ext cx="18288000" cy="57150"/>
            <a:chOff x="0" y="0"/>
            <a:chExt cx="24384000" cy="76200"/>
          </a:xfrm>
        </p:grpSpPr>
        <p:sp>
          <p:nvSpPr>
            <p:cNvPr name="Freeform 27" id="27"/>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28" id="28"/>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Project Overview</a:t>
            </a:r>
          </a:p>
        </p:txBody>
      </p:sp>
      <p:sp>
        <p:nvSpPr>
          <p:cNvPr name="TextBox 29" id="29"/>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Team • Tech Stack • Supervisor</a:t>
            </a:r>
          </a:p>
        </p:txBody>
      </p:sp>
      <p:grpSp>
        <p:nvGrpSpPr>
          <p:cNvPr name="Group 30" id="30"/>
          <p:cNvGrpSpPr/>
          <p:nvPr/>
        </p:nvGrpSpPr>
        <p:grpSpPr>
          <a:xfrm rot="0">
            <a:off x="16216312" y="802110"/>
            <a:ext cx="928688" cy="924449"/>
            <a:chOff x="0" y="0"/>
            <a:chExt cx="1238250" cy="1232598"/>
          </a:xfrm>
        </p:grpSpPr>
        <p:sp>
          <p:nvSpPr>
            <p:cNvPr name="Freeform 31" id="31"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13"/>
              <a:stretch>
                <a:fillRect l="0" t="0" r="0" b="-2009"/>
              </a:stretch>
            </a:blipFill>
          </p:spPr>
        </p:sp>
      </p:grpSp>
      <p:sp>
        <p:nvSpPr>
          <p:cNvPr name="TextBox 32" id="32"/>
          <p:cNvSpPr txBox="true"/>
          <p:nvPr/>
        </p:nvSpPr>
        <p:spPr>
          <a:xfrm rot="0">
            <a:off x="714375" y="2271712"/>
            <a:ext cx="1366123" cy="371475"/>
          </a:xfrm>
          <a:prstGeom prst="rect">
            <a:avLst/>
          </a:prstGeom>
        </p:spPr>
        <p:txBody>
          <a:bodyPr anchor="t" rtlCol="false" tIns="0" lIns="0" bIns="0" rIns="0">
            <a:spAutoFit/>
          </a:bodyPr>
          <a:lstStyle/>
          <a:p>
            <a:pPr algn="l">
              <a:lnSpc>
                <a:spcPts val="2970"/>
              </a:lnSpc>
            </a:pPr>
            <a:r>
              <a:rPr lang="en-US" b="true" sz="2475">
                <a:solidFill>
                  <a:srgbClr val="03B3C3"/>
                </a:solidFill>
                <a:latin typeface="Aptos Bold"/>
                <a:ea typeface="Aptos Bold"/>
                <a:cs typeface="Aptos Bold"/>
                <a:sym typeface="Aptos Bold"/>
              </a:rPr>
              <a:t>The Team</a:t>
            </a:r>
          </a:p>
        </p:txBody>
      </p:sp>
      <p:sp>
        <p:nvSpPr>
          <p:cNvPr name="TextBox 33" id="33"/>
          <p:cNvSpPr txBox="true"/>
          <p:nvPr/>
        </p:nvSpPr>
        <p:spPr>
          <a:xfrm rot="0">
            <a:off x="11726466" y="2596896"/>
            <a:ext cx="5809478" cy="376238"/>
          </a:xfrm>
          <a:prstGeom prst="rect">
            <a:avLst/>
          </a:prstGeom>
        </p:spPr>
        <p:txBody>
          <a:bodyPr anchor="t" rtlCol="false" tIns="0" lIns="0" bIns="0" rIns="0">
            <a:spAutoFit/>
          </a:bodyPr>
          <a:lstStyle/>
          <a:p>
            <a:pPr algn="l">
              <a:lnSpc>
                <a:spcPts val="2160"/>
              </a:lnSpc>
            </a:pPr>
            <a:r>
              <a:rPr lang="en-US" sz="1800">
                <a:solidFill>
                  <a:srgbClr val="03B3C3"/>
                </a:solidFill>
                <a:latin typeface="Poppins"/>
                <a:ea typeface="Poppins"/>
                <a:cs typeface="Poppins"/>
                <a:sym typeface="Poppins"/>
              </a:rPr>
              <a:t>Project Name</a:t>
            </a:r>
          </a:p>
        </p:txBody>
      </p:sp>
      <p:sp>
        <p:nvSpPr>
          <p:cNvPr name="TextBox 34" id="34"/>
          <p:cNvSpPr txBox="true"/>
          <p:nvPr/>
        </p:nvSpPr>
        <p:spPr>
          <a:xfrm rot="0">
            <a:off x="11726466" y="2954084"/>
            <a:ext cx="5532834" cy="433959"/>
          </a:xfrm>
          <a:prstGeom prst="rect">
            <a:avLst/>
          </a:prstGeom>
        </p:spPr>
        <p:txBody>
          <a:bodyPr anchor="t" rtlCol="false" tIns="0" lIns="0" bIns="0" rIns="0">
            <a:spAutoFit/>
          </a:bodyPr>
          <a:lstStyle/>
          <a:p>
            <a:pPr algn="l">
              <a:lnSpc>
                <a:spcPts val="3887"/>
              </a:lnSpc>
            </a:pPr>
            <a:r>
              <a:rPr lang="en-US" sz="2025">
                <a:solidFill>
                  <a:srgbClr val="D9EBF5"/>
                </a:solidFill>
                <a:latin typeface="Cairo"/>
                <a:ea typeface="Cairo"/>
                <a:cs typeface="Cairo"/>
                <a:sym typeface="Cairo"/>
              </a:rPr>
              <a:t>ClimateScope</a:t>
            </a:r>
          </a:p>
        </p:txBody>
      </p:sp>
      <p:sp>
        <p:nvSpPr>
          <p:cNvPr name="TextBox 35" id="35"/>
          <p:cNvSpPr txBox="true"/>
          <p:nvPr/>
        </p:nvSpPr>
        <p:spPr>
          <a:xfrm rot="0">
            <a:off x="11726466" y="4382834"/>
            <a:ext cx="5809478" cy="376238"/>
          </a:xfrm>
          <a:prstGeom prst="rect">
            <a:avLst/>
          </a:prstGeom>
        </p:spPr>
        <p:txBody>
          <a:bodyPr anchor="t" rtlCol="false" tIns="0" lIns="0" bIns="0" rIns="0">
            <a:spAutoFit/>
          </a:bodyPr>
          <a:lstStyle/>
          <a:p>
            <a:pPr algn="l">
              <a:lnSpc>
                <a:spcPts val="2160"/>
              </a:lnSpc>
            </a:pPr>
            <a:r>
              <a:rPr lang="en-US" sz="1800">
                <a:solidFill>
                  <a:srgbClr val="03B3C3"/>
                </a:solidFill>
                <a:latin typeface="Poppins"/>
                <a:ea typeface="Poppins"/>
                <a:cs typeface="Poppins"/>
                <a:sym typeface="Poppins"/>
              </a:rPr>
              <a:t>Tech Stack</a:t>
            </a:r>
          </a:p>
        </p:txBody>
      </p:sp>
      <p:sp>
        <p:nvSpPr>
          <p:cNvPr name="TextBox 36" id="36"/>
          <p:cNvSpPr txBox="true"/>
          <p:nvPr/>
        </p:nvSpPr>
        <p:spPr>
          <a:xfrm rot="0">
            <a:off x="11726466" y="4595812"/>
            <a:ext cx="5532834" cy="919734"/>
          </a:xfrm>
          <a:prstGeom prst="rect">
            <a:avLst/>
          </a:prstGeom>
        </p:spPr>
        <p:txBody>
          <a:bodyPr anchor="t" rtlCol="false" tIns="0" lIns="0" bIns="0" rIns="0">
            <a:spAutoFit/>
          </a:bodyPr>
          <a:lstStyle/>
          <a:p>
            <a:pPr algn="l">
              <a:lnSpc>
                <a:spcPts val="3887"/>
              </a:lnSpc>
            </a:pPr>
            <a:r>
              <a:rPr lang="en-US" sz="2025">
                <a:solidFill>
                  <a:srgbClr val="D9EBF5"/>
                </a:solidFill>
                <a:latin typeface="Aptos"/>
                <a:ea typeface="Aptos"/>
                <a:cs typeface="Aptos"/>
                <a:sym typeface="Aptos"/>
              </a:rPr>
              <a:t>Pyth</a:t>
            </a:r>
            <a:r>
              <a:rPr lang="en-US" sz="2025">
                <a:solidFill>
                  <a:srgbClr val="D9EBF5"/>
                </a:solidFill>
                <a:latin typeface="Aptos"/>
                <a:ea typeface="Aptos"/>
                <a:cs typeface="Aptos"/>
                <a:sym typeface="Aptos"/>
              </a:rPr>
              <a:t>on, Pandas, NumPy, Matplotlib, Seaborn, Google Colab, Power BI</a:t>
            </a:r>
          </a:p>
        </p:txBody>
      </p:sp>
      <p:sp>
        <p:nvSpPr>
          <p:cNvPr name="TextBox 37" id="37"/>
          <p:cNvSpPr txBox="true"/>
          <p:nvPr/>
        </p:nvSpPr>
        <p:spPr>
          <a:xfrm rot="0">
            <a:off x="11726466" y="6168771"/>
            <a:ext cx="5809478" cy="376238"/>
          </a:xfrm>
          <a:prstGeom prst="rect">
            <a:avLst/>
          </a:prstGeom>
        </p:spPr>
        <p:txBody>
          <a:bodyPr anchor="t" rtlCol="false" tIns="0" lIns="0" bIns="0" rIns="0">
            <a:spAutoFit/>
          </a:bodyPr>
          <a:lstStyle/>
          <a:p>
            <a:pPr algn="l">
              <a:lnSpc>
                <a:spcPts val="2160"/>
              </a:lnSpc>
            </a:pPr>
            <a:r>
              <a:rPr lang="en-US" sz="1800">
                <a:solidFill>
                  <a:srgbClr val="03B3C3"/>
                </a:solidFill>
                <a:latin typeface="Poppins"/>
                <a:ea typeface="Poppins"/>
                <a:cs typeface="Poppins"/>
                <a:sym typeface="Poppins"/>
              </a:rPr>
              <a:t>Supervisor</a:t>
            </a:r>
          </a:p>
        </p:txBody>
      </p:sp>
      <p:sp>
        <p:nvSpPr>
          <p:cNvPr name="TextBox 38" id="38"/>
          <p:cNvSpPr txBox="true"/>
          <p:nvPr/>
        </p:nvSpPr>
        <p:spPr>
          <a:xfrm rot="0">
            <a:off x="11726466" y="6525958"/>
            <a:ext cx="5532834" cy="433959"/>
          </a:xfrm>
          <a:prstGeom prst="rect">
            <a:avLst/>
          </a:prstGeom>
        </p:spPr>
        <p:txBody>
          <a:bodyPr anchor="t" rtlCol="false" tIns="0" lIns="0" bIns="0" rIns="0">
            <a:spAutoFit/>
          </a:bodyPr>
          <a:lstStyle/>
          <a:p>
            <a:pPr algn="l">
              <a:lnSpc>
                <a:spcPts val="3887"/>
              </a:lnSpc>
            </a:pPr>
            <a:r>
              <a:rPr lang="en-US" sz="2025">
                <a:solidFill>
                  <a:srgbClr val="D9EBF5"/>
                </a:solidFill>
                <a:latin typeface="Cairo"/>
                <a:ea typeface="Cairo"/>
                <a:cs typeface="Cairo"/>
                <a:sym typeface="Cairo"/>
              </a:rPr>
              <a:t>Dr</a:t>
            </a:r>
            <a:r>
              <a:rPr lang="en-US" sz="2025">
                <a:solidFill>
                  <a:srgbClr val="D9EBF5"/>
                </a:solidFill>
                <a:latin typeface="Cairo"/>
                <a:ea typeface="Cairo"/>
                <a:cs typeface="Cairo"/>
                <a:sym typeface="Cairo"/>
              </a:rPr>
              <a:t> Eman Ghanem</a:t>
            </a:r>
          </a:p>
        </p:txBody>
      </p:sp>
      <p:sp>
        <p:nvSpPr>
          <p:cNvPr name="TextBox 39" id="39"/>
          <p:cNvSpPr txBox="true"/>
          <p:nvPr/>
        </p:nvSpPr>
        <p:spPr>
          <a:xfrm rot="0">
            <a:off x="59747" y="3195637"/>
            <a:ext cx="4320178" cy="361950"/>
          </a:xfrm>
          <a:prstGeom prst="rect">
            <a:avLst/>
          </a:prstGeom>
        </p:spPr>
        <p:txBody>
          <a:bodyPr anchor="t" rtlCol="false" tIns="0" lIns="0" bIns="0" rIns="0">
            <a:spAutoFit/>
          </a:bodyPr>
          <a:lstStyle/>
          <a:p>
            <a:pPr algn="r">
              <a:lnSpc>
                <a:spcPts val="2970"/>
              </a:lnSpc>
            </a:pPr>
            <a:r>
              <a:rPr lang="en-US" b="true" sz="2475">
                <a:solidFill>
                  <a:srgbClr val="FFFFFF"/>
                </a:solidFill>
                <a:latin typeface="Cairo Bold"/>
                <a:ea typeface="Cairo Bold"/>
                <a:cs typeface="Cairo Bold"/>
                <a:sym typeface="Cairo Bold"/>
              </a:rPr>
              <a:t>Sulaf Mohammad </a:t>
            </a:r>
            <a:r>
              <a:rPr lang="en-US" b="true" sz="2475">
                <a:solidFill>
                  <a:srgbClr val="FFFFFF"/>
                </a:solidFill>
                <a:latin typeface="Cairo Bold"/>
                <a:ea typeface="Cairo Bold"/>
                <a:cs typeface="Cairo Bold"/>
                <a:sym typeface="Cairo Bold"/>
              </a:rPr>
              <a:t>Judah</a:t>
            </a:r>
          </a:p>
        </p:txBody>
      </p:sp>
      <p:sp>
        <p:nvSpPr>
          <p:cNvPr name="TextBox 40" id="40"/>
          <p:cNvSpPr txBox="true"/>
          <p:nvPr/>
        </p:nvSpPr>
        <p:spPr>
          <a:xfrm rot="0">
            <a:off x="757238" y="3729038"/>
            <a:ext cx="1657350" cy="351512"/>
          </a:xfrm>
          <a:prstGeom prst="rect">
            <a:avLst/>
          </a:prstGeom>
        </p:spPr>
        <p:txBody>
          <a:bodyPr anchor="t" rtlCol="false" tIns="0" lIns="0" bIns="0" rIns="0">
            <a:spAutoFit/>
          </a:bodyPr>
          <a:lstStyle/>
          <a:p>
            <a:pPr algn="r">
              <a:lnSpc>
                <a:spcPts val="3022"/>
              </a:lnSpc>
            </a:pPr>
            <a:r>
              <a:rPr lang="en-US" sz="1575">
                <a:solidFill>
                  <a:srgbClr val="818CF8"/>
                </a:solidFill>
                <a:latin typeface="Aptos"/>
                <a:ea typeface="Aptos"/>
                <a:cs typeface="Aptos"/>
                <a:sym typeface="Aptos"/>
              </a:rPr>
              <a:t>Team Leader</a:t>
            </a:r>
          </a:p>
        </p:txBody>
      </p:sp>
      <p:sp>
        <p:nvSpPr>
          <p:cNvPr name="TextBox 41" id="41"/>
          <p:cNvSpPr txBox="true"/>
          <p:nvPr/>
        </p:nvSpPr>
        <p:spPr>
          <a:xfrm rot="0">
            <a:off x="5661800" y="3247263"/>
            <a:ext cx="4414817" cy="361950"/>
          </a:xfrm>
          <a:prstGeom prst="rect">
            <a:avLst/>
          </a:prstGeom>
        </p:spPr>
        <p:txBody>
          <a:bodyPr anchor="t" rtlCol="false" tIns="0" lIns="0" bIns="0" rIns="0">
            <a:spAutoFit/>
          </a:bodyPr>
          <a:lstStyle/>
          <a:p>
            <a:pPr algn="r">
              <a:lnSpc>
                <a:spcPts val="2970"/>
              </a:lnSpc>
            </a:pPr>
            <a:r>
              <a:rPr lang="en-US" b="true" sz="2475">
                <a:solidFill>
                  <a:srgbClr val="FFFFFF"/>
                </a:solidFill>
                <a:latin typeface="Cairo Bold"/>
                <a:ea typeface="Cairo Bold"/>
                <a:cs typeface="Cairo Bold"/>
                <a:sym typeface="Cairo Bold"/>
              </a:rPr>
              <a:t>Basmala Mahmoud  Sheba</a:t>
            </a:r>
          </a:p>
        </p:txBody>
      </p:sp>
      <p:sp>
        <p:nvSpPr>
          <p:cNvPr name="TextBox 42" id="42"/>
          <p:cNvSpPr txBox="true"/>
          <p:nvPr/>
        </p:nvSpPr>
        <p:spPr>
          <a:xfrm rot="0">
            <a:off x="6526121" y="3729038"/>
            <a:ext cx="1128712" cy="351512"/>
          </a:xfrm>
          <a:prstGeom prst="rect">
            <a:avLst/>
          </a:prstGeom>
        </p:spPr>
        <p:txBody>
          <a:bodyPr anchor="t" rtlCol="false" tIns="0" lIns="0" bIns="0" rIns="0">
            <a:spAutoFit/>
          </a:bodyPr>
          <a:lstStyle/>
          <a:p>
            <a:pPr algn="r">
              <a:lnSpc>
                <a:spcPts val="3022"/>
              </a:lnSpc>
            </a:pPr>
            <a:r>
              <a:rPr lang="en-US" sz="1575">
                <a:solidFill>
                  <a:srgbClr val="03B3C3"/>
                </a:solidFill>
                <a:latin typeface="Aptos"/>
                <a:ea typeface="Aptos"/>
                <a:cs typeface="Aptos"/>
                <a:sym typeface="Aptos"/>
              </a:rPr>
              <a:t>QA Engineer</a:t>
            </a:r>
          </a:p>
        </p:txBody>
      </p:sp>
      <p:sp>
        <p:nvSpPr>
          <p:cNvPr name="TextBox 43" id="43"/>
          <p:cNvSpPr txBox="true"/>
          <p:nvPr/>
        </p:nvSpPr>
        <p:spPr>
          <a:xfrm rot="0">
            <a:off x="821531" y="5010969"/>
            <a:ext cx="3905841" cy="361950"/>
          </a:xfrm>
          <a:prstGeom prst="rect">
            <a:avLst/>
          </a:prstGeom>
        </p:spPr>
        <p:txBody>
          <a:bodyPr anchor="t" rtlCol="false" tIns="0" lIns="0" bIns="0" rIns="0">
            <a:spAutoFit/>
          </a:bodyPr>
          <a:lstStyle/>
          <a:p>
            <a:pPr algn="r">
              <a:lnSpc>
                <a:spcPts val="2970"/>
              </a:lnSpc>
            </a:pPr>
            <a:r>
              <a:rPr lang="en-US" b="true" sz="2475">
                <a:solidFill>
                  <a:srgbClr val="FFFFFF"/>
                </a:solidFill>
                <a:latin typeface="Cairo Bold"/>
                <a:ea typeface="Cairo Bold"/>
                <a:cs typeface="Cairo Bold"/>
                <a:sym typeface="Cairo Bold"/>
              </a:rPr>
              <a:t>Hager Mohamed</a:t>
            </a:r>
            <a:r>
              <a:rPr lang="en-US" b="true" sz="2475">
                <a:solidFill>
                  <a:srgbClr val="FFFFFF"/>
                </a:solidFill>
                <a:latin typeface="Cairo Bold"/>
                <a:ea typeface="Cairo Bold"/>
                <a:cs typeface="Cairo Bold"/>
                <a:sym typeface="Cairo Bold"/>
              </a:rPr>
              <a:t> Al Sayed</a:t>
            </a:r>
          </a:p>
        </p:txBody>
      </p:sp>
      <p:sp>
        <p:nvSpPr>
          <p:cNvPr name="TextBox 44" id="44"/>
          <p:cNvSpPr txBox="true"/>
          <p:nvPr/>
        </p:nvSpPr>
        <p:spPr>
          <a:xfrm rot="0">
            <a:off x="821531" y="5449119"/>
            <a:ext cx="1528762" cy="351512"/>
          </a:xfrm>
          <a:prstGeom prst="rect">
            <a:avLst/>
          </a:prstGeom>
        </p:spPr>
        <p:txBody>
          <a:bodyPr anchor="t" rtlCol="false" tIns="0" lIns="0" bIns="0" rIns="0">
            <a:spAutoFit/>
          </a:bodyPr>
          <a:lstStyle/>
          <a:p>
            <a:pPr algn="r">
              <a:lnSpc>
                <a:spcPts val="3022"/>
              </a:lnSpc>
            </a:pPr>
            <a:r>
              <a:rPr lang="en-US" sz="1575">
                <a:solidFill>
                  <a:srgbClr val="2D6832"/>
                </a:solidFill>
                <a:latin typeface="Aptos"/>
                <a:ea typeface="Aptos"/>
                <a:cs typeface="Aptos"/>
                <a:sym typeface="Aptos"/>
              </a:rPr>
              <a:t>QA Engineer</a:t>
            </a:r>
          </a:p>
        </p:txBody>
      </p:sp>
      <p:sp>
        <p:nvSpPr>
          <p:cNvPr name="TextBox 45" id="45"/>
          <p:cNvSpPr txBox="true"/>
          <p:nvPr/>
        </p:nvSpPr>
        <p:spPr>
          <a:xfrm rot="0">
            <a:off x="6148973" y="4852987"/>
            <a:ext cx="4677375" cy="361950"/>
          </a:xfrm>
          <a:prstGeom prst="rect">
            <a:avLst/>
          </a:prstGeom>
        </p:spPr>
        <p:txBody>
          <a:bodyPr anchor="t" rtlCol="false" tIns="0" lIns="0" bIns="0" rIns="0">
            <a:spAutoFit/>
          </a:bodyPr>
          <a:lstStyle/>
          <a:p>
            <a:pPr algn="l">
              <a:lnSpc>
                <a:spcPts val="2970"/>
              </a:lnSpc>
            </a:pPr>
            <a:r>
              <a:rPr lang="en-US" sz="2475" b="true">
                <a:solidFill>
                  <a:srgbClr val="FFFFFF"/>
                </a:solidFill>
                <a:latin typeface="Cairo Bold"/>
                <a:ea typeface="Cairo Bold"/>
                <a:cs typeface="Cairo Bold"/>
                <a:sym typeface="Cairo Bold"/>
              </a:rPr>
              <a:t>Mohamed Ragab Abdelwanesr</a:t>
            </a:r>
          </a:p>
        </p:txBody>
      </p:sp>
      <p:sp>
        <p:nvSpPr>
          <p:cNvPr name="TextBox 46" id="46"/>
          <p:cNvSpPr txBox="true"/>
          <p:nvPr/>
        </p:nvSpPr>
        <p:spPr>
          <a:xfrm rot="0">
            <a:off x="6526121" y="5396369"/>
            <a:ext cx="1128712" cy="351512"/>
          </a:xfrm>
          <a:prstGeom prst="rect">
            <a:avLst/>
          </a:prstGeom>
        </p:spPr>
        <p:txBody>
          <a:bodyPr anchor="t" rtlCol="false" tIns="0" lIns="0" bIns="0" rIns="0">
            <a:spAutoFit/>
          </a:bodyPr>
          <a:lstStyle/>
          <a:p>
            <a:pPr algn="r">
              <a:lnSpc>
                <a:spcPts val="3022"/>
              </a:lnSpc>
            </a:pPr>
            <a:r>
              <a:rPr lang="en-US" sz="1575">
                <a:solidFill>
                  <a:srgbClr val="D0AD51"/>
                </a:solidFill>
                <a:latin typeface="Aptos"/>
                <a:ea typeface="Aptos"/>
                <a:cs typeface="Aptos"/>
                <a:sym typeface="Aptos"/>
              </a:rPr>
              <a:t>QA Engineer</a:t>
            </a:r>
          </a:p>
        </p:txBody>
      </p:sp>
      <p:sp>
        <p:nvSpPr>
          <p:cNvPr name="TextBox 47" id="47"/>
          <p:cNvSpPr txBox="true"/>
          <p:nvPr/>
        </p:nvSpPr>
        <p:spPr>
          <a:xfrm rot="0">
            <a:off x="254498" y="6708791"/>
            <a:ext cx="4634503" cy="361950"/>
          </a:xfrm>
          <a:prstGeom prst="rect">
            <a:avLst/>
          </a:prstGeom>
        </p:spPr>
        <p:txBody>
          <a:bodyPr anchor="t" rtlCol="false" tIns="0" lIns="0" bIns="0" rIns="0">
            <a:spAutoFit/>
          </a:bodyPr>
          <a:lstStyle/>
          <a:p>
            <a:pPr algn="r">
              <a:lnSpc>
                <a:spcPts val="2970"/>
              </a:lnSpc>
            </a:pPr>
            <a:r>
              <a:rPr lang="en-US" b="true" sz="2475">
                <a:solidFill>
                  <a:srgbClr val="FFFFFF"/>
                </a:solidFill>
                <a:latin typeface="Cairo Bold"/>
                <a:ea typeface="Cairo Bold"/>
                <a:cs typeface="Cairo Bold"/>
                <a:sym typeface="Cairo Bold"/>
              </a:rPr>
              <a:t>Ahmed Mohammed</a:t>
            </a:r>
            <a:r>
              <a:rPr lang="en-US" b="true" sz="2475">
                <a:solidFill>
                  <a:srgbClr val="FFFFFF"/>
                </a:solidFill>
                <a:latin typeface="Cairo Bold"/>
                <a:ea typeface="Cairo Bold"/>
                <a:cs typeface="Cairo Bold"/>
                <a:sym typeface="Cairo Bold"/>
              </a:rPr>
              <a:t> Ghieth</a:t>
            </a:r>
          </a:p>
        </p:txBody>
      </p:sp>
      <p:sp>
        <p:nvSpPr>
          <p:cNvPr name="TextBox 48" id="48"/>
          <p:cNvSpPr txBox="true"/>
          <p:nvPr/>
        </p:nvSpPr>
        <p:spPr>
          <a:xfrm rot="0">
            <a:off x="1085850" y="7154913"/>
            <a:ext cx="1328738" cy="351512"/>
          </a:xfrm>
          <a:prstGeom prst="rect">
            <a:avLst/>
          </a:prstGeom>
        </p:spPr>
        <p:txBody>
          <a:bodyPr anchor="t" rtlCol="false" tIns="0" lIns="0" bIns="0" rIns="0">
            <a:spAutoFit/>
          </a:bodyPr>
          <a:lstStyle/>
          <a:p>
            <a:pPr algn="r">
              <a:lnSpc>
                <a:spcPts val="3022"/>
              </a:lnSpc>
            </a:pPr>
            <a:r>
              <a:rPr lang="en-US" sz="1575">
                <a:solidFill>
                  <a:srgbClr val="E37600"/>
                </a:solidFill>
                <a:latin typeface="Aptos"/>
                <a:ea typeface="Aptos"/>
                <a:cs typeface="Aptos"/>
                <a:sym typeface="Aptos"/>
              </a:rPr>
              <a:t>QA Engineer</a:t>
            </a:r>
          </a:p>
        </p:txBody>
      </p:sp>
      <p:grpSp>
        <p:nvGrpSpPr>
          <p:cNvPr name="Group 49" id="49"/>
          <p:cNvGrpSpPr/>
          <p:nvPr/>
        </p:nvGrpSpPr>
        <p:grpSpPr>
          <a:xfrm rot="0">
            <a:off x="1071562" y="628650"/>
            <a:ext cx="1148274" cy="1103376"/>
            <a:chOff x="0" y="0"/>
            <a:chExt cx="1238250" cy="1189834"/>
          </a:xfrm>
        </p:grpSpPr>
        <p:sp>
          <p:nvSpPr>
            <p:cNvPr name="Freeform 50" id="50"/>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14"/>
              <a:stretch>
                <a:fillRect l="0" t="-2034" r="0" b="-2034"/>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59747" y="43682"/>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628650"/>
            <a:ext cx="16859250" cy="1285875"/>
            <a:chOff x="0" y="0"/>
            <a:chExt cx="22479000" cy="1714500"/>
          </a:xfrm>
        </p:grpSpPr>
        <p:sp>
          <p:nvSpPr>
            <p:cNvPr name="Freeform 9" id="9"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4"/>
              <a:stretch>
                <a:fillRect l="0" t="0" r="0" b="0"/>
              </a:stretch>
            </a:blipFill>
          </p:spPr>
        </p:sp>
      </p:grpSp>
      <p:grpSp>
        <p:nvGrpSpPr>
          <p:cNvPr name="Group 10" id="10"/>
          <p:cNvGrpSpPr/>
          <p:nvPr/>
        </p:nvGrpSpPr>
        <p:grpSpPr>
          <a:xfrm rot="0">
            <a:off x="0" y="0"/>
            <a:ext cx="18288000" cy="57150"/>
            <a:chOff x="0" y="0"/>
            <a:chExt cx="24384000" cy="76200"/>
          </a:xfrm>
        </p:grpSpPr>
        <p:sp>
          <p:nvSpPr>
            <p:cNvPr name="Freeform 11" id="11"/>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2" id="12"/>
          <p:cNvSpPr txBox="true"/>
          <p:nvPr/>
        </p:nvSpPr>
        <p:spPr>
          <a:xfrm rot="0">
            <a:off x="2571750" y="764086"/>
            <a:ext cx="13801725" cy="495300"/>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Problem</a:t>
            </a:r>
          </a:p>
        </p:txBody>
      </p:sp>
      <p:sp>
        <p:nvSpPr>
          <p:cNvPr name="TextBox 13" id="13"/>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Problem Statement</a:t>
            </a:r>
          </a:p>
        </p:txBody>
      </p:sp>
      <p:grpSp>
        <p:nvGrpSpPr>
          <p:cNvPr name="Group 14" id="14"/>
          <p:cNvGrpSpPr/>
          <p:nvPr/>
        </p:nvGrpSpPr>
        <p:grpSpPr>
          <a:xfrm rot="0">
            <a:off x="16216312" y="802110"/>
            <a:ext cx="928688" cy="924449"/>
            <a:chOff x="0" y="0"/>
            <a:chExt cx="1238250" cy="1232598"/>
          </a:xfrm>
        </p:grpSpPr>
        <p:sp>
          <p:nvSpPr>
            <p:cNvPr name="Freeform 15" id="15"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5"/>
              <a:stretch>
                <a:fillRect l="0" t="0" r="0" b="-2009"/>
              </a:stretch>
            </a:blipFill>
          </p:spPr>
        </p:sp>
      </p:grpSp>
      <p:grpSp>
        <p:nvGrpSpPr>
          <p:cNvPr name="Group 16" id="16"/>
          <p:cNvGrpSpPr/>
          <p:nvPr/>
        </p:nvGrpSpPr>
        <p:grpSpPr>
          <a:xfrm rot="0">
            <a:off x="1082835" y="2813431"/>
            <a:ext cx="15553295" cy="6167543"/>
            <a:chOff x="0" y="0"/>
            <a:chExt cx="9877882" cy="3917000"/>
          </a:xfrm>
        </p:grpSpPr>
        <p:sp>
          <p:nvSpPr>
            <p:cNvPr name="Freeform 17" id="17" descr="image.png"/>
            <p:cNvSpPr/>
            <p:nvPr/>
          </p:nvSpPr>
          <p:spPr>
            <a:xfrm flipH="false" flipV="false" rot="0">
              <a:off x="0" y="0"/>
              <a:ext cx="9877844" cy="3917051"/>
            </a:xfrm>
            <a:custGeom>
              <a:avLst/>
              <a:gdLst/>
              <a:ahLst/>
              <a:cxnLst/>
              <a:rect r="r" b="b" t="t" l="l"/>
              <a:pathLst>
                <a:path h="3917051" w="9877844">
                  <a:moveTo>
                    <a:pt x="0" y="0"/>
                  </a:moveTo>
                  <a:lnTo>
                    <a:pt x="9877844" y="0"/>
                  </a:lnTo>
                  <a:lnTo>
                    <a:pt x="9877844" y="3917051"/>
                  </a:lnTo>
                  <a:lnTo>
                    <a:pt x="0" y="3917051"/>
                  </a:lnTo>
                  <a:lnTo>
                    <a:pt x="0" y="0"/>
                  </a:lnTo>
                  <a:close/>
                </a:path>
              </a:pathLst>
            </a:custGeom>
            <a:blipFill>
              <a:blip r:embed="rId6"/>
              <a:stretch>
                <a:fillRect l="-18319" t="0" r="-18320" b="-418"/>
              </a:stretch>
            </a:blipFill>
          </p:spPr>
        </p:sp>
      </p:grpSp>
      <p:sp>
        <p:nvSpPr>
          <p:cNvPr name="TextBox 18" id="18"/>
          <p:cNvSpPr txBox="true"/>
          <p:nvPr/>
        </p:nvSpPr>
        <p:spPr>
          <a:xfrm rot="0">
            <a:off x="2143125" y="4130315"/>
            <a:ext cx="11626308" cy="3585394"/>
          </a:xfrm>
          <a:prstGeom prst="rect">
            <a:avLst/>
          </a:prstGeom>
        </p:spPr>
        <p:txBody>
          <a:bodyPr anchor="t" rtlCol="false" tIns="0" lIns="0" bIns="0" rIns="0">
            <a:spAutoFit/>
          </a:bodyPr>
          <a:lstStyle/>
          <a:p>
            <a:pPr algn="l">
              <a:lnSpc>
                <a:spcPts val="4100"/>
              </a:lnSpc>
            </a:pPr>
            <a:r>
              <a:rPr lang="en-US" sz="3417">
                <a:solidFill>
                  <a:srgbClr val="FFFFFF"/>
                </a:solidFill>
                <a:latin typeface="Aptos"/>
                <a:ea typeface="Aptos"/>
                <a:cs typeface="Aptos"/>
                <a:sym typeface="Aptos"/>
              </a:rPr>
              <a:t>Climate change data is often scattered across multiple sources and indicators, making it difficult to understand the relationships between environmental factors such as temperature, greenhouse gas emissions, water resources, agriculture, and natural disasters. Decision-makers and researchers need an integrated platform that transforms complex climate data into actionable insights.</a:t>
            </a:r>
          </a:p>
        </p:txBody>
      </p:sp>
      <p:grpSp>
        <p:nvGrpSpPr>
          <p:cNvPr name="Group 19" id="19"/>
          <p:cNvGrpSpPr/>
          <p:nvPr/>
        </p:nvGrpSpPr>
        <p:grpSpPr>
          <a:xfrm rot="0">
            <a:off x="1071562" y="628650"/>
            <a:ext cx="1148274" cy="1103376"/>
            <a:chOff x="0" y="0"/>
            <a:chExt cx="1238250" cy="1189834"/>
          </a:xfrm>
        </p:grpSpPr>
        <p:sp>
          <p:nvSpPr>
            <p:cNvPr name="Freeform 20" id="20"/>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
        <p:nvSpPr>
          <p:cNvPr name="TextBox 21" id="21"/>
          <p:cNvSpPr txBox="true"/>
          <p:nvPr/>
        </p:nvSpPr>
        <p:spPr>
          <a:xfrm rot="0">
            <a:off x="1429239" y="3267075"/>
            <a:ext cx="5233942" cy="466725"/>
          </a:xfrm>
          <a:prstGeom prst="rect">
            <a:avLst/>
          </a:prstGeom>
        </p:spPr>
        <p:txBody>
          <a:bodyPr anchor="t" rtlCol="false" tIns="0" lIns="0" bIns="0" rIns="0">
            <a:spAutoFit/>
          </a:bodyPr>
          <a:lstStyle/>
          <a:p>
            <a:pPr algn="l">
              <a:lnSpc>
                <a:spcPts val="3547"/>
              </a:lnSpc>
            </a:pPr>
            <a:r>
              <a:rPr lang="en-US" b="true" sz="2956">
                <a:solidFill>
                  <a:srgbClr val="FFFFFF"/>
                </a:solidFill>
                <a:latin typeface="Poppins Bold"/>
                <a:ea typeface="Poppins Bold"/>
                <a:cs typeface="Poppins Bold"/>
                <a:sym typeface="Poppins Bold"/>
              </a:rPr>
              <a:t>Problem Statement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59747" y="43682"/>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1720051" y="2590800"/>
            <a:ext cx="7483696" cy="3330115"/>
            <a:chOff x="0" y="0"/>
            <a:chExt cx="7122382" cy="3169336"/>
          </a:xfrm>
        </p:grpSpPr>
        <p:sp>
          <p:nvSpPr>
            <p:cNvPr name="Freeform 9" id="9" descr="image.png"/>
            <p:cNvSpPr/>
            <p:nvPr/>
          </p:nvSpPr>
          <p:spPr>
            <a:xfrm flipH="false" flipV="false" rot="0">
              <a:off x="0" y="0"/>
              <a:ext cx="7122355" cy="3169387"/>
            </a:xfrm>
            <a:custGeom>
              <a:avLst/>
              <a:gdLst/>
              <a:ahLst/>
              <a:cxnLst/>
              <a:rect r="r" b="b" t="t" l="l"/>
              <a:pathLst>
                <a:path h="3169387" w="7122355">
                  <a:moveTo>
                    <a:pt x="0" y="0"/>
                  </a:moveTo>
                  <a:lnTo>
                    <a:pt x="7122355" y="0"/>
                  </a:lnTo>
                  <a:lnTo>
                    <a:pt x="7122355" y="3169387"/>
                  </a:lnTo>
                  <a:lnTo>
                    <a:pt x="0" y="3169387"/>
                  </a:lnTo>
                  <a:lnTo>
                    <a:pt x="0" y="0"/>
                  </a:lnTo>
                  <a:close/>
                </a:path>
              </a:pathLst>
            </a:custGeom>
            <a:blipFill>
              <a:blip r:embed="rId4"/>
              <a:stretch>
                <a:fillRect l="-26665" t="0" r="-26666" b="-418"/>
              </a:stretch>
            </a:blipFill>
          </p:spPr>
        </p:sp>
      </p:grpSp>
      <p:grpSp>
        <p:nvGrpSpPr>
          <p:cNvPr name="Group 10" id="10"/>
          <p:cNvGrpSpPr/>
          <p:nvPr/>
        </p:nvGrpSpPr>
        <p:grpSpPr>
          <a:xfrm rot="0">
            <a:off x="9472612" y="2590800"/>
            <a:ext cx="7408411" cy="3330115"/>
            <a:chOff x="0" y="0"/>
            <a:chExt cx="9877882" cy="4440153"/>
          </a:xfrm>
        </p:grpSpPr>
        <p:sp>
          <p:nvSpPr>
            <p:cNvPr name="Freeform 11" id="11" descr="image.png"/>
            <p:cNvSpPr/>
            <p:nvPr/>
          </p:nvSpPr>
          <p:spPr>
            <a:xfrm flipH="false" flipV="false" rot="0">
              <a:off x="0" y="0"/>
              <a:ext cx="9877844" cy="4440203"/>
            </a:xfrm>
            <a:custGeom>
              <a:avLst/>
              <a:gdLst/>
              <a:ahLst/>
              <a:cxnLst/>
              <a:rect r="r" b="b" t="t" l="l"/>
              <a:pathLst>
                <a:path h="4440203" w="9877844">
                  <a:moveTo>
                    <a:pt x="0" y="0"/>
                  </a:moveTo>
                  <a:lnTo>
                    <a:pt x="9877844" y="0"/>
                  </a:lnTo>
                  <a:lnTo>
                    <a:pt x="9877844" y="4440203"/>
                  </a:lnTo>
                  <a:lnTo>
                    <a:pt x="0" y="4440203"/>
                  </a:lnTo>
                  <a:lnTo>
                    <a:pt x="0" y="0"/>
                  </a:lnTo>
                  <a:close/>
                </a:path>
              </a:pathLst>
            </a:custGeom>
            <a:blipFill>
              <a:blip r:embed="rId5"/>
              <a:stretch>
                <a:fillRect l="-27444" t="0" r="-27445" b="-418"/>
              </a:stretch>
            </a:blipFill>
          </p:spPr>
        </p:sp>
      </p:grpSp>
      <p:grpSp>
        <p:nvGrpSpPr>
          <p:cNvPr name="Group 12" id="12"/>
          <p:cNvGrpSpPr/>
          <p:nvPr/>
        </p:nvGrpSpPr>
        <p:grpSpPr>
          <a:xfrm rot="0">
            <a:off x="1720051" y="6092365"/>
            <a:ext cx="7483696" cy="3165935"/>
            <a:chOff x="0" y="0"/>
            <a:chExt cx="9978261" cy="4221247"/>
          </a:xfrm>
        </p:grpSpPr>
        <p:sp>
          <p:nvSpPr>
            <p:cNvPr name="Freeform 13" id="13" descr="image.png"/>
            <p:cNvSpPr/>
            <p:nvPr/>
          </p:nvSpPr>
          <p:spPr>
            <a:xfrm flipH="false" flipV="false" rot="0">
              <a:off x="0" y="0"/>
              <a:ext cx="9978223" cy="4221298"/>
            </a:xfrm>
            <a:custGeom>
              <a:avLst/>
              <a:gdLst/>
              <a:ahLst/>
              <a:cxnLst/>
              <a:rect r="r" b="b" t="t" l="l"/>
              <a:pathLst>
                <a:path h="4221298" w="9978223">
                  <a:moveTo>
                    <a:pt x="0" y="0"/>
                  </a:moveTo>
                  <a:lnTo>
                    <a:pt x="9978223" y="0"/>
                  </a:lnTo>
                  <a:lnTo>
                    <a:pt x="9978223" y="4221298"/>
                  </a:lnTo>
                  <a:lnTo>
                    <a:pt x="0" y="4221298"/>
                  </a:lnTo>
                  <a:lnTo>
                    <a:pt x="0" y="0"/>
                  </a:lnTo>
                  <a:close/>
                </a:path>
              </a:pathLst>
            </a:custGeom>
            <a:blipFill>
              <a:blip r:embed="rId6"/>
              <a:stretch>
                <a:fillRect l="-22885" t="0" r="-22886" b="-418"/>
              </a:stretch>
            </a:blipFill>
          </p:spPr>
        </p:sp>
      </p:grpSp>
      <p:grpSp>
        <p:nvGrpSpPr>
          <p:cNvPr name="Group 14" id="14"/>
          <p:cNvGrpSpPr/>
          <p:nvPr/>
        </p:nvGrpSpPr>
        <p:grpSpPr>
          <a:xfrm rot="0">
            <a:off x="9472612" y="6092365"/>
            <a:ext cx="7408411" cy="3165935"/>
            <a:chOff x="0" y="0"/>
            <a:chExt cx="9877882" cy="4221247"/>
          </a:xfrm>
        </p:grpSpPr>
        <p:sp>
          <p:nvSpPr>
            <p:cNvPr name="Freeform 15" id="15" descr="image.png"/>
            <p:cNvSpPr/>
            <p:nvPr/>
          </p:nvSpPr>
          <p:spPr>
            <a:xfrm flipH="false" flipV="false" rot="0">
              <a:off x="0" y="0"/>
              <a:ext cx="9877844" cy="4221298"/>
            </a:xfrm>
            <a:custGeom>
              <a:avLst/>
              <a:gdLst/>
              <a:ahLst/>
              <a:cxnLst/>
              <a:rect r="r" b="b" t="t" l="l"/>
              <a:pathLst>
                <a:path h="4221298" w="9877844">
                  <a:moveTo>
                    <a:pt x="0" y="0"/>
                  </a:moveTo>
                  <a:lnTo>
                    <a:pt x="9877844" y="0"/>
                  </a:lnTo>
                  <a:lnTo>
                    <a:pt x="9877844" y="4221298"/>
                  </a:lnTo>
                  <a:lnTo>
                    <a:pt x="0" y="4221298"/>
                  </a:lnTo>
                  <a:lnTo>
                    <a:pt x="0" y="0"/>
                  </a:lnTo>
                  <a:close/>
                </a:path>
              </a:pathLst>
            </a:custGeom>
            <a:blipFill>
              <a:blip r:embed="rId7"/>
              <a:stretch>
                <a:fillRect l="-23626" t="0" r="-23627" b="-418"/>
              </a:stretch>
            </a:blipFill>
          </p:spPr>
        </p:sp>
      </p:grpSp>
      <p:grpSp>
        <p:nvGrpSpPr>
          <p:cNvPr name="Group 16" id="16"/>
          <p:cNvGrpSpPr/>
          <p:nvPr/>
        </p:nvGrpSpPr>
        <p:grpSpPr>
          <a:xfrm rot="0">
            <a:off x="714375" y="628650"/>
            <a:ext cx="16859250" cy="1285875"/>
            <a:chOff x="0" y="0"/>
            <a:chExt cx="22479000" cy="1714500"/>
          </a:xfrm>
        </p:grpSpPr>
        <p:sp>
          <p:nvSpPr>
            <p:cNvPr name="Freeform 17" id="17"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8"/>
              <a:stretch>
                <a:fillRect l="0" t="0" r="0" b="0"/>
              </a:stretch>
            </a:blipFill>
          </p:spPr>
        </p:sp>
      </p:grpSp>
      <p:grpSp>
        <p:nvGrpSpPr>
          <p:cNvPr name="Group 18" id="18"/>
          <p:cNvGrpSpPr/>
          <p:nvPr/>
        </p:nvGrpSpPr>
        <p:grpSpPr>
          <a:xfrm rot="0">
            <a:off x="0" y="0"/>
            <a:ext cx="18288000" cy="57150"/>
            <a:chOff x="0" y="0"/>
            <a:chExt cx="24384000" cy="76200"/>
          </a:xfrm>
        </p:grpSpPr>
        <p:sp>
          <p:nvSpPr>
            <p:cNvPr name="Freeform 19" id="19"/>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20" id="20"/>
          <p:cNvSpPr txBox="true"/>
          <p:nvPr/>
        </p:nvSpPr>
        <p:spPr>
          <a:xfrm rot="0">
            <a:off x="2571750" y="764086"/>
            <a:ext cx="13801725" cy="495300"/>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Solution </a:t>
            </a:r>
          </a:p>
        </p:txBody>
      </p:sp>
      <p:sp>
        <p:nvSpPr>
          <p:cNvPr name="TextBox 21" id="21"/>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Proposed Solution </a:t>
            </a:r>
          </a:p>
        </p:txBody>
      </p:sp>
      <p:grpSp>
        <p:nvGrpSpPr>
          <p:cNvPr name="Group 22" id="22"/>
          <p:cNvGrpSpPr/>
          <p:nvPr/>
        </p:nvGrpSpPr>
        <p:grpSpPr>
          <a:xfrm rot="0">
            <a:off x="16216312" y="802110"/>
            <a:ext cx="928688" cy="924449"/>
            <a:chOff x="0" y="0"/>
            <a:chExt cx="1238250" cy="1232598"/>
          </a:xfrm>
        </p:grpSpPr>
        <p:sp>
          <p:nvSpPr>
            <p:cNvPr name="Freeform 23" id="23"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9"/>
              <a:stretch>
                <a:fillRect l="0" t="0" r="0" b="-2009"/>
              </a:stretch>
            </a:blipFill>
          </p:spPr>
        </p:sp>
      </p:grpSp>
      <p:sp>
        <p:nvSpPr>
          <p:cNvPr name="TextBox 24" id="24"/>
          <p:cNvSpPr txBox="true"/>
          <p:nvPr/>
        </p:nvSpPr>
        <p:spPr>
          <a:xfrm rot="0">
            <a:off x="2268910" y="3601821"/>
            <a:ext cx="6613274" cy="1714500"/>
          </a:xfrm>
          <a:prstGeom prst="rect">
            <a:avLst/>
          </a:prstGeom>
        </p:spPr>
        <p:txBody>
          <a:bodyPr anchor="t" rtlCol="false" tIns="0" lIns="0" bIns="0" rIns="0">
            <a:spAutoFit/>
          </a:bodyPr>
          <a:lstStyle/>
          <a:p>
            <a:pPr algn="l">
              <a:lnSpc>
                <a:spcPts val="2250"/>
              </a:lnSpc>
            </a:pPr>
            <a:r>
              <a:rPr lang="en-US" sz="1875">
                <a:solidFill>
                  <a:srgbClr val="FFFFFF"/>
                </a:solidFill>
                <a:latin typeface="Aptos"/>
                <a:ea typeface="Aptos"/>
                <a:cs typeface="Aptos"/>
                <a:sym typeface="Aptos"/>
              </a:rPr>
              <a:t>ClimateScope is an end-to-end climate analytics platform that integrates multiple global environmental datasets into a unified ecosystem. Through interactive Power BI dashboards and a Streamlit web application, the platform enables users to explore historical trends, analyze correlations, and monitor key climate indicators in an int</a:t>
            </a:r>
            <a:r>
              <a:rPr lang="en-US" sz="1875">
                <a:solidFill>
                  <a:srgbClr val="FFFFFF"/>
                </a:solidFill>
                <a:latin typeface="Aptos"/>
                <a:ea typeface="Aptos"/>
                <a:cs typeface="Aptos"/>
                <a:sym typeface="Aptos"/>
              </a:rPr>
              <a:t>uitive and data-driven way.</a:t>
            </a:r>
          </a:p>
        </p:txBody>
      </p:sp>
      <p:sp>
        <p:nvSpPr>
          <p:cNvPr name="TextBox 25" id="25"/>
          <p:cNvSpPr txBox="true"/>
          <p:nvPr/>
        </p:nvSpPr>
        <p:spPr>
          <a:xfrm rot="0">
            <a:off x="9678022" y="3230346"/>
            <a:ext cx="7501185" cy="2571750"/>
          </a:xfrm>
          <a:prstGeom prst="rect">
            <a:avLst/>
          </a:prstGeom>
        </p:spPr>
        <p:txBody>
          <a:bodyPr anchor="t" rtlCol="false" tIns="0" lIns="0" bIns="0" rIns="0">
            <a:spAutoFit/>
          </a:bodyPr>
          <a:lstStyle/>
          <a:p>
            <a:pPr algn="l" marL="404816" indent="-202408" lvl="1">
              <a:lnSpc>
                <a:spcPts val="2250"/>
              </a:lnSpc>
              <a:buFont typeface="Arial"/>
              <a:buChar char="•"/>
            </a:pPr>
            <a:r>
              <a:rPr lang="en-US" sz="1875">
                <a:solidFill>
                  <a:srgbClr val="FFFFFF"/>
                </a:solidFill>
                <a:latin typeface="Aptos"/>
                <a:ea typeface="Aptos"/>
                <a:cs typeface="Aptos"/>
                <a:sym typeface="Aptos"/>
              </a:rPr>
              <a:t>Combines six major climate dimensions into a single analytical platform.</a:t>
            </a:r>
          </a:p>
          <a:p>
            <a:pPr algn="l" marL="404816" indent="-202408" lvl="1">
              <a:lnSpc>
                <a:spcPts val="2250"/>
              </a:lnSpc>
              <a:buFont typeface="Arial"/>
              <a:buChar char="•"/>
            </a:pPr>
            <a:r>
              <a:rPr lang="en-US" sz="1875">
                <a:solidFill>
                  <a:srgbClr val="FFFFFF"/>
                </a:solidFill>
                <a:latin typeface="Aptos"/>
                <a:ea typeface="Aptos"/>
                <a:cs typeface="Aptos"/>
                <a:sym typeface="Aptos"/>
              </a:rPr>
              <a:t>Integrates both Business Intelligence (Power BI) and Web Analytics (Streamlit).</a:t>
            </a:r>
          </a:p>
          <a:p>
            <a:pPr algn="l" marL="404816" indent="-202408" lvl="1">
              <a:lnSpc>
                <a:spcPts val="2250"/>
              </a:lnSpc>
              <a:buFont typeface="Arial"/>
              <a:buChar char="•"/>
            </a:pPr>
            <a:r>
              <a:rPr lang="en-US" sz="1875">
                <a:solidFill>
                  <a:srgbClr val="FFFFFF"/>
                </a:solidFill>
                <a:latin typeface="Aptos"/>
                <a:ea typeface="Aptos"/>
                <a:cs typeface="Aptos"/>
                <a:sym typeface="Aptos"/>
              </a:rPr>
              <a:t>Provides interactive dashboards with filtering and cross-indicator exploration.</a:t>
            </a:r>
          </a:p>
          <a:p>
            <a:pPr algn="l" marL="404816" indent="-202408" lvl="1">
              <a:lnSpc>
                <a:spcPts val="2250"/>
              </a:lnSpc>
              <a:buFont typeface="Arial"/>
              <a:buChar char="•"/>
            </a:pPr>
            <a:r>
              <a:rPr lang="en-US" sz="1875">
                <a:solidFill>
                  <a:srgbClr val="FFFFFF"/>
                </a:solidFill>
                <a:latin typeface="Aptos"/>
                <a:ea typeface="Aptos"/>
                <a:cs typeface="Aptos"/>
                <a:sym typeface="Aptos"/>
              </a:rPr>
              <a:t>Covers more than a century of historical environmental data.</a:t>
            </a:r>
          </a:p>
          <a:p>
            <a:pPr algn="l" marL="404816" indent="-202408" lvl="1">
              <a:lnSpc>
                <a:spcPts val="2250"/>
              </a:lnSpc>
              <a:buFont typeface="Arial"/>
              <a:buChar char="•"/>
            </a:pPr>
            <a:r>
              <a:rPr lang="en-US" sz="1875">
                <a:solidFill>
                  <a:srgbClr val="FFFFFF"/>
                </a:solidFill>
                <a:latin typeface="Aptos"/>
                <a:ea typeface="Aptos"/>
                <a:cs typeface="Aptos"/>
                <a:sym typeface="Aptos"/>
              </a:rPr>
              <a:t>Highlights relationships between climate change, resource depletion, disasters, and agricultural sustainability.</a:t>
            </a:r>
          </a:p>
        </p:txBody>
      </p:sp>
      <p:sp>
        <p:nvSpPr>
          <p:cNvPr name="TextBox 26" id="26"/>
          <p:cNvSpPr txBox="true"/>
          <p:nvPr/>
        </p:nvSpPr>
        <p:spPr>
          <a:xfrm rot="0">
            <a:off x="2410749" y="7001659"/>
            <a:ext cx="6733251" cy="1866900"/>
          </a:xfrm>
          <a:prstGeom prst="rect">
            <a:avLst/>
          </a:prstGeom>
        </p:spPr>
        <p:txBody>
          <a:bodyPr anchor="t" rtlCol="false" tIns="0" lIns="0" bIns="0" rIns="0">
            <a:spAutoFit/>
          </a:bodyPr>
          <a:lstStyle/>
          <a:p>
            <a:pPr algn="l" marL="388620" indent="-194310" lvl="1">
              <a:lnSpc>
                <a:spcPts val="2160"/>
              </a:lnSpc>
              <a:buFont typeface="Arial"/>
              <a:buChar char="•"/>
            </a:pPr>
            <a:r>
              <a:rPr lang="en-US" sz="1800">
                <a:solidFill>
                  <a:srgbClr val="FFFFFF"/>
                </a:solidFill>
                <a:latin typeface="Aptos"/>
                <a:ea typeface="Aptos"/>
                <a:cs typeface="Aptos"/>
                <a:sym typeface="Aptos"/>
              </a:rPr>
              <a:t>Programming Language:* Python</a:t>
            </a:r>
          </a:p>
          <a:p>
            <a:pPr algn="l" marL="388620" indent="-194310" lvl="1">
              <a:lnSpc>
                <a:spcPts val="2160"/>
              </a:lnSpc>
              <a:buFont typeface="Arial"/>
              <a:buChar char="•"/>
            </a:pPr>
            <a:r>
              <a:rPr lang="en-US" sz="1800">
                <a:solidFill>
                  <a:srgbClr val="FFFFFF"/>
                </a:solidFill>
                <a:latin typeface="Aptos"/>
                <a:ea typeface="Aptos"/>
                <a:cs typeface="Aptos"/>
                <a:sym typeface="Aptos"/>
              </a:rPr>
              <a:t>Data Processing:* Pandas, NumPy</a:t>
            </a:r>
          </a:p>
          <a:p>
            <a:pPr algn="l" marL="388620" indent="-194310" lvl="1">
              <a:lnSpc>
                <a:spcPts val="2160"/>
              </a:lnSpc>
              <a:buFont typeface="Arial"/>
              <a:buChar char="•"/>
            </a:pPr>
            <a:r>
              <a:rPr lang="en-US" sz="1800">
                <a:solidFill>
                  <a:srgbClr val="FFFFFF"/>
                </a:solidFill>
                <a:latin typeface="Aptos"/>
                <a:ea typeface="Aptos"/>
                <a:cs typeface="Aptos"/>
                <a:sym typeface="Aptos"/>
              </a:rPr>
              <a:t>Visualization:* Matplotlib, Seaborn</a:t>
            </a:r>
          </a:p>
          <a:p>
            <a:pPr algn="l" marL="388620" indent="-194310" lvl="1">
              <a:lnSpc>
                <a:spcPts val="2160"/>
              </a:lnSpc>
              <a:buFont typeface="Arial"/>
              <a:buChar char="•"/>
            </a:pPr>
            <a:r>
              <a:rPr lang="en-US" sz="1800">
                <a:solidFill>
                  <a:srgbClr val="FFFFFF"/>
                </a:solidFill>
                <a:latin typeface="Aptos"/>
                <a:ea typeface="Aptos"/>
                <a:cs typeface="Aptos"/>
                <a:sym typeface="Aptos"/>
              </a:rPr>
              <a:t>Development</a:t>
            </a:r>
            <a:r>
              <a:rPr lang="en-US" sz="1800">
                <a:solidFill>
                  <a:srgbClr val="FFFFFF"/>
                </a:solidFill>
                <a:latin typeface="Aptos"/>
                <a:ea typeface="Aptos"/>
                <a:cs typeface="Aptos"/>
                <a:sym typeface="Aptos"/>
              </a:rPr>
              <a:t> Environment:* Google Colab</a:t>
            </a:r>
          </a:p>
          <a:p>
            <a:pPr algn="l" marL="388620" indent="-194310" lvl="1">
              <a:lnSpc>
                <a:spcPts val="2160"/>
              </a:lnSpc>
              <a:buFont typeface="Arial"/>
              <a:buChar char="•"/>
            </a:pPr>
            <a:r>
              <a:rPr lang="en-US" sz="1800">
                <a:solidFill>
                  <a:srgbClr val="FFFFFF"/>
                </a:solidFill>
                <a:latin typeface="Aptos"/>
                <a:ea typeface="Aptos"/>
                <a:cs typeface="Aptos"/>
                <a:sym typeface="Aptos"/>
              </a:rPr>
              <a:t>Business Intelligence:* Power BI</a:t>
            </a:r>
          </a:p>
          <a:p>
            <a:pPr algn="l" marL="388620" indent="-194310" lvl="1">
              <a:lnSpc>
                <a:spcPts val="2160"/>
              </a:lnSpc>
              <a:buFont typeface="Arial"/>
              <a:buChar char="•"/>
            </a:pPr>
            <a:r>
              <a:rPr lang="en-US" sz="1800">
                <a:solidFill>
                  <a:srgbClr val="FFFFFF"/>
                </a:solidFill>
                <a:latin typeface="Aptos"/>
                <a:ea typeface="Aptos"/>
                <a:cs typeface="Aptos"/>
                <a:sym typeface="Aptos"/>
              </a:rPr>
              <a:t>Web Application:* Streamlit</a:t>
            </a:r>
          </a:p>
          <a:p>
            <a:pPr algn="l" marL="388620" indent="-194310" lvl="1">
              <a:lnSpc>
                <a:spcPts val="2160"/>
              </a:lnSpc>
              <a:buFont typeface="Arial"/>
              <a:buChar char="•"/>
            </a:pPr>
            <a:r>
              <a:rPr lang="en-US" sz="1800">
                <a:solidFill>
                  <a:srgbClr val="FFFFFF"/>
                </a:solidFill>
                <a:latin typeface="Aptos"/>
                <a:ea typeface="Aptos"/>
                <a:cs typeface="Aptos"/>
                <a:sym typeface="Aptos"/>
              </a:rPr>
              <a:t>Version Control:* Git &amp; GitHub</a:t>
            </a:r>
          </a:p>
        </p:txBody>
      </p:sp>
      <p:sp>
        <p:nvSpPr>
          <p:cNvPr name="TextBox 27" id="27"/>
          <p:cNvSpPr txBox="true"/>
          <p:nvPr/>
        </p:nvSpPr>
        <p:spPr>
          <a:xfrm rot="0">
            <a:off x="9810010" y="6597190"/>
            <a:ext cx="7071014" cy="2571750"/>
          </a:xfrm>
          <a:prstGeom prst="rect">
            <a:avLst/>
          </a:prstGeom>
        </p:spPr>
        <p:txBody>
          <a:bodyPr anchor="t" rtlCol="false" tIns="0" lIns="0" bIns="0" rIns="0">
            <a:spAutoFit/>
          </a:bodyPr>
          <a:lstStyle/>
          <a:p>
            <a:pPr algn="l" marL="404816" indent="-202408" lvl="1">
              <a:lnSpc>
                <a:spcPts val="2250"/>
              </a:lnSpc>
              <a:buFont typeface="Arial"/>
              <a:buChar char="•"/>
            </a:pPr>
            <a:r>
              <a:rPr lang="en-US" sz="1875">
                <a:solidFill>
                  <a:srgbClr val="FFFFFF"/>
                </a:solidFill>
                <a:latin typeface="Aptos"/>
                <a:ea typeface="Aptos"/>
                <a:cs typeface="Aptos"/>
                <a:sym typeface="Aptos"/>
              </a:rPr>
              <a:t>Increase understanding of global climate change patterns and their impacts.</a:t>
            </a:r>
          </a:p>
          <a:p>
            <a:pPr algn="l" marL="404816" indent="-202408" lvl="1">
              <a:lnSpc>
                <a:spcPts val="2250"/>
              </a:lnSpc>
              <a:buFont typeface="Arial"/>
              <a:buChar char="•"/>
            </a:pPr>
            <a:r>
              <a:rPr lang="en-US" sz="1875">
                <a:solidFill>
                  <a:srgbClr val="FFFFFF"/>
                </a:solidFill>
                <a:latin typeface="Aptos"/>
                <a:ea typeface="Aptos"/>
                <a:cs typeface="Aptos"/>
                <a:sym typeface="Aptos"/>
              </a:rPr>
              <a:t>Provide evidence-based insights for environmental awareness and decision-making.</a:t>
            </a:r>
          </a:p>
          <a:p>
            <a:pPr algn="l" marL="404816" indent="-202408" lvl="1">
              <a:lnSpc>
                <a:spcPts val="2250"/>
              </a:lnSpc>
              <a:buFont typeface="Arial"/>
              <a:buChar char="•"/>
            </a:pPr>
            <a:r>
              <a:rPr lang="en-US" sz="1875">
                <a:solidFill>
                  <a:srgbClr val="FFFFFF"/>
                </a:solidFill>
                <a:latin typeface="Aptos"/>
                <a:ea typeface="Aptos"/>
                <a:cs typeface="Aptos"/>
                <a:sym typeface="Aptos"/>
              </a:rPr>
              <a:t>Identify trends in emissions, water scarcity, and disaster risks.</a:t>
            </a:r>
          </a:p>
          <a:p>
            <a:pPr algn="l" marL="404816" indent="-202408" lvl="1">
              <a:lnSpc>
                <a:spcPts val="2250"/>
              </a:lnSpc>
              <a:buFont typeface="Arial"/>
              <a:buChar char="•"/>
            </a:pPr>
            <a:r>
              <a:rPr lang="en-US" sz="1875">
                <a:solidFill>
                  <a:srgbClr val="FFFFFF"/>
                </a:solidFill>
                <a:latin typeface="Aptos"/>
                <a:ea typeface="Aptos"/>
                <a:cs typeface="Aptos"/>
                <a:sym typeface="Aptos"/>
              </a:rPr>
              <a:t>Dem</a:t>
            </a:r>
            <a:r>
              <a:rPr lang="en-US" sz="1875">
                <a:solidFill>
                  <a:srgbClr val="FFFFFF"/>
                </a:solidFill>
                <a:latin typeface="Aptos"/>
                <a:ea typeface="Aptos"/>
                <a:cs typeface="Aptos"/>
                <a:sym typeface="Aptos"/>
              </a:rPr>
              <a:t>onstrate the relationships between environmental changes and agricultural sustainability.</a:t>
            </a:r>
          </a:p>
          <a:p>
            <a:pPr algn="l" marL="404816" indent="-202408" lvl="1">
              <a:lnSpc>
                <a:spcPts val="2250"/>
              </a:lnSpc>
              <a:buFont typeface="Arial"/>
              <a:buChar char="•"/>
            </a:pPr>
            <a:r>
              <a:rPr lang="en-US" sz="1875">
                <a:solidFill>
                  <a:srgbClr val="FFFFFF"/>
                </a:solidFill>
                <a:latin typeface="Aptos"/>
                <a:ea typeface="Aptos"/>
                <a:cs typeface="Aptos"/>
                <a:sym typeface="Aptos"/>
              </a:rPr>
              <a:t>Deliver an accessible, interactive platform for exploring climate data and supporting future sustainability initiatives.</a:t>
            </a:r>
          </a:p>
        </p:txBody>
      </p:sp>
      <p:grpSp>
        <p:nvGrpSpPr>
          <p:cNvPr name="Group 28" id="28"/>
          <p:cNvGrpSpPr/>
          <p:nvPr/>
        </p:nvGrpSpPr>
        <p:grpSpPr>
          <a:xfrm rot="0">
            <a:off x="1071562" y="628650"/>
            <a:ext cx="1148274" cy="1103376"/>
            <a:chOff x="0" y="0"/>
            <a:chExt cx="1238250" cy="1189834"/>
          </a:xfrm>
        </p:grpSpPr>
        <p:sp>
          <p:nvSpPr>
            <p:cNvPr name="Freeform 29" id="29"/>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10"/>
              <a:stretch>
                <a:fillRect l="0" t="-2034" r="0" b="-2034"/>
              </a:stretch>
            </a:blipFill>
          </p:spPr>
        </p:sp>
      </p:grpSp>
      <p:sp>
        <p:nvSpPr>
          <p:cNvPr name="TextBox 30" id="30"/>
          <p:cNvSpPr txBox="true"/>
          <p:nvPr/>
        </p:nvSpPr>
        <p:spPr>
          <a:xfrm rot="0">
            <a:off x="2143125" y="3038475"/>
            <a:ext cx="4320178" cy="400050"/>
          </a:xfrm>
          <a:prstGeom prst="rect">
            <a:avLst/>
          </a:prstGeom>
        </p:spPr>
        <p:txBody>
          <a:bodyPr anchor="t" rtlCol="false" tIns="0" lIns="0" bIns="0" rIns="0">
            <a:spAutoFit/>
          </a:bodyPr>
          <a:lstStyle/>
          <a:p>
            <a:pPr algn="l">
              <a:lnSpc>
                <a:spcPts val="2970"/>
              </a:lnSpc>
            </a:pPr>
            <a:r>
              <a:rPr lang="en-US" sz="2475" b="true">
                <a:solidFill>
                  <a:srgbClr val="FFFFFF"/>
                </a:solidFill>
                <a:latin typeface="Poppins Bold"/>
                <a:ea typeface="Poppins Bold"/>
                <a:cs typeface="Poppins Bold"/>
                <a:sym typeface="Poppins Bold"/>
              </a:rPr>
              <a:t>Main Sol</a:t>
            </a:r>
            <a:r>
              <a:rPr lang="en-US" sz="2475" b="true">
                <a:solidFill>
                  <a:srgbClr val="FFFFFF"/>
                </a:solidFill>
                <a:latin typeface="Poppins Bold"/>
                <a:ea typeface="Poppins Bold"/>
                <a:cs typeface="Poppins Bold"/>
                <a:sym typeface="Poppins Bold"/>
              </a:rPr>
              <a:t>ution</a:t>
            </a:r>
          </a:p>
        </p:txBody>
      </p:sp>
      <p:sp>
        <p:nvSpPr>
          <p:cNvPr name="TextBox 31" id="31"/>
          <p:cNvSpPr txBox="true"/>
          <p:nvPr/>
        </p:nvSpPr>
        <p:spPr>
          <a:xfrm rot="0">
            <a:off x="9678022" y="6197140"/>
            <a:ext cx="4320178" cy="400050"/>
          </a:xfrm>
          <a:prstGeom prst="rect">
            <a:avLst/>
          </a:prstGeom>
        </p:spPr>
        <p:txBody>
          <a:bodyPr anchor="t" rtlCol="false" tIns="0" lIns="0" bIns="0" rIns="0">
            <a:spAutoFit/>
          </a:bodyPr>
          <a:lstStyle/>
          <a:p>
            <a:pPr algn="l">
              <a:lnSpc>
                <a:spcPts val="2970"/>
              </a:lnSpc>
            </a:pPr>
            <a:r>
              <a:rPr lang="en-US" sz="2475" b="true">
                <a:solidFill>
                  <a:srgbClr val="FFFFFF"/>
                </a:solidFill>
                <a:latin typeface="Poppins Bold"/>
                <a:ea typeface="Poppins Bold"/>
                <a:cs typeface="Poppins Bold"/>
                <a:sym typeface="Poppins Bold"/>
              </a:rPr>
              <a:t>Expected Outcomes</a:t>
            </a:r>
          </a:p>
        </p:txBody>
      </p:sp>
      <p:sp>
        <p:nvSpPr>
          <p:cNvPr name="TextBox 32" id="32"/>
          <p:cNvSpPr txBox="true"/>
          <p:nvPr/>
        </p:nvSpPr>
        <p:spPr>
          <a:xfrm rot="0">
            <a:off x="9643815" y="2830296"/>
            <a:ext cx="6123487" cy="771525"/>
          </a:xfrm>
          <a:prstGeom prst="rect">
            <a:avLst/>
          </a:prstGeom>
        </p:spPr>
        <p:txBody>
          <a:bodyPr anchor="t" rtlCol="false" tIns="0" lIns="0" bIns="0" rIns="0">
            <a:spAutoFit/>
          </a:bodyPr>
          <a:lstStyle/>
          <a:p>
            <a:pPr algn="just">
              <a:lnSpc>
                <a:spcPts val="2970"/>
              </a:lnSpc>
            </a:pPr>
            <a:r>
              <a:rPr lang="en-US" b="true" sz="2475">
                <a:solidFill>
                  <a:srgbClr val="FFFFFF"/>
                </a:solidFill>
                <a:latin typeface="Poppins Bold"/>
                <a:ea typeface="Poppins Bold"/>
                <a:cs typeface="Poppins Bold"/>
                <a:sym typeface="Poppins Bold"/>
              </a:rPr>
              <a:t>Advantages &amp; Uniq</a:t>
            </a:r>
            <a:r>
              <a:rPr lang="en-US" b="true" sz="2475">
                <a:solidFill>
                  <a:srgbClr val="FFFFFF"/>
                </a:solidFill>
                <a:latin typeface="Poppins Bold"/>
                <a:ea typeface="Poppins Bold"/>
                <a:cs typeface="Poppins Bold"/>
                <a:sym typeface="Poppins Bold"/>
              </a:rPr>
              <a:t>ue Points</a:t>
            </a:r>
          </a:p>
          <a:p>
            <a:pPr algn="just">
              <a:lnSpc>
                <a:spcPts val="2970"/>
              </a:lnSpc>
            </a:pPr>
          </a:p>
        </p:txBody>
      </p:sp>
      <p:sp>
        <p:nvSpPr>
          <p:cNvPr name="TextBox 33" id="33"/>
          <p:cNvSpPr txBox="true"/>
          <p:nvPr/>
        </p:nvSpPr>
        <p:spPr>
          <a:xfrm rot="0">
            <a:off x="2143125" y="6434922"/>
            <a:ext cx="4320178" cy="400050"/>
          </a:xfrm>
          <a:prstGeom prst="rect">
            <a:avLst/>
          </a:prstGeom>
        </p:spPr>
        <p:txBody>
          <a:bodyPr anchor="t" rtlCol="false" tIns="0" lIns="0" bIns="0" rIns="0">
            <a:spAutoFit/>
          </a:bodyPr>
          <a:lstStyle/>
          <a:p>
            <a:pPr algn="l">
              <a:lnSpc>
                <a:spcPts val="2970"/>
              </a:lnSpc>
            </a:pPr>
            <a:r>
              <a:rPr lang="en-US" sz="2475" b="true">
                <a:solidFill>
                  <a:srgbClr val="FFFFFF"/>
                </a:solidFill>
                <a:latin typeface="Poppins Bold"/>
                <a:ea typeface="Poppins Bold"/>
                <a:cs typeface="Poppins Bold"/>
                <a:sym typeface="Poppins Bold"/>
              </a:rPr>
              <a:t>Tools &amp; Technology St</a:t>
            </a:r>
            <a:r>
              <a:rPr lang="en-US" sz="2475" b="true">
                <a:solidFill>
                  <a:srgbClr val="FFFFFF"/>
                </a:solidFill>
                <a:latin typeface="Poppins Bold"/>
                <a:ea typeface="Poppins Bold"/>
                <a:cs typeface="Poppins Bold"/>
                <a:sym typeface="Poppins Bold"/>
              </a:rPr>
              <a:t>ack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4063451"/>
            <a:ext cx="3086100" cy="3860082"/>
            <a:chOff x="0" y="0"/>
            <a:chExt cx="4114800" cy="5146777"/>
          </a:xfrm>
        </p:grpSpPr>
        <p:sp>
          <p:nvSpPr>
            <p:cNvPr name="Freeform 9" id="9" descr="image.png"/>
            <p:cNvSpPr/>
            <p:nvPr/>
          </p:nvSpPr>
          <p:spPr>
            <a:xfrm flipH="false" flipV="false" rot="0">
              <a:off x="0" y="0"/>
              <a:ext cx="4114800" cy="5146802"/>
            </a:xfrm>
            <a:custGeom>
              <a:avLst/>
              <a:gdLst/>
              <a:ahLst/>
              <a:cxnLst/>
              <a:rect r="r" b="b" t="t" l="l"/>
              <a:pathLst>
                <a:path h="5146802" w="4114800">
                  <a:moveTo>
                    <a:pt x="0" y="0"/>
                  </a:moveTo>
                  <a:lnTo>
                    <a:pt x="4114800" y="0"/>
                  </a:lnTo>
                  <a:lnTo>
                    <a:pt x="4114800" y="5146802"/>
                  </a:lnTo>
                  <a:lnTo>
                    <a:pt x="0" y="5146802"/>
                  </a:lnTo>
                  <a:lnTo>
                    <a:pt x="0" y="0"/>
                  </a:lnTo>
                  <a:close/>
                </a:path>
              </a:pathLst>
            </a:custGeom>
            <a:blipFill>
              <a:blip r:embed="rId4"/>
              <a:stretch>
                <a:fillRect l="0" t="0" r="0" b="-305"/>
              </a:stretch>
            </a:blipFill>
          </p:spPr>
        </p:sp>
      </p:grpSp>
      <p:grpSp>
        <p:nvGrpSpPr>
          <p:cNvPr name="Group 10" id="10"/>
          <p:cNvGrpSpPr/>
          <p:nvPr/>
        </p:nvGrpSpPr>
        <p:grpSpPr>
          <a:xfrm rot="0">
            <a:off x="4157662" y="4063451"/>
            <a:ext cx="3086100" cy="3860082"/>
            <a:chOff x="0" y="0"/>
            <a:chExt cx="4114800" cy="5146777"/>
          </a:xfrm>
        </p:grpSpPr>
        <p:sp>
          <p:nvSpPr>
            <p:cNvPr name="Freeform 11" id="11" descr="image.png"/>
            <p:cNvSpPr/>
            <p:nvPr/>
          </p:nvSpPr>
          <p:spPr>
            <a:xfrm flipH="false" flipV="false" rot="0">
              <a:off x="0" y="0"/>
              <a:ext cx="4114800" cy="5146802"/>
            </a:xfrm>
            <a:custGeom>
              <a:avLst/>
              <a:gdLst/>
              <a:ahLst/>
              <a:cxnLst/>
              <a:rect r="r" b="b" t="t" l="l"/>
              <a:pathLst>
                <a:path h="5146802" w="4114800">
                  <a:moveTo>
                    <a:pt x="0" y="0"/>
                  </a:moveTo>
                  <a:lnTo>
                    <a:pt x="4114800" y="0"/>
                  </a:lnTo>
                  <a:lnTo>
                    <a:pt x="4114800" y="5146802"/>
                  </a:lnTo>
                  <a:lnTo>
                    <a:pt x="0" y="5146802"/>
                  </a:lnTo>
                  <a:lnTo>
                    <a:pt x="0" y="0"/>
                  </a:lnTo>
                  <a:close/>
                </a:path>
              </a:pathLst>
            </a:custGeom>
            <a:blipFill>
              <a:blip r:embed="rId5"/>
              <a:stretch>
                <a:fillRect l="0" t="0" r="0" b="-305"/>
              </a:stretch>
            </a:blipFill>
          </p:spPr>
        </p:sp>
      </p:grpSp>
      <p:grpSp>
        <p:nvGrpSpPr>
          <p:cNvPr name="Group 12" id="12"/>
          <p:cNvGrpSpPr/>
          <p:nvPr/>
        </p:nvGrpSpPr>
        <p:grpSpPr>
          <a:xfrm rot="0">
            <a:off x="7600950" y="4063451"/>
            <a:ext cx="3086100" cy="3860082"/>
            <a:chOff x="0" y="0"/>
            <a:chExt cx="4114800" cy="5146777"/>
          </a:xfrm>
        </p:grpSpPr>
        <p:sp>
          <p:nvSpPr>
            <p:cNvPr name="Freeform 13" id="13" descr="image.png"/>
            <p:cNvSpPr/>
            <p:nvPr/>
          </p:nvSpPr>
          <p:spPr>
            <a:xfrm flipH="false" flipV="false" rot="0">
              <a:off x="0" y="0"/>
              <a:ext cx="4114800" cy="5146802"/>
            </a:xfrm>
            <a:custGeom>
              <a:avLst/>
              <a:gdLst/>
              <a:ahLst/>
              <a:cxnLst/>
              <a:rect r="r" b="b" t="t" l="l"/>
              <a:pathLst>
                <a:path h="5146802" w="4114800">
                  <a:moveTo>
                    <a:pt x="0" y="0"/>
                  </a:moveTo>
                  <a:lnTo>
                    <a:pt x="4114800" y="0"/>
                  </a:lnTo>
                  <a:lnTo>
                    <a:pt x="4114800" y="5146802"/>
                  </a:lnTo>
                  <a:lnTo>
                    <a:pt x="0" y="5146802"/>
                  </a:lnTo>
                  <a:lnTo>
                    <a:pt x="0" y="0"/>
                  </a:lnTo>
                  <a:close/>
                </a:path>
              </a:pathLst>
            </a:custGeom>
            <a:blipFill>
              <a:blip r:embed="rId6"/>
              <a:stretch>
                <a:fillRect l="0" t="0" r="0" b="-305"/>
              </a:stretch>
            </a:blipFill>
          </p:spPr>
        </p:sp>
      </p:grpSp>
      <p:grpSp>
        <p:nvGrpSpPr>
          <p:cNvPr name="Group 14" id="14"/>
          <p:cNvGrpSpPr/>
          <p:nvPr/>
        </p:nvGrpSpPr>
        <p:grpSpPr>
          <a:xfrm rot="0">
            <a:off x="11044238" y="4063451"/>
            <a:ext cx="3086100" cy="3860082"/>
            <a:chOff x="0" y="0"/>
            <a:chExt cx="4114800" cy="5146777"/>
          </a:xfrm>
        </p:grpSpPr>
        <p:sp>
          <p:nvSpPr>
            <p:cNvPr name="Freeform 15" id="15" descr="image.png"/>
            <p:cNvSpPr/>
            <p:nvPr/>
          </p:nvSpPr>
          <p:spPr>
            <a:xfrm flipH="false" flipV="false" rot="0">
              <a:off x="0" y="0"/>
              <a:ext cx="4114800" cy="5146802"/>
            </a:xfrm>
            <a:custGeom>
              <a:avLst/>
              <a:gdLst/>
              <a:ahLst/>
              <a:cxnLst/>
              <a:rect r="r" b="b" t="t" l="l"/>
              <a:pathLst>
                <a:path h="5146802" w="4114800">
                  <a:moveTo>
                    <a:pt x="0" y="0"/>
                  </a:moveTo>
                  <a:lnTo>
                    <a:pt x="4114800" y="0"/>
                  </a:lnTo>
                  <a:lnTo>
                    <a:pt x="4114800" y="5146802"/>
                  </a:lnTo>
                  <a:lnTo>
                    <a:pt x="0" y="5146802"/>
                  </a:lnTo>
                  <a:lnTo>
                    <a:pt x="0" y="0"/>
                  </a:lnTo>
                  <a:close/>
                </a:path>
              </a:pathLst>
            </a:custGeom>
            <a:blipFill>
              <a:blip r:embed="rId7"/>
              <a:stretch>
                <a:fillRect l="0" t="0" r="0" b="-305"/>
              </a:stretch>
            </a:blipFill>
          </p:spPr>
        </p:sp>
      </p:grpSp>
      <p:grpSp>
        <p:nvGrpSpPr>
          <p:cNvPr name="Group 16" id="16"/>
          <p:cNvGrpSpPr/>
          <p:nvPr/>
        </p:nvGrpSpPr>
        <p:grpSpPr>
          <a:xfrm rot="0">
            <a:off x="14487525" y="4063451"/>
            <a:ext cx="3086100" cy="3860082"/>
            <a:chOff x="0" y="0"/>
            <a:chExt cx="4114800" cy="5146777"/>
          </a:xfrm>
        </p:grpSpPr>
        <p:sp>
          <p:nvSpPr>
            <p:cNvPr name="Freeform 17" id="17" descr="image.png"/>
            <p:cNvSpPr/>
            <p:nvPr/>
          </p:nvSpPr>
          <p:spPr>
            <a:xfrm flipH="false" flipV="false" rot="0">
              <a:off x="0" y="0"/>
              <a:ext cx="4114800" cy="5146802"/>
            </a:xfrm>
            <a:custGeom>
              <a:avLst/>
              <a:gdLst/>
              <a:ahLst/>
              <a:cxnLst/>
              <a:rect r="r" b="b" t="t" l="l"/>
              <a:pathLst>
                <a:path h="5146802" w="4114800">
                  <a:moveTo>
                    <a:pt x="0" y="0"/>
                  </a:moveTo>
                  <a:lnTo>
                    <a:pt x="4114800" y="0"/>
                  </a:lnTo>
                  <a:lnTo>
                    <a:pt x="4114800" y="5146802"/>
                  </a:lnTo>
                  <a:lnTo>
                    <a:pt x="0" y="5146802"/>
                  </a:lnTo>
                  <a:lnTo>
                    <a:pt x="0" y="0"/>
                  </a:lnTo>
                  <a:close/>
                </a:path>
              </a:pathLst>
            </a:custGeom>
            <a:blipFill>
              <a:blip r:embed="rId8"/>
              <a:stretch>
                <a:fillRect l="0" t="0" r="0" b="-305"/>
              </a:stretch>
            </a:blipFill>
          </p:spPr>
        </p:sp>
      </p:grpSp>
      <p:grpSp>
        <p:nvGrpSpPr>
          <p:cNvPr name="Group 18" id="18"/>
          <p:cNvGrpSpPr/>
          <p:nvPr/>
        </p:nvGrpSpPr>
        <p:grpSpPr>
          <a:xfrm rot="0">
            <a:off x="714375" y="628650"/>
            <a:ext cx="16859250" cy="1285875"/>
            <a:chOff x="0" y="0"/>
            <a:chExt cx="22479000" cy="1714500"/>
          </a:xfrm>
        </p:grpSpPr>
        <p:sp>
          <p:nvSpPr>
            <p:cNvPr name="Freeform 19" id="19"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9"/>
              <a:stretch>
                <a:fillRect l="0" t="0" r="0" b="0"/>
              </a:stretch>
            </a:blipFill>
          </p:spPr>
        </p:sp>
      </p:grpSp>
      <p:grpSp>
        <p:nvGrpSpPr>
          <p:cNvPr name="Group 20" id="20"/>
          <p:cNvGrpSpPr/>
          <p:nvPr/>
        </p:nvGrpSpPr>
        <p:grpSpPr>
          <a:xfrm rot="0">
            <a:off x="0" y="0"/>
            <a:ext cx="18288000" cy="57150"/>
            <a:chOff x="0" y="0"/>
            <a:chExt cx="24384000" cy="76200"/>
          </a:xfrm>
        </p:grpSpPr>
        <p:sp>
          <p:nvSpPr>
            <p:cNvPr name="Freeform 21" id="21"/>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22" id="22"/>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Project Roadmap</a:t>
            </a:r>
          </a:p>
        </p:txBody>
      </p:sp>
      <p:sp>
        <p:nvSpPr>
          <p:cNvPr name="TextBox 23" id="23"/>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Strategic Implementation Phases</a:t>
            </a:r>
          </a:p>
        </p:txBody>
      </p:sp>
      <p:grpSp>
        <p:nvGrpSpPr>
          <p:cNvPr name="Group 24" id="24"/>
          <p:cNvGrpSpPr/>
          <p:nvPr/>
        </p:nvGrpSpPr>
        <p:grpSpPr>
          <a:xfrm rot="0">
            <a:off x="16216312" y="802110"/>
            <a:ext cx="928688" cy="924449"/>
            <a:chOff x="0" y="0"/>
            <a:chExt cx="1238250" cy="1232598"/>
          </a:xfrm>
        </p:grpSpPr>
        <p:sp>
          <p:nvSpPr>
            <p:cNvPr name="Freeform 25" id="25"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10"/>
              <a:stretch>
                <a:fillRect l="0" t="0" r="0" b="-2009"/>
              </a:stretch>
            </a:blipFill>
          </p:spPr>
        </p:sp>
      </p:grpSp>
      <p:sp>
        <p:nvSpPr>
          <p:cNvPr name="TextBox 26" id="26"/>
          <p:cNvSpPr txBox="true"/>
          <p:nvPr/>
        </p:nvSpPr>
        <p:spPr>
          <a:xfrm rot="0">
            <a:off x="1117282" y="5487438"/>
            <a:ext cx="2280285" cy="847725"/>
          </a:xfrm>
          <a:prstGeom prst="rect">
            <a:avLst/>
          </a:prstGeom>
        </p:spPr>
        <p:txBody>
          <a:bodyPr anchor="t" rtlCol="false" tIns="0" lIns="0" bIns="0" rIns="0">
            <a:spAutoFit/>
          </a:bodyPr>
          <a:lstStyle/>
          <a:p>
            <a:pPr algn="ctr">
              <a:lnSpc>
                <a:spcPts val="2527"/>
              </a:lnSpc>
            </a:pPr>
            <a:r>
              <a:rPr lang="en-US" b="true" sz="2106">
                <a:solidFill>
                  <a:srgbClr val="364149"/>
                </a:solidFill>
                <a:latin typeface="Poppins Bold"/>
                <a:ea typeface="Poppins Bold"/>
                <a:cs typeface="Poppins Bold"/>
                <a:sym typeface="Poppins Bold"/>
              </a:rPr>
              <a:t>01. Data Cleaning</a:t>
            </a:r>
          </a:p>
        </p:txBody>
      </p:sp>
      <p:sp>
        <p:nvSpPr>
          <p:cNvPr name="TextBox 27" id="27"/>
          <p:cNvSpPr txBox="true"/>
          <p:nvPr/>
        </p:nvSpPr>
        <p:spPr>
          <a:xfrm rot="0">
            <a:off x="1171575" y="6220863"/>
            <a:ext cx="2171700" cy="1113512"/>
          </a:xfrm>
          <a:prstGeom prst="rect">
            <a:avLst/>
          </a:prstGeom>
        </p:spPr>
        <p:txBody>
          <a:bodyPr anchor="t" rtlCol="false" tIns="0" lIns="0" bIns="0" rIns="0">
            <a:spAutoFit/>
          </a:bodyPr>
          <a:lstStyle/>
          <a:p>
            <a:pPr algn="ctr">
              <a:lnSpc>
                <a:spcPts val="3022"/>
              </a:lnSpc>
            </a:pPr>
            <a:r>
              <a:rPr lang="en-US" sz="1575">
                <a:solidFill>
                  <a:srgbClr val="364149"/>
                </a:solidFill>
                <a:latin typeface="Aptos"/>
                <a:ea typeface="Aptos"/>
                <a:cs typeface="Aptos"/>
                <a:sym typeface="Aptos"/>
              </a:rPr>
              <a:t>Python preprocessing, NaN handling, data normalization steps.</a:t>
            </a:r>
          </a:p>
        </p:txBody>
      </p:sp>
      <p:sp>
        <p:nvSpPr>
          <p:cNvPr name="TextBox 28" id="28"/>
          <p:cNvSpPr txBox="true"/>
          <p:nvPr/>
        </p:nvSpPr>
        <p:spPr>
          <a:xfrm rot="0">
            <a:off x="4560570" y="5487438"/>
            <a:ext cx="2280285" cy="433388"/>
          </a:xfrm>
          <a:prstGeom prst="rect">
            <a:avLst/>
          </a:prstGeom>
        </p:spPr>
        <p:txBody>
          <a:bodyPr anchor="t" rtlCol="false" tIns="0" lIns="0" bIns="0" rIns="0">
            <a:spAutoFit/>
          </a:bodyPr>
          <a:lstStyle/>
          <a:p>
            <a:pPr algn="ctr">
              <a:lnSpc>
                <a:spcPts val="2527"/>
              </a:lnSpc>
            </a:pPr>
            <a:r>
              <a:rPr lang="en-US" b="true" sz="2106">
                <a:solidFill>
                  <a:srgbClr val="364149"/>
                </a:solidFill>
                <a:latin typeface="Poppins Bold"/>
                <a:ea typeface="Poppins Bold"/>
                <a:cs typeface="Poppins Bold"/>
                <a:sym typeface="Poppins Bold"/>
              </a:rPr>
              <a:t>02. ML Training</a:t>
            </a:r>
          </a:p>
        </p:txBody>
      </p:sp>
      <p:sp>
        <p:nvSpPr>
          <p:cNvPr name="TextBox 29" id="29"/>
          <p:cNvSpPr txBox="true"/>
          <p:nvPr/>
        </p:nvSpPr>
        <p:spPr>
          <a:xfrm rot="0">
            <a:off x="4614862" y="5806526"/>
            <a:ext cx="2171700" cy="1113512"/>
          </a:xfrm>
          <a:prstGeom prst="rect">
            <a:avLst/>
          </a:prstGeom>
        </p:spPr>
        <p:txBody>
          <a:bodyPr anchor="t" rtlCol="false" tIns="0" lIns="0" bIns="0" rIns="0">
            <a:spAutoFit/>
          </a:bodyPr>
          <a:lstStyle/>
          <a:p>
            <a:pPr algn="ctr">
              <a:lnSpc>
                <a:spcPts val="3022"/>
              </a:lnSpc>
            </a:pPr>
            <a:r>
              <a:rPr lang="en-US" sz="1575">
                <a:solidFill>
                  <a:srgbClr val="364149"/>
                </a:solidFill>
                <a:latin typeface="Aptos"/>
                <a:ea typeface="Aptos"/>
                <a:cs typeface="Aptos"/>
                <a:sym typeface="Aptos"/>
              </a:rPr>
              <a:t>Algorithmic training, model testing, accuracy benchmarks.</a:t>
            </a:r>
          </a:p>
        </p:txBody>
      </p:sp>
      <p:sp>
        <p:nvSpPr>
          <p:cNvPr name="TextBox 30" id="30"/>
          <p:cNvSpPr txBox="true"/>
          <p:nvPr/>
        </p:nvSpPr>
        <p:spPr>
          <a:xfrm rot="0">
            <a:off x="8003857" y="5487438"/>
            <a:ext cx="2280285" cy="847725"/>
          </a:xfrm>
          <a:prstGeom prst="rect">
            <a:avLst/>
          </a:prstGeom>
        </p:spPr>
        <p:txBody>
          <a:bodyPr anchor="t" rtlCol="false" tIns="0" lIns="0" bIns="0" rIns="0">
            <a:spAutoFit/>
          </a:bodyPr>
          <a:lstStyle/>
          <a:p>
            <a:pPr algn="ctr">
              <a:lnSpc>
                <a:spcPts val="2527"/>
              </a:lnSpc>
            </a:pPr>
            <a:r>
              <a:rPr lang="en-US" b="true" sz="2106">
                <a:solidFill>
                  <a:srgbClr val="364149"/>
                </a:solidFill>
                <a:latin typeface="Poppins Bold"/>
                <a:ea typeface="Poppins Bold"/>
                <a:cs typeface="Poppins Bold"/>
                <a:sym typeface="Poppins Bold"/>
              </a:rPr>
              <a:t>03. Data Modeling</a:t>
            </a:r>
          </a:p>
        </p:txBody>
      </p:sp>
      <p:sp>
        <p:nvSpPr>
          <p:cNvPr name="TextBox 31" id="31"/>
          <p:cNvSpPr txBox="true"/>
          <p:nvPr/>
        </p:nvSpPr>
        <p:spPr>
          <a:xfrm rot="0">
            <a:off x="8058150" y="6220863"/>
            <a:ext cx="2171700" cy="1113512"/>
          </a:xfrm>
          <a:prstGeom prst="rect">
            <a:avLst/>
          </a:prstGeom>
        </p:spPr>
        <p:txBody>
          <a:bodyPr anchor="t" rtlCol="false" tIns="0" lIns="0" bIns="0" rIns="0">
            <a:spAutoFit/>
          </a:bodyPr>
          <a:lstStyle/>
          <a:p>
            <a:pPr algn="ctr">
              <a:lnSpc>
                <a:spcPts val="3022"/>
              </a:lnSpc>
            </a:pPr>
            <a:r>
              <a:rPr lang="en-US" sz="1575">
                <a:solidFill>
                  <a:srgbClr val="364149"/>
                </a:solidFill>
                <a:latin typeface="Aptos"/>
                <a:ea typeface="Aptos"/>
                <a:cs typeface="Aptos"/>
                <a:sym typeface="Aptos"/>
              </a:rPr>
              <a:t>Fact-dim structure, schemas, scalable relationships.</a:t>
            </a:r>
          </a:p>
        </p:txBody>
      </p:sp>
      <p:sp>
        <p:nvSpPr>
          <p:cNvPr name="TextBox 32" id="32"/>
          <p:cNvSpPr txBox="true"/>
          <p:nvPr/>
        </p:nvSpPr>
        <p:spPr>
          <a:xfrm rot="0">
            <a:off x="11447145" y="5487438"/>
            <a:ext cx="2280285" cy="847725"/>
          </a:xfrm>
          <a:prstGeom prst="rect">
            <a:avLst/>
          </a:prstGeom>
        </p:spPr>
        <p:txBody>
          <a:bodyPr anchor="t" rtlCol="false" tIns="0" lIns="0" bIns="0" rIns="0">
            <a:spAutoFit/>
          </a:bodyPr>
          <a:lstStyle/>
          <a:p>
            <a:pPr algn="ctr">
              <a:lnSpc>
                <a:spcPts val="2527"/>
              </a:lnSpc>
            </a:pPr>
            <a:r>
              <a:rPr lang="en-US" b="true" sz="2106">
                <a:solidFill>
                  <a:srgbClr val="364149"/>
                </a:solidFill>
                <a:latin typeface="Poppins Bold"/>
                <a:ea typeface="Poppins Bold"/>
                <a:cs typeface="Poppins Bold"/>
                <a:sym typeface="Poppins Bold"/>
              </a:rPr>
              <a:t>04. BI Dashboard</a:t>
            </a:r>
          </a:p>
        </p:txBody>
      </p:sp>
      <p:sp>
        <p:nvSpPr>
          <p:cNvPr name="TextBox 33" id="33"/>
          <p:cNvSpPr txBox="true"/>
          <p:nvPr/>
        </p:nvSpPr>
        <p:spPr>
          <a:xfrm rot="0">
            <a:off x="11501438" y="6220863"/>
            <a:ext cx="2171700" cy="1113512"/>
          </a:xfrm>
          <a:prstGeom prst="rect">
            <a:avLst/>
          </a:prstGeom>
        </p:spPr>
        <p:txBody>
          <a:bodyPr anchor="t" rtlCol="false" tIns="0" lIns="0" bIns="0" rIns="0">
            <a:spAutoFit/>
          </a:bodyPr>
          <a:lstStyle/>
          <a:p>
            <a:pPr algn="ctr">
              <a:lnSpc>
                <a:spcPts val="3022"/>
              </a:lnSpc>
            </a:pPr>
            <a:r>
              <a:rPr lang="en-US" sz="1575">
                <a:solidFill>
                  <a:srgbClr val="364149"/>
                </a:solidFill>
                <a:latin typeface="Aptos"/>
                <a:ea typeface="Aptos"/>
                <a:cs typeface="Aptos"/>
                <a:sym typeface="Aptos"/>
              </a:rPr>
              <a:t>Interactive metrics, interface design, data mapping.</a:t>
            </a:r>
          </a:p>
        </p:txBody>
      </p:sp>
      <p:sp>
        <p:nvSpPr>
          <p:cNvPr name="TextBox 34" id="34"/>
          <p:cNvSpPr txBox="true"/>
          <p:nvPr/>
        </p:nvSpPr>
        <p:spPr>
          <a:xfrm rot="0">
            <a:off x="14890432" y="5487438"/>
            <a:ext cx="2280285" cy="847725"/>
          </a:xfrm>
          <a:prstGeom prst="rect">
            <a:avLst/>
          </a:prstGeom>
        </p:spPr>
        <p:txBody>
          <a:bodyPr anchor="t" rtlCol="false" tIns="0" lIns="0" bIns="0" rIns="0">
            <a:spAutoFit/>
          </a:bodyPr>
          <a:lstStyle/>
          <a:p>
            <a:pPr algn="ctr">
              <a:lnSpc>
                <a:spcPts val="2527"/>
              </a:lnSpc>
            </a:pPr>
            <a:r>
              <a:rPr lang="en-US" b="true" sz="2106">
                <a:solidFill>
                  <a:srgbClr val="364149"/>
                </a:solidFill>
                <a:latin typeface="Poppins Bold"/>
                <a:ea typeface="Poppins Bold"/>
                <a:cs typeface="Poppins Bold"/>
                <a:sym typeface="Poppins Bold"/>
              </a:rPr>
              <a:t>05. Core Insights</a:t>
            </a:r>
          </a:p>
        </p:txBody>
      </p:sp>
      <p:sp>
        <p:nvSpPr>
          <p:cNvPr name="TextBox 35" id="35"/>
          <p:cNvSpPr txBox="true"/>
          <p:nvPr/>
        </p:nvSpPr>
        <p:spPr>
          <a:xfrm rot="0">
            <a:off x="14944725" y="6220863"/>
            <a:ext cx="2171700" cy="1113512"/>
          </a:xfrm>
          <a:prstGeom prst="rect">
            <a:avLst/>
          </a:prstGeom>
        </p:spPr>
        <p:txBody>
          <a:bodyPr anchor="t" rtlCol="false" tIns="0" lIns="0" bIns="0" rIns="0">
            <a:spAutoFit/>
          </a:bodyPr>
          <a:lstStyle/>
          <a:p>
            <a:pPr algn="ctr">
              <a:lnSpc>
                <a:spcPts val="3022"/>
              </a:lnSpc>
            </a:pPr>
            <a:r>
              <a:rPr lang="en-US" sz="1575">
                <a:solidFill>
                  <a:srgbClr val="364149"/>
                </a:solidFill>
                <a:latin typeface="Aptos"/>
                <a:ea typeface="Aptos"/>
                <a:cs typeface="Aptos"/>
                <a:sym typeface="Aptos"/>
              </a:rPr>
              <a:t>Executive recommendations, analytical summaries.</a:t>
            </a:r>
          </a:p>
        </p:txBody>
      </p:sp>
      <p:grpSp>
        <p:nvGrpSpPr>
          <p:cNvPr name="Group 36" id="36"/>
          <p:cNvGrpSpPr/>
          <p:nvPr/>
        </p:nvGrpSpPr>
        <p:grpSpPr>
          <a:xfrm rot="0">
            <a:off x="1921669" y="4634951"/>
            <a:ext cx="671512" cy="600075"/>
            <a:chOff x="0" y="0"/>
            <a:chExt cx="895350" cy="800100"/>
          </a:xfrm>
        </p:grpSpPr>
        <p:sp>
          <p:nvSpPr>
            <p:cNvPr name="Freeform 37" id="37" descr="image.png"/>
            <p:cNvSpPr/>
            <p:nvPr/>
          </p:nvSpPr>
          <p:spPr>
            <a:xfrm flipH="false" flipV="false" rot="0">
              <a:off x="0" y="0"/>
              <a:ext cx="895350" cy="800100"/>
            </a:xfrm>
            <a:custGeom>
              <a:avLst/>
              <a:gdLst/>
              <a:ahLst/>
              <a:cxnLst/>
              <a:rect r="r" b="b" t="t" l="l"/>
              <a:pathLst>
                <a:path h="800100" w="895350">
                  <a:moveTo>
                    <a:pt x="0" y="0"/>
                  </a:moveTo>
                  <a:lnTo>
                    <a:pt x="895350" y="0"/>
                  </a:lnTo>
                  <a:lnTo>
                    <a:pt x="895350" y="800100"/>
                  </a:lnTo>
                  <a:lnTo>
                    <a:pt x="0" y="800100"/>
                  </a:lnTo>
                  <a:lnTo>
                    <a:pt x="0" y="0"/>
                  </a:lnTo>
                  <a:close/>
                </a:path>
              </a:pathLst>
            </a:custGeom>
            <a:blipFill>
              <a:blip r:embed="rId11"/>
              <a:stretch>
                <a:fillRect l="0" t="0" r="0" b="-247"/>
              </a:stretch>
            </a:blipFill>
          </p:spPr>
        </p:sp>
      </p:grpSp>
      <p:grpSp>
        <p:nvGrpSpPr>
          <p:cNvPr name="Group 38" id="38"/>
          <p:cNvGrpSpPr/>
          <p:nvPr/>
        </p:nvGrpSpPr>
        <p:grpSpPr>
          <a:xfrm rot="0">
            <a:off x="5400675" y="4634951"/>
            <a:ext cx="600075" cy="600075"/>
            <a:chOff x="0" y="0"/>
            <a:chExt cx="800100" cy="800100"/>
          </a:xfrm>
        </p:grpSpPr>
        <p:sp>
          <p:nvSpPr>
            <p:cNvPr name="Freeform 39" id="39" descr="image.png"/>
            <p:cNvSpPr/>
            <p:nvPr/>
          </p:nvSpPr>
          <p:spPr>
            <a:xfrm flipH="false" flipV="false" rot="0">
              <a:off x="0" y="0"/>
              <a:ext cx="800100" cy="800100"/>
            </a:xfrm>
            <a:custGeom>
              <a:avLst/>
              <a:gdLst/>
              <a:ahLst/>
              <a:cxnLst/>
              <a:rect r="r" b="b" t="t" l="l"/>
              <a:pathLst>
                <a:path h="800100" w="800100">
                  <a:moveTo>
                    <a:pt x="0" y="0"/>
                  </a:moveTo>
                  <a:lnTo>
                    <a:pt x="800100" y="0"/>
                  </a:lnTo>
                  <a:lnTo>
                    <a:pt x="800100" y="800100"/>
                  </a:lnTo>
                  <a:lnTo>
                    <a:pt x="0" y="800100"/>
                  </a:lnTo>
                  <a:lnTo>
                    <a:pt x="0" y="0"/>
                  </a:lnTo>
                  <a:close/>
                </a:path>
              </a:pathLst>
            </a:custGeom>
            <a:blipFill>
              <a:blip r:embed="rId12"/>
              <a:stretch>
                <a:fillRect l="0" t="0" r="0" b="0"/>
              </a:stretch>
            </a:blipFill>
          </p:spPr>
        </p:sp>
      </p:grpSp>
      <p:grpSp>
        <p:nvGrpSpPr>
          <p:cNvPr name="Group 40" id="40"/>
          <p:cNvGrpSpPr/>
          <p:nvPr/>
        </p:nvGrpSpPr>
        <p:grpSpPr>
          <a:xfrm rot="0">
            <a:off x="8879681" y="4634951"/>
            <a:ext cx="528638" cy="600075"/>
            <a:chOff x="0" y="0"/>
            <a:chExt cx="704850" cy="800100"/>
          </a:xfrm>
        </p:grpSpPr>
        <p:sp>
          <p:nvSpPr>
            <p:cNvPr name="Freeform 41" id="41" descr="image.png"/>
            <p:cNvSpPr/>
            <p:nvPr/>
          </p:nvSpPr>
          <p:spPr>
            <a:xfrm flipH="false" flipV="false" rot="0">
              <a:off x="0" y="0"/>
              <a:ext cx="704850" cy="800100"/>
            </a:xfrm>
            <a:custGeom>
              <a:avLst/>
              <a:gdLst/>
              <a:ahLst/>
              <a:cxnLst/>
              <a:rect r="r" b="b" t="t" l="l"/>
              <a:pathLst>
                <a:path h="800100" w="704850">
                  <a:moveTo>
                    <a:pt x="0" y="0"/>
                  </a:moveTo>
                  <a:lnTo>
                    <a:pt x="704850" y="0"/>
                  </a:lnTo>
                  <a:lnTo>
                    <a:pt x="704850" y="800100"/>
                  </a:lnTo>
                  <a:lnTo>
                    <a:pt x="0" y="800100"/>
                  </a:lnTo>
                  <a:lnTo>
                    <a:pt x="0" y="0"/>
                  </a:lnTo>
                  <a:close/>
                </a:path>
              </a:pathLst>
            </a:custGeom>
            <a:blipFill>
              <a:blip r:embed="rId13"/>
              <a:stretch>
                <a:fillRect l="0" t="0" r="-313" b="0"/>
              </a:stretch>
            </a:blipFill>
          </p:spPr>
        </p:sp>
      </p:grpSp>
      <p:grpSp>
        <p:nvGrpSpPr>
          <p:cNvPr name="Group 42" id="42"/>
          <p:cNvGrpSpPr/>
          <p:nvPr/>
        </p:nvGrpSpPr>
        <p:grpSpPr>
          <a:xfrm rot="0">
            <a:off x="12287250" y="4634951"/>
            <a:ext cx="600075" cy="600075"/>
            <a:chOff x="0" y="0"/>
            <a:chExt cx="800100" cy="800100"/>
          </a:xfrm>
        </p:grpSpPr>
        <p:sp>
          <p:nvSpPr>
            <p:cNvPr name="Freeform 43" id="43" descr="image.png"/>
            <p:cNvSpPr/>
            <p:nvPr/>
          </p:nvSpPr>
          <p:spPr>
            <a:xfrm flipH="false" flipV="false" rot="0">
              <a:off x="0" y="0"/>
              <a:ext cx="800100" cy="800100"/>
            </a:xfrm>
            <a:custGeom>
              <a:avLst/>
              <a:gdLst/>
              <a:ahLst/>
              <a:cxnLst/>
              <a:rect r="r" b="b" t="t" l="l"/>
              <a:pathLst>
                <a:path h="800100" w="800100">
                  <a:moveTo>
                    <a:pt x="0" y="0"/>
                  </a:moveTo>
                  <a:lnTo>
                    <a:pt x="800100" y="0"/>
                  </a:lnTo>
                  <a:lnTo>
                    <a:pt x="800100" y="800100"/>
                  </a:lnTo>
                  <a:lnTo>
                    <a:pt x="0" y="800100"/>
                  </a:lnTo>
                  <a:lnTo>
                    <a:pt x="0" y="0"/>
                  </a:lnTo>
                  <a:close/>
                </a:path>
              </a:pathLst>
            </a:custGeom>
            <a:blipFill>
              <a:blip r:embed="rId14"/>
              <a:stretch>
                <a:fillRect l="0" t="0" r="0" b="0"/>
              </a:stretch>
            </a:blipFill>
          </p:spPr>
        </p:sp>
      </p:grpSp>
      <p:grpSp>
        <p:nvGrpSpPr>
          <p:cNvPr name="Group 44" id="44"/>
          <p:cNvGrpSpPr/>
          <p:nvPr/>
        </p:nvGrpSpPr>
        <p:grpSpPr>
          <a:xfrm rot="0">
            <a:off x="15801975" y="4634951"/>
            <a:ext cx="457200" cy="600075"/>
            <a:chOff x="0" y="0"/>
            <a:chExt cx="609600" cy="800100"/>
          </a:xfrm>
        </p:grpSpPr>
        <p:sp>
          <p:nvSpPr>
            <p:cNvPr name="Freeform 45" id="45" descr="image.png"/>
            <p:cNvSpPr/>
            <p:nvPr/>
          </p:nvSpPr>
          <p:spPr>
            <a:xfrm flipH="false" flipV="false" rot="0">
              <a:off x="0" y="0"/>
              <a:ext cx="609600" cy="800100"/>
            </a:xfrm>
            <a:custGeom>
              <a:avLst/>
              <a:gdLst/>
              <a:ahLst/>
              <a:cxnLst/>
              <a:rect r="r" b="b" t="t" l="l"/>
              <a:pathLst>
                <a:path h="800100" w="609600">
                  <a:moveTo>
                    <a:pt x="0" y="0"/>
                  </a:moveTo>
                  <a:lnTo>
                    <a:pt x="609600" y="0"/>
                  </a:lnTo>
                  <a:lnTo>
                    <a:pt x="609600" y="800100"/>
                  </a:lnTo>
                  <a:lnTo>
                    <a:pt x="0" y="800100"/>
                  </a:lnTo>
                  <a:lnTo>
                    <a:pt x="0" y="0"/>
                  </a:lnTo>
                  <a:close/>
                </a:path>
              </a:pathLst>
            </a:custGeom>
            <a:blipFill>
              <a:blip r:embed="rId15"/>
              <a:stretch>
                <a:fillRect l="0" t="0" r="-727" b="0"/>
              </a:stretch>
            </a:blipFill>
          </p:spPr>
        </p:sp>
      </p:grpSp>
      <p:grpSp>
        <p:nvGrpSpPr>
          <p:cNvPr name="Group 46" id="46"/>
          <p:cNvGrpSpPr/>
          <p:nvPr/>
        </p:nvGrpSpPr>
        <p:grpSpPr>
          <a:xfrm rot="0">
            <a:off x="1071562" y="628650"/>
            <a:ext cx="1148274" cy="1103376"/>
            <a:chOff x="0" y="0"/>
            <a:chExt cx="1238250" cy="1189834"/>
          </a:xfrm>
        </p:grpSpPr>
        <p:sp>
          <p:nvSpPr>
            <p:cNvPr name="Freeform 47" id="47"/>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16"/>
              <a:stretch>
                <a:fillRect l="0" t="-2034" r="0" b="-2034"/>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884857"/>
            <a:ext cx="16859250" cy="428625"/>
            <a:chOff x="0" y="0"/>
            <a:chExt cx="22479000" cy="571500"/>
          </a:xfrm>
        </p:grpSpPr>
        <p:sp>
          <p:nvSpPr>
            <p:cNvPr name="Freeform 9" id="9" descr="image.png"/>
            <p:cNvSpPr/>
            <p:nvPr/>
          </p:nvSpPr>
          <p:spPr>
            <a:xfrm flipH="false" flipV="false" rot="0">
              <a:off x="0" y="0"/>
              <a:ext cx="22479000" cy="571500"/>
            </a:xfrm>
            <a:custGeom>
              <a:avLst/>
              <a:gdLst/>
              <a:ahLst/>
              <a:cxnLst/>
              <a:rect r="r" b="b" t="t" l="l"/>
              <a:pathLst>
                <a:path h="571500" w="22479000">
                  <a:moveTo>
                    <a:pt x="0" y="0"/>
                  </a:moveTo>
                  <a:lnTo>
                    <a:pt x="22479000" y="0"/>
                  </a:lnTo>
                  <a:lnTo>
                    <a:pt x="22479000" y="571500"/>
                  </a:lnTo>
                  <a:lnTo>
                    <a:pt x="0" y="571500"/>
                  </a:lnTo>
                  <a:lnTo>
                    <a:pt x="0" y="0"/>
                  </a:lnTo>
                  <a:close/>
                </a:path>
              </a:pathLst>
            </a:custGeom>
            <a:blipFill>
              <a:blip r:embed="rId4"/>
              <a:stretch>
                <a:fillRect l="0" t="0" r="0" b="-3333"/>
              </a:stretch>
            </a:blipFill>
          </p:spPr>
        </p:sp>
      </p:grpSp>
      <p:grpSp>
        <p:nvGrpSpPr>
          <p:cNvPr name="Group 10" id="10"/>
          <p:cNvGrpSpPr/>
          <p:nvPr/>
        </p:nvGrpSpPr>
        <p:grpSpPr>
          <a:xfrm rot="0">
            <a:off x="714375" y="628650"/>
            <a:ext cx="16859250" cy="1285875"/>
            <a:chOff x="0" y="0"/>
            <a:chExt cx="22479000" cy="1714500"/>
          </a:xfrm>
        </p:grpSpPr>
        <p:sp>
          <p:nvSpPr>
            <p:cNvPr name="Freeform 11" id="11"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5"/>
              <a:stretch>
                <a:fillRect l="0" t="0" r="0" b="0"/>
              </a:stretch>
            </a:blipFill>
          </p:spPr>
        </p:sp>
      </p:grpSp>
      <p:grpSp>
        <p:nvGrpSpPr>
          <p:cNvPr name="Group 12" id="12"/>
          <p:cNvGrpSpPr/>
          <p:nvPr/>
        </p:nvGrpSpPr>
        <p:grpSpPr>
          <a:xfrm rot="0">
            <a:off x="0" y="0"/>
            <a:ext cx="18288000" cy="57150"/>
            <a:chOff x="0" y="0"/>
            <a:chExt cx="24384000" cy="76200"/>
          </a:xfrm>
        </p:grpSpPr>
        <p:sp>
          <p:nvSpPr>
            <p:cNvPr name="Freeform 13" id="13"/>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4" id="14"/>
          <p:cNvSpPr txBox="true"/>
          <p:nvPr/>
        </p:nvSpPr>
        <p:spPr>
          <a:xfrm rot="0">
            <a:off x="357188" y="4442069"/>
            <a:ext cx="17573625" cy="1325832"/>
          </a:xfrm>
          <a:prstGeom prst="rect">
            <a:avLst/>
          </a:prstGeom>
        </p:spPr>
        <p:txBody>
          <a:bodyPr anchor="t" rtlCol="false" tIns="0" lIns="0" bIns="0" rIns="0">
            <a:spAutoFit/>
          </a:bodyPr>
          <a:lstStyle/>
          <a:p>
            <a:pPr algn="ctr">
              <a:lnSpc>
                <a:spcPts val="10366"/>
              </a:lnSpc>
            </a:pPr>
            <a:r>
              <a:rPr lang="en-US" b="true" sz="7200">
                <a:solidFill>
                  <a:srgbClr val="FFFFFF"/>
                </a:solidFill>
                <a:latin typeface="Poppins Bold"/>
                <a:ea typeface="Poppins Bold"/>
                <a:cs typeface="Poppins Bold"/>
                <a:sym typeface="Poppins Bold"/>
              </a:rPr>
              <a:t>Data Cleaning</a:t>
            </a:r>
          </a:p>
        </p:txBody>
      </p:sp>
      <p:sp>
        <p:nvSpPr>
          <p:cNvPr name="TextBox 15" id="15"/>
          <p:cNvSpPr txBox="true"/>
          <p:nvPr/>
        </p:nvSpPr>
        <p:spPr>
          <a:xfrm rot="0">
            <a:off x="357188" y="5767911"/>
            <a:ext cx="17573625" cy="642938"/>
          </a:xfrm>
          <a:prstGeom prst="rect">
            <a:avLst/>
          </a:prstGeom>
        </p:spPr>
        <p:txBody>
          <a:bodyPr anchor="t" rtlCol="false" tIns="0" lIns="0" bIns="0" rIns="0">
            <a:spAutoFit/>
          </a:bodyPr>
          <a:lstStyle/>
          <a:p>
            <a:pPr algn="ctr">
              <a:lnSpc>
                <a:spcPts val="3240"/>
              </a:lnSpc>
            </a:pPr>
            <a:r>
              <a:rPr lang="ar-EG" sz="2700">
                <a:solidFill>
                  <a:srgbClr val="03B3C3"/>
                </a:solidFill>
                <a:latin typeface="Cairo"/>
                <a:ea typeface="Cairo"/>
                <a:cs typeface="Cairo"/>
                <a:sym typeface="Cairo"/>
                <a:rtl val="true"/>
              </a:rPr>
              <a:t>تنظيف ومعالجة البيانات باستخدام لغة بايثون</a:t>
            </a:r>
          </a:p>
        </p:txBody>
      </p:sp>
      <p:grpSp>
        <p:nvGrpSpPr>
          <p:cNvPr name="Group 16" id="16"/>
          <p:cNvGrpSpPr/>
          <p:nvPr/>
        </p:nvGrpSpPr>
        <p:grpSpPr>
          <a:xfrm rot="0">
            <a:off x="8286750" y="6839474"/>
            <a:ext cx="1714500" cy="57150"/>
            <a:chOff x="0" y="0"/>
            <a:chExt cx="2286000" cy="76200"/>
          </a:xfrm>
        </p:grpSpPr>
        <p:sp>
          <p:nvSpPr>
            <p:cNvPr name="Freeform 17" id="17"/>
            <p:cNvSpPr/>
            <p:nvPr/>
          </p:nvSpPr>
          <p:spPr>
            <a:xfrm flipH="false" flipV="false" rot="0">
              <a:off x="0" y="0"/>
              <a:ext cx="2286000" cy="76200"/>
            </a:xfrm>
            <a:custGeom>
              <a:avLst/>
              <a:gdLst/>
              <a:ahLst/>
              <a:cxnLst/>
              <a:rect r="r" b="b" t="t" l="l"/>
              <a:pathLst>
                <a:path h="76200" w="2286000">
                  <a:moveTo>
                    <a:pt x="0" y="0"/>
                  </a:moveTo>
                  <a:lnTo>
                    <a:pt x="2286000" y="0"/>
                  </a:lnTo>
                  <a:lnTo>
                    <a:pt x="2286000" y="76200"/>
                  </a:lnTo>
                  <a:lnTo>
                    <a:pt x="0" y="76200"/>
                  </a:lnTo>
                  <a:close/>
                </a:path>
              </a:pathLst>
            </a:custGeom>
            <a:solidFill>
              <a:srgbClr val="E37600"/>
            </a:solidFill>
          </p:spPr>
        </p:sp>
      </p:grpSp>
      <p:sp>
        <p:nvSpPr>
          <p:cNvPr name="TextBox 18" id="18"/>
          <p:cNvSpPr txBox="true"/>
          <p:nvPr/>
        </p:nvSpPr>
        <p:spPr>
          <a:xfrm rot="0">
            <a:off x="4857750" y="7191899"/>
            <a:ext cx="8572500" cy="873101"/>
          </a:xfrm>
          <a:prstGeom prst="rect">
            <a:avLst/>
          </a:prstGeom>
        </p:spPr>
        <p:txBody>
          <a:bodyPr anchor="t" rtlCol="false" tIns="0" lIns="0" bIns="0" rIns="0">
            <a:spAutoFit/>
          </a:bodyPr>
          <a:lstStyle/>
          <a:p>
            <a:pPr algn="ctr">
              <a:lnSpc>
                <a:spcPts val="3670"/>
              </a:lnSpc>
            </a:pPr>
            <a:r>
              <a:rPr lang="en-US" sz="1912">
                <a:solidFill>
                  <a:srgbClr val="4085B4"/>
                </a:solidFill>
                <a:latin typeface="Aptos"/>
                <a:ea typeface="Aptos"/>
                <a:cs typeface="Aptos"/>
                <a:sym typeface="Aptos"/>
              </a:rPr>
              <a:t>Programmatic scripting pipelines utilizing Python Pandas to process unstructured records and refine datasets.</a:t>
            </a:r>
          </a:p>
        </p:txBody>
      </p:sp>
      <p:sp>
        <p:nvSpPr>
          <p:cNvPr name="TextBox 19" id="19"/>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Phase 01</a:t>
            </a:r>
          </a:p>
        </p:txBody>
      </p:sp>
      <p:sp>
        <p:nvSpPr>
          <p:cNvPr name="TextBox 20" id="20"/>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Analytical Data Preparation</a:t>
            </a:r>
          </a:p>
        </p:txBody>
      </p:sp>
      <p:grpSp>
        <p:nvGrpSpPr>
          <p:cNvPr name="Group 21" id="21"/>
          <p:cNvGrpSpPr/>
          <p:nvPr/>
        </p:nvGrpSpPr>
        <p:grpSpPr>
          <a:xfrm rot="0">
            <a:off x="16216312" y="802110"/>
            <a:ext cx="928688" cy="924449"/>
            <a:chOff x="0" y="0"/>
            <a:chExt cx="1238250" cy="1232598"/>
          </a:xfrm>
        </p:grpSpPr>
        <p:sp>
          <p:nvSpPr>
            <p:cNvPr name="Freeform 22" id="22"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6"/>
              <a:stretch>
                <a:fillRect l="0" t="0" r="0" b="-2009"/>
              </a:stretch>
            </a:blipFill>
          </p:spPr>
        </p:sp>
      </p:grpSp>
      <p:grpSp>
        <p:nvGrpSpPr>
          <p:cNvPr name="Group 23" id="23"/>
          <p:cNvGrpSpPr/>
          <p:nvPr/>
        </p:nvGrpSpPr>
        <p:grpSpPr>
          <a:xfrm rot="0">
            <a:off x="1071562" y="628650"/>
            <a:ext cx="1148274" cy="1103376"/>
            <a:chOff x="0" y="0"/>
            <a:chExt cx="1238250" cy="1189834"/>
          </a:xfrm>
        </p:grpSpPr>
        <p:sp>
          <p:nvSpPr>
            <p:cNvPr name="Freeform 24" id="24"/>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grpSp>
        <p:nvGrpSpPr>
          <p:cNvPr name="Group 17" id="17"/>
          <p:cNvGrpSpPr/>
          <p:nvPr/>
        </p:nvGrpSpPr>
        <p:grpSpPr>
          <a:xfrm rot="0">
            <a:off x="16216312" y="802110"/>
            <a:ext cx="928688" cy="924449"/>
            <a:chOff x="0" y="0"/>
            <a:chExt cx="1238250" cy="1232598"/>
          </a:xfrm>
        </p:grpSpPr>
        <p:sp>
          <p:nvSpPr>
            <p:cNvPr name="Freeform 18" id="18"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grpSp>
        <p:nvGrpSpPr>
          <p:cNvPr name="Group 19" id="19"/>
          <p:cNvGrpSpPr/>
          <p:nvPr/>
        </p:nvGrpSpPr>
        <p:grpSpPr>
          <a:xfrm rot="0">
            <a:off x="9472612" y="3321844"/>
            <a:ext cx="8101012" cy="5343525"/>
            <a:chOff x="0" y="0"/>
            <a:chExt cx="10801350" cy="7124700"/>
          </a:xfrm>
        </p:grpSpPr>
        <p:sp>
          <p:nvSpPr>
            <p:cNvPr name="Freeform 20" id="20"/>
            <p:cNvSpPr/>
            <p:nvPr/>
          </p:nvSpPr>
          <p:spPr>
            <a:xfrm flipH="false" flipV="false" rot="0">
              <a:off x="0" y="0"/>
              <a:ext cx="10801350" cy="7124700"/>
            </a:xfrm>
            <a:custGeom>
              <a:avLst/>
              <a:gdLst/>
              <a:ahLst/>
              <a:cxnLst/>
              <a:rect r="r" b="b" t="t" l="l"/>
              <a:pathLst>
                <a:path h="7124700" w="10801350">
                  <a:moveTo>
                    <a:pt x="315820" y="0"/>
                  </a:moveTo>
                  <a:lnTo>
                    <a:pt x="10485530" y="0"/>
                  </a:lnTo>
                  <a:cubicBezTo>
                    <a:pt x="10659952" y="0"/>
                    <a:pt x="10801350" y="141397"/>
                    <a:pt x="10801350" y="315820"/>
                  </a:cubicBezTo>
                  <a:lnTo>
                    <a:pt x="10801350" y="6808880"/>
                  </a:lnTo>
                  <a:cubicBezTo>
                    <a:pt x="10801350" y="6983302"/>
                    <a:pt x="10659952" y="7124700"/>
                    <a:pt x="10485530" y="7124700"/>
                  </a:cubicBezTo>
                  <a:lnTo>
                    <a:pt x="315820" y="7124700"/>
                  </a:lnTo>
                  <a:cubicBezTo>
                    <a:pt x="141397" y="7124700"/>
                    <a:pt x="0" y="6983302"/>
                    <a:pt x="0" y="6808880"/>
                  </a:cubicBezTo>
                  <a:lnTo>
                    <a:pt x="0" y="315820"/>
                  </a:lnTo>
                  <a:cubicBezTo>
                    <a:pt x="0" y="141397"/>
                    <a:pt x="141397" y="0"/>
                    <a:pt x="315820" y="0"/>
                  </a:cubicBezTo>
                  <a:close/>
                </a:path>
              </a:pathLst>
            </a:custGeom>
            <a:blipFill>
              <a:blip r:embed="rId8"/>
              <a:stretch>
                <a:fillRect l="-2957" t="-1010" r="-104847" b="0"/>
              </a:stretch>
            </a:blipFill>
          </p:spPr>
        </p:sp>
      </p:grpSp>
      <p:sp>
        <p:nvSpPr>
          <p:cNvPr name="TextBox 21" id="21"/>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sp>
        <p:nvSpPr>
          <p:cNvPr name="TextBox 22" id="22"/>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Lib</a:t>
            </a:r>
            <a:r>
              <a:rPr lang="en-US" b="true" sz="2106">
                <a:solidFill>
                  <a:srgbClr val="364149"/>
                </a:solidFill>
                <a:latin typeface="Poppins Bold"/>
                <a:ea typeface="Poppins Bold"/>
                <a:cs typeface="Poppins Bold"/>
                <a:sym typeface="Poppins Bold"/>
              </a:rPr>
              <a:t>rary Selection and Data Loading</a:t>
            </a:r>
          </a:p>
        </p:txBody>
      </p:sp>
      <p:sp>
        <p:nvSpPr>
          <p:cNvPr name="TextBox 23" id="23"/>
          <p:cNvSpPr txBox="true"/>
          <p:nvPr/>
        </p:nvSpPr>
        <p:spPr>
          <a:xfrm rot="0">
            <a:off x="1425178" y="4191943"/>
            <a:ext cx="7076599" cy="4473425"/>
          </a:xfrm>
          <a:prstGeom prst="rect">
            <a:avLst/>
          </a:prstGeom>
        </p:spPr>
        <p:txBody>
          <a:bodyPr anchor="t" rtlCol="false" tIns="0" lIns="0" bIns="0" rIns="0">
            <a:spAutoFit/>
          </a:bodyPr>
          <a:lstStyle/>
          <a:p>
            <a:pPr algn="l" marL="367683" indent="-183842" lvl="1">
              <a:lnSpc>
                <a:spcPts val="3269"/>
              </a:lnSpc>
              <a:buFont typeface="Arial"/>
              <a:buChar char="•"/>
            </a:pPr>
            <a:r>
              <a:rPr lang="en-US" b="true" sz="1703">
                <a:solidFill>
                  <a:srgbClr val="364149"/>
                </a:solidFill>
                <a:latin typeface="Aptos Bold"/>
                <a:ea typeface="Aptos Bold"/>
                <a:cs typeface="Aptos Bold"/>
                <a:sym typeface="Aptos Bold"/>
              </a:rPr>
              <a:t>L</a:t>
            </a:r>
            <a:r>
              <a:rPr lang="en-US" b="true" sz="1703">
                <a:solidFill>
                  <a:srgbClr val="364149"/>
                </a:solidFill>
                <a:latin typeface="Aptos Bold"/>
                <a:ea typeface="Aptos Bold"/>
                <a:cs typeface="Aptos Bold"/>
                <a:sym typeface="Aptos Bold"/>
              </a:rPr>
              <a:t>ibrary Import: Imported core analytical and visualization libraries (Pandas, NumPy, Matplotlib, and Seaborn).</a:t>
            </a:r>
          </a:p>
          <a:p>
            <a:pPr algn="l" marL="367683" indent="-183842" lvl="1">
              <a:lnSpc>
                <a:spcPts val="3269"/>
              </a:lnSpc>
              <a:buFont typeface="Arial"/>
              <a:buChar char="•"/>
            </a:pPr>
            <a:r>
              <a:rPr lang="en-US" b="true" sz="1703">
                <a:solidFill>
                  <a:srgbClr val="364149"/>
                </a:solidFill>
                <a:latin typeface="Aptos Bold"/>
                <a:ea typeface="Aptos Bold"/>
                <a:cs typeface="Aptos Bold"/>
                <a:sym typeface="Aptos Bold"/>
              </a:rPr>
              <a:t>Data Loading: Loaded the climate change emissions indicators dataset from a CSV file into a DataFrame.</a:t>
            </a:r>
          </a:p>
          <a:p>
            <a:pPr algn="l" marL="367683" indent="-183842" lvl="1">
              <a:lnSpc>
                <a:spcPts val="3269"/>
              </a:lnSpc>
              <a:buFont typeface="Arial"/>
              <a:buChar char="•"/>
            </a:pPr>
            <a:r>
              <a:rPr lang="en-US" b="true" sz="1703">
                <a:solidFill>
                  <a:srgbClr val="364149"/>
                </a:solidFill>
                <a:latin typeface="Aptos Bold"/>
                <a:ea typeface="Aptos Bold"/>
                <a:cs typeface="Aptos Bold"/>
                <a:sym typeface="Aptos Bold"/>
              </a:rPr>
              <a:t>Missing Value Handling: Automated the imputation process by looping through all columns:</a:t>
            </a:r>
          </a:p>
          <a:p>
            <a:pPr algn="l" marL="367683" indent="-183842" lvl="1">
              <a:lnSpc>
                <a:spcPts val="3269"/>
              </a:lnSpc>
              <a:buFont typeface="Arial"/>
              <a:buChar char="•"/>
            </a:pPr>
            <a:r>
              <a:rPr lang="en-US" b="true" sz="1703">
                <a:solidFill>
                  <a:srgbClr val="364149"/>
                </a:solidFill>
                <a:latin typeface="Aptos Bold"/>
                <a:ea typeface="Aptos Bold"/>
                <a:cs typeface="Aptos Bold"/>
                <a:sym typeface="Aptos Bold"/>
              </a:rPr>
              <a:t>Filled missing entries in numerical features (float64 and int64) with the column mean.</a:t>
            </a:r>
          </a:p>
          <a:p>
            <a:pPr algn="l" marL="367683" indent="-183842" lvl="1">
              <a:lnSpc>
                <a:spcPts val="3269"/>
              </a:lnSpc>
              <a:buFont typeface="Arial"/>
              <a:buChar char="•"/>
            </a:pPr>
            <a:r>
              <a:rPr lang="en-US" b="true" sz="1703">
                <a:solidFill>
                  <a:srgbClr val="364149"/>
                </a:solidFill>
                <a:latin typeface="Aptos Bold"/>
                <a:ea typeface="Aptos Bold"/>
                <a:cs typeface="Aptos Bold"/>
                <a:sym typeface="Aptos Bold"/>
              </a:rPr>
              <a:t>Imputed missing entries in categorical features using the column mode.</a:t>
            </a:r>
          </a:p>
          <a:p>
            <a:pPr algn="l">
              <a:lnSpc>
                <a:spcPts val="3269"/>
              </a:lnSpc>
            </a:pPr>
          </a:p>
        </p:txBody>
      </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grpSp>
        <p:nvGrpSpPr>
          <p:cNvPr name="Group 17" id="17"/>
          <p:cNvGrpSpPr/>
          <p:nvPr/>
        </p:nvGrpSpPr>
        <p:grpSpPr>
          <a:xfrm rot="0">
            <a:off x="16216312" y="802110"/>
            <a:ext cx="928688" cy="924449"/>
            <a:chOff x="0" y="0"/>
            <a:chExt cx="1238250" cy="1232598"/>
          </a:xfrm>
        </p:grpSpPr>
        <p:sp>
          <p:nvSpPr>
            <p:cNvPr name="Freeform 18" id="18"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grpSp>
        <p:nvGrpSpPr>
          <p:cNvPr name="Group 19" id="19"/>
          <p:cNvGrpSpPr/>
          <p:nvPr/>
        </p:nvGrpSpPr>
        <p:grpSpPr>
          <a:xfrm rot="0">
            <a:off x="9472612" y="3321844"/>
            <a:ext cx="8058150" cy="5343525"/>
            <a:chOff x="0" y="0"/>
            <a:chExt cx="10744200" cy="7124700"/>
          </a:xfrm>
        </p:grpSpPr>
        <p:sp>
          <p:nvSpPr>
            <p:cNvPr name="Freeform 20" id="20"/>
            <p:cNvSpPr/>
            <p:nvPr/>
          </p:nvSpPr>
          <p:spPr>
            <a:xfrm flipH="false" flipV="false" rot="6000">
              <a:off x="-5744" y="-8906"/>
              <a:ext cx="10755688" cy="7142511"/>
            </a:xfrm>
            <a:custGeom>
              <a:avLst/>
              <a:gdLst/>
              <a:ahLst/>
              <a:cxnLst/>
              <a:rect r="r" b="b" t="t" l="l"/>
              <a:pathLst>
                <a:path h="7142511" w="10755688">
                  <a:moveTo>
                    <a:pt x="266234" y="17822"/>
                  </a:moveTo>
                  <a:lnTo>
                    <a:pt x="10477019" y="1"/>
                  </a:lnTo>
                  <a:cubicBezTo>
                    <a:pt x="10624313" y="-256"/>
                    <a:pt x="10743927" y="118941"/>
                    <a:pt x="10744184" y="266235"/>
                  </a:cubicBezTo>
                  <a:lnTo>
                    <a:pt x="10755688" y="6857525"/>
                  </a:lnTo>
                  <a:cubicBezTo>
                    <a:pt x="10755945" y="7004819"/>
                    <a:pt x="10636748" y="7124433"/>
                    <a:pt x="10489454" y="7124690"/>
                  </a:cubicBezTo>
                  <a:lnTo>
                    <a:pt x="278669" y="7142511"/>
                  </a:lnTo>
                  <a:cubicBezTo>
                    <a:pt x="131375" y="7142768"/>
                    <a:pt x="11761" y="7023571"/>
                    <a:pt x="11504" y="6876277"/>
                  </a:cubicBezTo>
                  <a:lnTo>
                    <a:pt x="0" y="284987"/>
                  </a:lnTo>
                  <a:cubicBezTo>
                    <a:pt x="-257" y="137693"/>
                    <a:pt x="118940" y="18079"/>
                    <a:pt x="266234" y="17822"/>
                  </a:cubicBezTo>
                  <a:close/>
                </a:path>
              </a:pathLst>
            </a:custGeom>
            <a:blipFill>
              <a:blip r:embed="rId8"/>
              <a:stretch>
                <a:fillRect l="-1245" t="-1133" r="-69771" b="53"/>
              </a:stretch>
            </a:blipFill>
          </p:spPr>
        </p:sp>
      </p:grpSp>
      <p:sp>
        <p:nvSpPr>
          <p:cNvPr name="TextBox 21" id="21"/>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sp>
        <p:nvSpPr>
          <p:cNvPr name="TextBox 22" id="22"/>
          <p:cNvSpPr txBox="true"/>
          <p:nvPr/>
        </p:nvSpPr>
        <p:spPr>
          <a:xfrm rot="0">
            <a:off x="1028700"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D</a:t>
            </a:r>
            <a:r>
              <a:rPr lang="en-US" b="true" sz="2106">
                <a:solidFill>
                  <a:srgbClr val="364149"/>
                </a:solidFill>
                <a:latin typeface="Poppins Bold"/>
                <a:ea typeface="Poppins Bold"/>
                <a:cs typeface="Poppins Bold"/>
                <a:sym typeface="Poppins Bold"/>
              </a:rPr>
              <a:t>ata Type Correction and Top 10 Emitters Analysis</a:t>
            </a:r>
          </a:p>
        </p:txBody>
      </p:sp>
      <p:sp>
        <p:nvSpPr>
          <p:cNvPr name="TextBox 23" id="23"/>
          <p:cNvSpPr txBox="true"/>
          <p:nvPr/>
        </p:nvSpPr>
        <p:spPr>
          <a:xfrm rot="0">
            <a:off x="1345473" y="4154672"/>
            <a:ext cx="7320586" cy="3563577"/>
          </a:xfrm>
          <a:prstGeom prst="rect">
            <a:avLst/>
          </a:prstGeom>
        </p:spPr>
        <p:txBody>
          <a:bodyPr anchor="t" rtlCol="false" tIns="0" lIns="0" bIns="0" rIns="0">
            <a:spAutoFit/>
          </a:bodyPr>
          <a:lstStyle/>
          <a:p>
            <a:pPr algn="l" marL="356936" indent="-178468" lvl="1">
              <a:lnSpc>
                <a:spcPts val="3174"/>
              </a:lnSpc>
              <a:buFont typeface="Arial"/>
              <a:buChar char="•"/>
            </a:pPr>
            <a:r>
              <a:rPr lang="en-US" b="true" sz="1653">
                <a:solidFill>
                  <a:srgbClr val="364149"/>
                </a:solidFill>
                <a:latin typeface="Aptos Bold"/>
                <a:ea typeface="Aptos Bold"/>
                <a:cs typeface="Aptos Bold"/>
                <a:sym typeface="Aptos Bold"/>
              </a:rPr>
              <a:t>D</a:t>
            </a:r>
            <a:r>
              <a:rPr lang="en-US" b="true" sz="1653">
                <a:solidFill>
                  <a:srgbClr val="364149"/>
                </a:solidFill>
                <a:latin typeface="Aptos Bold"/>
                <a:ea typeface="Aptos Bold"/>
                <a:cs typeface="Aptos Bold"/>
                <a:sym typeface="Aptos Bold"/>
              </a:rPr>
              <a:t>ata Type Correction: Converted the Year and Value columns to numeric formats, using errors='coerce' to handle malformed entries.</a:t>
            </a:r>
          </a:p>
          <a:p>
            <a:pPr algn="l" marL="356936" indent="-178468" lvl="1">
              <a:lnSpc>
                <a:spcPts val="3174"/>
              </a:lnSpc>
              <a:buFont typeface="Arial"/>
              <a:buChar char="•"/>
            </a:pPr>
            <a:r>
              <a:rPr lang="en-US" b="true" sz="1653">
                <a:solidFill>
                  <a:srgbClr val="364149"/>
                </a:solidFill>
                <a:latin typeface="Aptos Bold"/>
                <a:ea typeface="Aptos Bold"/>
                <a:cs typeface="Aptos Bold"/>
                <a:sym typeface="Aptos Bold"/>
              </a:rPr>
              <a:t>Column Name Cleaning: Stripped leading and trailing whitespace from all column names to ensure smooth text matching.</a:t>
            </a:r>
          </a:p>
          <a:p>
            <a:pPr algn="l" marL="356936" indent="-178468" lvl="1">
              <a:lnSpc>
                <a:spcPts val="3174"/>
              </a:lnSpc>
              <a:buFont typeface="Arial"/>
              <a:buChar char="•"/>
            </a:pPr>
            <a:r>
              <a:rPr lang="en-US" b="true" sz="1653">
                <a:solidFill>
                  <a:srgbClr val="364149"/>
                </a:solidFill>
                <a:latin typeface="Aptos Bold"/>
                <a:ea typeface="Aptos Bold"/>
                <a:cs typeface="Aptos Bold"/>
                <a:sym typeface="Aptos Bold"/>
              </a:rPr>
              <a:t>Top 10 Emitters Analysis: Filtered the dataset for the latest available year to extract the top ten areas with the highest emission values.</a:t>
            </a:r>
          </a:p>
          <a:p>
            <a:pPr algn="l" marL="356936" indent="-178468" lvl="1">
              <a:lnSpc>
                <a:spcPts val="3174"/>
              </a:lnSpc>
              <a:buFont typeface="Arial"/>
              <a:buChar char="•"/>
            </a:pPr>
            <a:r>
              <a:rPr lang="en-US" b="true" sz="1653">
                <a:solidFill>
                  <a:srgbClr val="364149"/>
                </a:solidFill>
                <a:latin typeface="Aptos Bold"/>
                <a:ea typeface="Aptos Bold"/>
                <a:cs typeface="Aptos Bold"/>
                <a:sym typeface="Aptos Bold"/>
              </a:rPr>
              <a:t>Visualization: Plotted a horizontal bar chart using Seaborn's viridis palette, complete with explicit decimal data labels on each bar and a bold custom title.</a:t>
            </a:r>
          </a:p>
        </p:txBody>
      </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143000"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Emissi</a:t>
            </a:r>
            <a:r>
              <a:rPr lang="en-US" b="true" sz="2106">
                <a:solidFill>
                  <a:srgbClr val="364149"/>
                </a:solidFill>
                <a:latin typeface="Poppins Bold"/>
                <a:ea typeface="Poppins Bold"/>
                <a:cs typeface="Poppins Bold"/>
                <a:sym typeface="Poppins Bold"/>
              </a:rPr>
              <a:t>ons Trends and Correlation Analysis</a:t>
            </a:r>
          </a:p>
        </p:txBody>
      </p:sp>
      <p:sp>
        <p:nvSpPr>
          <p:cNvPr name="TextBox 21" id="21"/>
          <p:cNvSpPr txBox="true"/>
          <p:nvPr/>
        </p:nvSpPr>
        <p:spPr>
          <a:xfrm rot="0">
            <a:off x="1243013" y="4084662"/>
            <a:ext cx="7340917" cy="4421077"/>
          </a:xfrm>
          <a:prstGeom prst="rect">
            <a:avLst/>
          </a:prstGeom>
        </p:spPr>
        <p:txBody>
          <a:bodyPr anchor="t" rtlCol="false" tIns="0" lIns="0" bIns="0" rIns="0">
            <a:spAutoFit/>
          </a:bodyPr>
          <a:lstStyle/>
          <a:p>
            <a:pPr algn="l" marL="333857" indent="-166928" lvl="1">
              <a:lnSpc>
                <a:spcPts val="2968"/>
              </a:lnSpc>
              <a:buFont typeface="Arial"/>
              <a:buChar char="•"/>
            </a:pPr>
            <a:r>
              <a:rPr lang="en-US" b="true" sz="1546">
                <a:solidFill>
                  <a:srgbClr val="364149"/>
                </a:solidFill>
                <a:latin typeface="Aptos Bold"/>
                <a:ea typeface="Aptos Bold"/>
                <a:cs typeface="Aptos Bold"/>
                <a:sym typeface="Aptos Bold"/>
              </a:rPr>
              <a:t>E</a:t>
            </a:r>
            <a:r>
              <a:rPr lang="en-US" b="true" sz="1546">
                <a:solidFill>
                  <a:srgbClr val="364149"/>
                </a:solidFill>
                <a:latin typeface="Aptos Bold"/>
                <a:ea typeface="Aptos Bold"/>
                <a:cs typeface="Aptos Bold"/>
                <a:sym typeface="Aptos Bold"/>
              </a:rPr>
              <a:t>missions Trends &amp; Grouping: Grouped the dataset by area to calculate total emissions and isolate the top 5 highest-emitting countries.</a:t>
            </a:r>
          </a:p>
          <a:p>
            <a:pPr algn="l" marL="333857" indent="-166928" lvl="1">
              <a:lnSpc>
                <a:spcPts val="2968"/>
              </a:lnSpc>
              <a:buFont typeface="Arial"/>
              <a:buChar char="•"/>
            </a:pPr>
            <a:r>
              <a:rPr lang="en-US" b="true" sz="1546">
                <a:solidFill>
                  <a:srgbClr val="364149"/>
                </a:solidFill>
                <a:latin typeface="Aptos Bold"/>
                <a:ea typeface="Aptos Bold"/>
                <a:cs typeface="Aptos Bold"/>
                <a:sym typeface="Aptos Bold"/>
              </a:rPr>
              <a:t>Generated a line plot to track the total emissions growth of these top 5 countries over time.</a:t>
            </a:r>
          </a:p>
          <a:p>
            <a:pPr algn="l" marL="333857" indent="-166928" lvl="1">
              <a:lnSpc>
                <a:spcPts val="2968"/>
              </a:lnSpc>
              <a:buFont typeface="Arial"/>
              <a:buChar char="•"/>
            </a:pPr>
            <a:r>
              <a:rPr lang="en-US" b="true" sz="1546">
                <a:solidFill>
                  <a:srgbClr val="364149"/>
                </a:solidFill>
                <a:latin typeface="Aptos Bold"/>
                <a:ea typeface="Aptos Bold"/>
                <a:cs typeface="Aptos Bold"/>
                <a:sym typeface="Aptos Bold"/>
              </a:rPr>
              <a:t>Quantile-Based Segmentation: Categorized emission values into four distinct contribution levels (Bronze, Silver, Gold, and Platinum) using pd.qcut.</a:t>
            </a:r>
          </a:p>
          <a:p>
            <a:pPr algn="l" marL="333857" indent="-166928" lvl="1">
              <a:lnSpc>
                <a:spcPts val="2968"/>
              </a:lnSpc>
              <a:buFont typeface="Arial"/>
              <a:buChar char="•"/>
            </a:pPr>
            <a:r>
              <a:rPr lang="en-US" b="true" sz="1546">
                <a:solidFill>
                  <a:srgbClr val="364149"/>
                </a:solidFill>
                <a:latin typeface="Aptos Bold"/>
                <a:ea typeface="Aptos Bold"/>
                <a:cs typeface="Aptos Bold"/>
                <a:sym typeface="Aptos Bold"/>
              </a:rPr>
              <a:t>Correlation Matrix: Constructed a pivot table indexed by year with different emission elements as columns to calculate statistical correlation coefficients.</a:t>
            </a:r>
          </a:p>
          <a:p>
            <a:pPr algn="l" marL="333857" indent="-166928" lvl="1">
              <a:lnSpc>
                <a:spcPts val="2968"/>
              </a:lnSpc>
              <a:buFont typeface="Arial"/>
              <a:buChar char="•"/>
            </a:pPr>
            <a:r>
              <a:rPr lang="en-US" b="true" sz="1546">
                <a:solidFill>
                  <a:srgbClr val="364149"/>
                </a:solidFill>
                <a:latin typeface="Aptos Bold"/>
                <a:ea typeface="Aptos Bold"/>
                <a:cs typeface="Aptos Bold"/>
                <a:sym typeface="Aptos Bold"/>
              </a:rPr>
              <a:t>Heatmap Visualization: Plotted an annotated correlation heatmap using the RdYlGn colormap centered at zero to evaluate how different emission elements interact over the years.</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6000">
              <a:off x="-5722" y="-8883"/>
              <a:ext cx="10755644" cy="7142467"/>
            </a:xfrm>
            <a:custGeom>
              <a:avLst/>
              <a:gdLst/>
              <a:ahLst/>
              <a:cxnLst/>
              <a:rect r="r" b="b" t="t" l="l"/>
              <a:pathLst>
                <a:path h="7142467" w="10755644">
                  <a:moveTo>
                    <a:pt x="278912" y="17777"/>
                  </a:moveTo>
                  <a:lnTo>
                    <a:pt x="10464297" y="0"/>
                  </a:lnTo>
                  <a:cubicBezTo>
                    <a:pt x="10618605" y="-269"/>
                    <a:pt x="10743915" y="124604"/>
                    <a:pt x="10744184" y="278912"/>
                  </a:cubicBezTo>
                  <a:lnTo>
                    <a:pt x="10755644" y="6844802"/>
                  </a:lnTo>
                  <a:cubicBezTo>
                    <a:pt x="10755913" y="6999110"/>
                    <a:pt x="10631040" y="7124420"/>
                    <a:pt x="10476732" y="7124689"/>
                  </a:cubicBezTo>
                  <a:lnTo>
                    <a:pt x="291347" y="7142466"/>
                  </a:lnTo>
                  <a:cubicBezTo>
                    <a:pt x="137039" y="7142735"/>
                    <a:pt x="11729" y="7017862"/>
                    <a:pt x="11460" y="6863554"/>
                  </a:cubicBezTo>
                  <a:lnTo>
                    <a:pt x="0" y="297664"/>
                  </a:lnTo>
                  <a:cubicBezTo>
                    <a:pt x="-269" y="143356"/>
                    <a:pt x="124604" y="18046"/>
                    <a:pt x="278912" y="17777"/>
                  </a:cubicBezTo>
                  <a:close/>
                </a:path>
              </a:pathLst>
            </a:custGeom>
            <a:blipFill>
              <a:blip r:embed="rId8"/>
              <a:stretch>
                <a:fillRect l="-266" t="-1075" r="-69778" b="45"/>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Hist</a:t>
            </a:r>
            <a:r>
              <a:rPr lang="en-US" b="true" sz="2106">
                <a:solidFill>
                  <a:srgbClr val="364149"/>
                </a:solidFill>
                <a:latin typeface="Poppins Bold"/>
                <a:ea typeface="Poppins Bold"/>
                <a:cs typeface="Poppins Bold"/>
                <a:sym typeface="Poppins Bold"/>
              </a:rPr>
              <a:t>orical Emission Gap Analysis and Data Export</a:t>
            </a:r>
          </a:p>
        </p:txBody>
      </p:sp>
      <p:sp>
        <p:nvSpPr>
          <p:cNvPr name="TextBox 21" id="21"/>
          <p:cNvSpPr txBox="true"/>
          <p:nvPr/>
        </p:nvSpPr>
        <p:spPr>
          <a:xfrm rot="0">
            <a:off x="1321807" y="4108585"/>
            <a:ext cx="7170747" cy="3799464"/>
          </a:xfrm>
          <a:prstGeom prst="rect">
            <a:avLst/>
          </a:prstGeom>
        </p:spPr>
        <p:txBody>
          <a:bodyPr anchor="t" rtlCol="false" tIns="0" lIns="0" bIns="0" rIns="0">
            <a:spAutoFit/>
          </a:bodyPr>
          <a:lstStyle/>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H</a:t>
            </a:r>
            <a:r>
              <a:rPr lang="en-US" b="true" sz="1604">
                <a:solidFill>
                  <a:srgbClr val="364149"/>
                </a:solidFill>
                <a:latin typeface="Aptos Bold"/>
                <a:ea typeface="Aptos Bold"/>
                <a:cs typeface="Aptos Bold"/>
                <a:sym typeface="Aptos Bold"/>
              </a:rPr>
              <a:t>istorical Emission Gap Analysis:</a:t>
            </a:r>
          </a:p>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Grouped the dataset by area to calculate total emissions and isolate the top 5 highest-emitting countries.</a:t>
            </a:r>
          </a:p>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Filtered the data to capture only the earliest and most recent available years for these 5 countries.</a:t>
            </a:r>
          </a:p>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Plotted a clustered bar chart using Seaborn's magma palette to contrast historical growth and emission gaps over time.</a:t>
            </a:r>
          </a:p>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D</a:t>
            </a:r>
            <a:r>
              <a:rPr lang="en-US" b="true" sz="1604">
                <a:solidFill>
                  <a:srgbClr val="364149"/>
                </a:solidFill>
                <a:latin typeface="Aptos Bold"/>
                <a:ea typeface="Aptos Bold"/>
                <a:cs typeface="Aptos Bold"/>
                <a:sym typeface="Aptos Bold"/>
              </a:rPr>
              <a:t>ata Export: Saved the finalized dataset as a CSV file named Climate_Change_Final_Analysis.csv, setting index=False to omit internal DataFrame indices.</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79400" y="0"/>
                  </a:moveTo>
                  <a:lnTo>
                    <a:pt x="10464800" y="0"/>
                  </a:lnTo>
                  <a:cubicBezTo>
                    <a:pt x="10619108" y="0"/>
                    <a:pt x="10744200" y="125092"/>
                    <a:pt x="10744200" y="279400"/>
                  </a:cubicBezTo>
                  <a:lnTo>
                    <a:pt x="10744200" y="6845300"/>
                  </a:lnTo>
                  <a:cubicBezTo>
                    <a:pt x="10744200" y="6999608"/>
                    <a:pt x="10619108" y="7124700"/>
                    <a:pt x="10464800" y="7124700"/>
                  </a:cubicBezTo>
                  <a:lnTo>
                    <a:pt x="279400" y="7124700"/>
                  </a:lnTo>
                  <a:cubicBezTo>
                    <a:pt x="125092" y="7124700"/>
                    <a:pt x="0" y="6999608"/>
                    <a:pt x="0" y="6845300"/>
                  </a:cubicBezTo>
                  <a:lnTo>
                    <a:pt x="0" y="279400"/>
                  </a:lnTo>
                  <a:cubicBezTo>
                    <a:pt x="0" y="125092"/>
                    <a:pt x="125092" y="0"/>
                    <a:pt x="279400" y="0"/>
                  </a:cubicBezTo>
                  <a:close/>
                </a:path>
              </a:pathLst>
            </a:custGeom>
            <a:blipFill>
              <a:blip r:embed="rId8"/>
              <a:stretch>
                <a:fillRect l="-2674" t="-4033" r="-80136" b="-5738"/>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647700"/>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Dat</a:t>
            </a:r>
            <a:r>
              <a:rPr lang="en-US" b="true" sz="2106">
                <a:solidFill>
                  <a:srgbClr val="364149"/>
                </a:solidFill>
                <a:latin typeface="Poppins Bold"/>
                <a:ea typeface="Poppins Bold"/>
                <a:cs typeface="Poppins Bold"/>
                <a:sym typeface="Poppins Bold"/>
              </a:rPr>
              <a:t>a Exploration and Preprocessing</a:t>
            </a:r>
          </a:p>
          <a:p>
            <a:pPr algn="l">
              <a:lnSpc>
                <a:spcPts val="2527"/>
              </a:lnSpc>
            </a:pPr>
          </a:p>
        </p:txBody>
      </p:sp>
      <p:sp>
        <p:nvSpPr>
          <p:cNvPr name="TextBox 21" id="21"/>
          <p:cNvSpPr txBox="true"/>
          <p:nvPr/>
        </p:nvSpPr>
        <p:spPr>
          <a:xfrm rot="0">
            <a:off x="1321807" y="4089535"/>
            <a:ext cx="7170747" cy="3654144"/>
          </a:xfrm>
          <a:prstGeom prst="rect">
            <a:avLst/>
          </a:prstGeom>
        </p:spPr>
        <p:txBody>
          <a:bodyPr anchor="t" rtlCol="false" tIns="0" lIns="0" bIns="0" rIns="0">
            <a:spAutoFit/>
          </a:bodyPr>
          <a:lstStyle/>
          <a:p>
            <a:pPr algn="l" marL="367994" indent="-183997" lvl="1">
              <a:lnSpc>
                <a:spcPts val="3272"/>
              </a:lnSpc>
              <a:buFont typeface="Arial"/>
              <a:buChar char="•"/>
            </a:pPr>
            <a:r>
              <a:rPr lang="en-US" b="true" sz="1704">
                <a:solidFill>
                  <a:srgbClr val="364149"/>
                </a:solidFill>
                <a:latin typeface="Aptos Bold"/>
                <a:ea typeface="Aptos Bold"/>
                <a:cs typeface="Aptos Bold"/>
                <a:sym typeface="Aptos Bold"/>
              </a:rPr>
              <a:t>Da</a:t>
            </a:r>
            <a:r>
              <a:rPr lang="en-US" b="true" sz="1704">
                <a:solidFill>
                  <a:srgbClr val="364149"/>
                </a:solidFill>
                <a:latin typeface="Aptos Bold"/>
                <a:ea typeface="Aptos Bold"/>
                <a:cs typeface="Aptos Bold"/>
                <a:sym typeface="Aptos Bold"/>
              </a:rPr>
              <a:t>ta Loading &amp; Inspection: Used Pandas and NumPy to load the dataset, verify its structural layout, and confirm the data imported correctly.</a:t>
            </a:r>
          </a:p>
          <a:p>
            <a:pPr algn="l" marL="367994" indent="-183997" lvl="1">
              <a:lnSpc>
                <a:spcPts val="3272"/>
              </a:lnSpc>
              <a:buFont typeface="Arial"/>
              <a:buChar char="•"/>
            </a:pPr>
            <a:r>
              <a:rPr lang="en-US" b="true" sz="1704">
                <a:solidFill>
                  <a:srgbClr val="364149"/>
                </a:solidFill>
                <a:latin typeface="Aptos Bold"/>
                <a:ea typeface="Aptos Bold"/>
                <a:cs typeface="Aptos Bold"/>
                <a:sym typeface="Aptos Bold"/>
              </a:rPr>
              <a:t>Column Renaming: Standardized and cleaned column names (country, code, year, and water_value) to improve workflow efficiency.</a:t>
            </a:r>
          </a:p>
          <a:p>
            <a:pPr algn="l" marL="367994" indent="-183997" lvl="1">
              <a:lnSpc>
                <a:spcPts val="3272"/>
              </a:lnSpc>
              <a:buFont typeface="Arial"/>
              <a:buChar char="•"/>
            </a:pPr>
            <a:r>
              <a:rPr lang="en-US" b="true" sz="1704">
                <a:solidFill>
                  <a:srgbClr val="364149"/>
                </a:solidFill>
                <a:latin typeface="Aptos Bold"/>
                <a:ea typeface="Aptos Bold"/>
                <a:cs typeface="Aptos Bold"/>
                <a:sym typeface="Aptos Bold"/>
              </a:rPr>
              <a:t>Data Quality Check: Evaluated the dataset for missing values by calculating exact counts and percentages to determine the best handling strategy.</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79400" y="0"/>
                  </a:moveTo>
                  <a:lnTo>
                    <a:pt x="10464800" y="0"/>
                  </a:lnTo>
                  <a:cubicBezTo>
                    <a:pt x="10619108" y="0"/>
                    <a:pt x="10744200" y="125092"/>
                    <a:pt x="10744200" y="279400"/>
                  </a:cubicBezTo>
                  <a:lnTo>
                    <a:pt x="10744200" y="6845300"/>
                  </a:lnTo>
                  <a:cubicBezTo>
                    <a:pt x="10744200" y="6999608"/>
                    <a:pt x="10619108" y="7124700"/>
                    <a:pt x="10464800" y="7124700"/>
                  </a:cubicBezTo>
                  <a:lnTo>
                    <a:pt x="279400" y="7124700"/>
                  </a:lnTo>
                  <a:cubicBezTo>
                    <a:pt x="125092" y="7124700"/>
                    <a:pt x="0" y="6999608"/>
                    <a:pt x="0" y="6845300"/>
                  </a:cubicBezTo>
                  <a:lnTo>
                    <a:pt x="0" y="279400"/>
                  </a:lnTo>
                  <a:cubicBezTo>
                    <a:pt x="0" y="125092"/>
                    <a:pt x="125092" y="0"/>
                    <a:pt x="279400" y="0"/>
                  </a:cubicBezTo>
                  <a:close/>
                </a:path>
              </a:pathLst>
            </a:custGeom>
            <a:blipFill>
              <a:blip r:embed="rId8"/>
              <a:stretch>
                <a:fillRect l="0" t="0" r="-47658" b="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Dat</a:t>
            </a:r>
            <a:r>
              <a:rPr lang="en-US" b="true" sz="2106">
                <a:solidFill>
                  <a:srgbClr val="364149"/>
                </a:solidFill>
                <a:latin typeface="Poppins Bold"/>
                <a:ea typeface="Poppins Bold"/>
                <a:cs typeface="Poppins Bold"/>
                <a:sym typeface="Poppins Bold"/>
              </a:rPr>
              <a:t>a Cleaning and Feature Engineering</a:t>
            </a:r>
          </a:p>
        </p:txBody>
      </p:sp>
      <p:sp>
        <p:nvSpPr>
          <p:cNvPr name="TextBox 21" id="21"/>
          <p:cNvSpPr txBox="true"/>
          <p:nvPr/>
        </p:nvSpPr>
        <p:spPr>
          <a:xfrm rot="0">
            <a:off x="1321807" y="4108585"/>
            <a:ext cx="7170747" cy="3877791"/>
          </a:xfrm>
          <a:prstGeom prst="rect">
            <a:avLst/>
          </a:prstGeom>
        </p:spPr>
        <p:txBody>
          <a:bodyPr anchor="t" rtlCol="false" tIns="0" lIns="0" bIns="0" rIns="0">
            <a:spAutoFit/>
          </a:bodyPr>
          <a:lstStyle/>
          <a:p>
            <a:pPr algn="l" marL="346405" indent="-173202" lvl="1">
              <a:lnSpc>
                <a:spcPts val="3080"/>
              </a:lnSpc>
              <a:buFont typeface="Arial"/>
              <a:buChar char="•"/>
            </a:pPr>
            <a:r>
              <a:rPr lang="en-US" b="true" sz="1604">
                <a:solidFill>
                  <a:srgbClr val="364149"/>
                </a:solidFill>
                <a:latin typeface="Aptos Bold"/>
                <a:ea typeface="Aptos Bold"/>
                <a:cs typeface="Aptos Bold"/>
                <a:sym typeface="Aptos Bold"/>
              </a:rPr>
              <a:t>Da</a:t>
            </a:r>
            <a:r>
              <a:rPr lang="en-US" b="true" sz="1604">
                <a:solidFill>
                  <a:srgbClr val="364149"/>
                </a:solidFill>
                <a:latin typeface="Aptos Bold"/>
                <a:ea typeface="Aptos Bold"/>
                <a:cs typeface="Aptos Bold"/>
                <a:sym typeface="Aptos Bold"/>
              </a:rPr>
              <a:t>ta Type Optimization: Converted year to integers and forced water_value into a numeric format, using errors='coerce' to smoothly handle any format mismatches.</a:t>
            </a:r>
          </a:p>
          <a:p>
            <a:pPr algn="l" marL="346405" indent="-173202" lvl="1">
              <a:lnSpc>
                <a:spcPts val="3080"/>
              </a:lnSpc>
              <a:buFont typeface="Arial"/>
              <a:buChar char="•"/>
            </a:pPr>
            <a:r>
              <a:rPr lang="en-US" b="true" sz="1604">
                <a:solidFill>
                  <a:srgbClr val="364149"/>
                </a:solidFill>
                <a:latin typeface="Aptos Bold"/>
                <a:ea typeface="Aptos Bold"/>
                <a:cs typeface="Aptos Bold"/>
                <a:sym typeface="Aptos Bold"/>
              </a:rPr>
              <a:t>Data Integrity &amp; Consistency: Cleaned the dataset by removing duplicate rows, sorting sequentially by country and year, and resetting the dataframe index.</a:t>
            </a:r>
          </a:p>
          <a:p>
            <a:pPr algn="l" marL="346405" indent="-173202" lvl="1">
              <a:lnSpc>
                <a:spcPts val="3080"/>
              </a:lnSpc>
              <a:buFont typeface="Arial"/>
              <a:buChar char="•"/>
            </a:pPr>
            <a:r>
              <a:rPr lang="en-US" b="true" sz="1604">
                <a:solidFill>
                  <a:srgbClr val="364149"/>
                </a:solidFill>
                <a:latin typeface="Aptos Bold"/>
                <a:ea typeface="Aptos Bold"/>
                <a:cs typeface="Aptos Bold"/>
                <a:sym typeface="Aptos Bold"/>
              </a:rPr>
              <a:t>Feature Engineering: Created a categorical scarcity_level feature using np.selec</a:t>
            </a:r>
            <a:r>
              <a:rPr lang="en-US" b="true" sz="1604">
                <a:solidFill>
                  <a:srgbClr val="364149"/>
                </a:solidFill>
                <a:latin typeface="Aptos Bold"/>
                <a:ea typeface="Aptos Bold"/>
                <a:cs typeface="Aptos Bold"/>
                <a:sym typeface="Aptos Bold"/>
              </a:rPr>
              <a:t>t to classify the data into global environmental tiers (Absolute Scarcity, Scarcity, Stress, and Abundant).</a:t>
            </a:r>
          </a:p>
          <a:p>
            <a:pPr algn="l">
              <a:lnSpc>
                <a:spcPts val="3272"/>
              </a:lnSpc>
            </a:pP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79400" y="0"/>
                  </a:moveTo>
                  <a:lnTo>
                    <a:pt x="10464800" y="0"/>
                  </a:lnTo>
                  <a:cubicBezTo>
                    <a:pt x="10619108" y="0"/>
                    <a:pt x="10744200" y="125092"/>
                    <a:pt x="10744200" y="279400"/>
                  </a:cubicBezTo>
                  <a:lnTo>
                    <a:pt x="10744200" y="6845300"/>
                  </a:lnTo>
                  <a:cubicBezTo>
                    <a:pt x="10744200" y="6999608"/>
                    <a:pt x="10619108" y="7124700"/>
                    <a:pt x="10464800" y="7124700"/>
                  </a:cubicBezTo>
                  <a:lnTo>
                    <a:pt x="279400" y="7124700"/>
                  </a:lnTo>
                  <a:cubicBezTo>
                    <a:pt x="125092" y="7124700"/>
                    <a:pt x="0" y="6999608"/>
                    <a:pt x="0" y="6845300"/>
                  </a:cubicBezTo>
                  <a:lnTo>
                    <a:pt x="0" y="279400"/>
                  </a:lnTo>
                  <a:cubicBezTo>
                    <a:pt x="0" y="125092"/>
                    <a:pt x="125092" y="0"/>
                    <a:pt x="279400" y="0"/>
                  </a:cubicBezTo>
                  <a:close/>
                </a:path>
              </a:pathLst>
            </a:custGeom>
            <a:blipFill>
              <a:blip r:embed="rId8"/>
              <a:stretch>
                <a:fillRect l="0" t="0" r="-67301" b="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378104" y="3690636"/>
            <a:ext cx="7440930" cy="647700"/>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Adv</a:t>
            </a:r>
            <a:r>
              <a:rPr lang="en-US" b="true" sz="2106">
                <a:solidFill>
                  <a:srgbClr val="364149"/>
                </a:solidFill>
                <a:latin typeface="Poppins Bold"/>
                <a:ea typeface="Poppins Bold"/>
                <a:cs typeface="Poppins Bold"/>
                <a:sym typeface="Poppins Bold"/>
              </a:rPr>
              <a:t>anced Analysis and Visualization Setup</a:t>
            </a:r>
          </a:p>
          <a:p>
            <a:pPr algn="l">
              <a:lnSpc>
                <a:spcPts val="2527"/>
              </a:lnSpc>
            </a:pPr>
          </a:p>
        </p:txBody>
      </p:sp>
      <p:sp>
        <p:nvSpPr>
          <p:cNvPr name="TextBox 21" id="21"/>
          <p:cNvSpPr txBox="true"/>
          <p:nvPr/>
        </p:nvSpPr>
        <p:spPr>
          <a:xfrm rot="0">
            <a:off x="1378104" y="4233561"/>
            <a:ext cx="7170747" cy="3415324"/>
          </a:xfrm>
          <a:prstGeom prst="rect">
            <a:avLst/>
          </a:prstGeom>
        </p:spPr>
        <p:txBody>
          <a:bodyPr anchor="t" rtlCol="false" tIns="0" lIns="0" bIns="0" rIns="0">
            <a:spAutoFit/>
          </a:bodyPr>
          <a:lstStyle/>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Ou</a:t>
            </a:r>
            <a:r>
              <a:rPr lang="en-US" b="true" sz="1604">
                <a:solidFill>
                  <a:srgbClr val="364149"/>
                </a:solidFill>
                <a:latin typeface="Aptos Bold"/>
                <a:ea typeface="Aptos Bold"/>
                <a:cs typeface="Aptos Bold"/>
                <a:sym typeface="Aptos Bold"/>
              </a:rPr>
              <a:t>tlier Detection: Used the IQR (Interquartile Range) method, calculating the 25th Q1 and 75th Q3 percentiles of the water_value column to flag statistical outliers outside the (1.5 * IQR) boundaries.</a:t>
            </a:r>
          </a:p>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Dynamic Ranking: Grouped the dataset by year and applied dense ranking to order countries by their water values, establishing a clear annual global benchmark.</a:t>
            </a:r>
          </a:p>
          <a:p>
            <a:pPr algn="l" marL="346404" indent="-173202" lvl="1">
              <a:lnSpc>
                <a:spcPts val="3080"/>
              </a:lnSpc>
              <a:buFont typeface="Arial"/>
              <a:buChar char="•"/>
            </a:pPr>
            <a:r>
              <a:rPr lang="en-US" b="true" sz="1604">
                <a:solidFill>
                  <a:srgbClr val="364149"/>
                </a:solidFill>
                <a:latin typeface="Aptos Bold"/>
                <a:ea typeface="Aptos Bold"/>
                <a:cs typeface="Aptos Bold"/>
                <a:sym typeface="Aptos Bold"/>
              </a:rPr>
              <a:t>Visualization Styling: Imported M</a:t>
            </a:r>
            <a:r>
              <a:rPr lang="en-US" b="true" sz="1604">
                <a:solidFill>
                  <a:srgbClr val="364149"/>
                </a:solidFill>
                <a:latin typeface="Aptos Bold"/>
                <a:ea typeface="Aptos Bold"/>
                <a:cs typeface="Aptos Bold"/>
                <a:sym typeface="Aptos Bold"/>
              </a:rPr>
              <a:t>atplotlib and Seaborn to configure a clean, standardized whitegrid layout with consistent figure sizes and font parameters for all plots.</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79400" y="0"/>
                  </a:moveTo>
                  <a:lnTo>
                    <a:pt x="10464800" y="0"/>
                  </a:lnTo>
                  <a:cubicBezTo>
                    <a:pt x="10619108" y="0"/>
                    <a:pt x="10744200" y="125092"/>
                    <a:pt x="10744200" y="279400"/>
                  </a:cubicBezTo>
                  <a:lnTo>
                    <a:pt x="10744200" y="6845300"/>
                  </a:lnTo>
                  <a:cubicBezTo>
                    <a:pt x="10744200" y="6999608"/>
                    <a:pt x="10619108" y="7124700"/>
                    <a:pt x="10464800" y="7124700"/>
                  </a:cubicBezTo>
                  <a:lnTo>
                    <a:pt x="279400" y="7124700"/>
                  </a:lnTo>
                  <a:cubicBezTo>
                    <a:pt x="125092" y="7124700"/>
                    <a:pt x="0" y="6999608"/>
                    <a:pt x="0" y="6845300"/>
                  </a:cubicBezTo>
                  <a:lnTo>
                    <a:pt x="0" y="279400"/>
                  </a:lnTo>
                  <a:cubicBezTo>
                    <a:pt x="0" y="125092"/>
                    <a:pt x="125092" y="0"/>
                    <a:pt x="279400" y="0"/>
                  </a:cubicBezTo>
                  <a:close/>
                </a:path>
              </a:pathLst>
            </a:custGeom>
            <a:blipFill>
              <a:blip r:embed="rId8"/>
              <a:stretch>
                <a:fillRect l="0" t="0" r="-65030" b="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Dat</a:t>
            </a:r>
            <a:r>
              <a:rPr lang="en-US" b="true" sz="2106">
                <a:solidFill>
                  <a:srgbClr val="364149"/>
                </a:solidFill>
                <a:latin typeface="Poppins Bold"/>
                <a:ea typeface="Poppins Bold"/>
                <a:cs typeface="Poppins Bold"/>
                <a:sym typeface="Poppins Bold"/>
              </a:rPr>
              <a:t>a Visualization and Trend Analysis</a:t>
            </a:r>
          </a:p>
        </p:txBody>
      </p:sp>
      <p:sp>
        <p:nvSpPr>
          <p:cNvPr name="TextBox 21" id="21"/>
          <p:cNvSpPr txBox="true"/>
          <p:nvPr/>
        </p:nvSpPr>
        <p:spPr>
          <a:xfrm rot="0">
            <a:off x="1321807" y="4108585"/>
            <a:ext cx="7170747" cy="3863312"/>
          </a:xfrm>
          <a:prstGeom prst="rect">
            <a:avLst/>
          </a:prstGeom>
        </p:spPr>
        <p:txBody>
          <a:bodyPr anchor="t" rtlCol="false" tIns="0" lIns="0" bIns="0" rIns="0">
            <a:spAutoFit/>
          </a:bodyPr>
          <a:lstStyle/>
          <a:p>
            <a:pPr algn="l" marL="346405" indent="-173202" lvl="1">
              <a:lnSpc>
                <a:spcPts val="3080"/>
              </a:lnSpc>
              <a:buFont typeface="Arial"/>
              <a:buChar char="•"/>
            </a:pPr>
            <a:r>
              <a:rPr lang="en-US" b="true" sz="1604">
                <a:solidFill>
                  <a:srgbClr val="364149"/>
                </a:solidFill>
                <a:latin typeface="Aptos Bold"/>
                <a:ea typeface="Aptos Bold"/>
                <a:cs typeface="Aptos Bold"/>
                <a:sym typeface="Aptos Bold"/>
              </a:rPr>
              <a:t>Gl</a:t>
            </a:r>
            <a:r>
              <a:rPr lang="en-US" b="true" sz="1604">
                <a:solidFill>
                  <a:srgbClr val="364149"/>
                </a:solidFill>
                <a:latin typeface="Aptos Bold"/>
                <a:ea typeface="Aptos Bold"/>
                <a:cs typeface="Aptos Bold"/>
                <a:sym typeface="Aptos Bold"/>
              </a:rPr>
              <a:t>obal Trend Mapping: Grouped historical data by year to calculate the global average of water resources per capita, generating a combined line and area chart to visualize the overall decline over time.</a:t>
            </a:r>
          </a:p>
          <a:p>
            <a:pPr algn="l" marL="346405" indent="-173202" lvl="1">
              <a:lnSpc>
                <a:spcPts val="3080"/>
              </a:lnSpc>
              <a:buFont typeface="Arial"/>
              <a:buChar char="•"/>
            </a:pPr>
            <a:r>
              <a:rPr lang="en-US" b="true" sz="1604">
                <a:solidFill>
                  <a:srgbClr val="364149"/>
                </a:solidFill>
                <a:latin typeface="Aptos Bold"/>
                <a:ea typeface="Aptos Bold"/>
                <a:cs typeface="Aptos Bold"/>
                <a:sym typeface="Aptos Bold"/>
              </a:rPr>
              <a:t>Comparative Extreme Analysis: Isolated the dataset's latest available year to extract and combine the top 5 and bottom 5 countries by water volume into a single subset.</a:t>
            </a:r>
          </a:p>
          <a:p>
            <a:pPr algn="l" marL="346405" indent="-173202" lvl="1">
              <a:lnSpc>
                <a:spcPts val="3080"/>
              </a:lnSpc>
              <a:buFont typeface="Arial"/>
              <a:buChar char="•"/>
            </a:pPr>
            <a:r>
              <a:rPr lang="en-US" b="true" sz="1604">
                <a:solidFill>
                  <a:srgbClr val="364149"/>
                </a:solidFill>
                <a:latin typeface="Aptos Bold"/>
                <a:ea typeface="Aptos Bold"/>
                <a:cs typeface="Aptos Bold"/>
                <a:sym typeface="Aptos Bold"/>
              </a:rPr>
              <a:t>Logarithmic Scale Visualization: Plotted a horizontal bar chart using Seaborn's coolwarm palette, applying a logarithmic x-scale to clearly contrast the extreme g</a:t>
            </a:r>
            <a:r>
              <a:rPr lang="en-US" b="true" sz="1604">
                <a:solidFill>
                  <a:srgbClr val="364149"/>
                </a:solidFill>
                <a:latin typeface="Aptos Bold"/>
                <a:ea typeface="Aptos Bold"/>
                <a:cs typeface="Aptos Bold"/>
                <a:sym typeface="Aptos Bold"/>
              </a:rPr>
              <a:t>ap between the highest and lowest resource-holding nations.</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79400" y="0"/>
                  </a:moveTo>
                  <a:lnTo>
                    <a:pt x="10464800" y="0"/>
                  </a:lnTo>
                  <a:cubicBezTo>
                    <a:pt x="10619108" y="0"/>
                    <a:pt x="10744200" y="125092"/>
                    <a:pt x="10744200" y="279400"/>
                  </a:cubicBezTo>
                  <a:lnTo>
                    <a:pt x="10744200" y="6845300"/>
                  </a:lnTo>
                  <a:cubicBezTo>
                    <a:pt x="10744200" y="6999608"/>
                    <a:pt x="10619108" y="7124700"/>
                    <a:pt x="10464800" y="7124700"/>
                  </a:cubicBezTo>
                  <a:lnTo>
                    <a:pt x="279400" y="7124700"/>
                  </a:lnTo>
                  <a:cubicBezTo>
                    <a:pt x="125092" y="7124700"/>
                    <a:pt x="0" y="6999608"/>
                    <a:pt x="0" y="6845300"/>
                  </a:cubicBezTo>
                  <a:lnTo>
                    <a:pt x="0" y="279400"/>
                  </a:lnTo>
                  <a:cubicBezTo>
                    <a:pt x="0" y="125092"/>
                    <a:pt x="125092" y="0"/>
                    <a:pt x="279400" y="0"/>
                  </a:cubicBezTo>
                  <a:close/>
                </a:path>
              </a:pathLst>
            </a:custGeom>
            <a:blipFill>
              <a:blip r:embed="rId8"/>
              <a:stretch>
                <a:fillRect l="0" t="0" r="-57205" b="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Heatmap and C</a:t>
            </a:r>
            <a:r>
              <a:rPr lang="en-US" b="true" sz="2106">
                <a:solidFill>
                  <a:srgbClr val="364149"/>
                </a:solidFill>
                <a:latin typeface="Poppins Bold"/>
                <a:ea typeface="Poppins Bold"/>
                <a:cs typeface="Poppins Bold"/>
                <a:sym typeface="Poppins Bold"/>
              </a:rPr>
              <a:t>orrelation Analysis</a:t>
            </a:r>
          </a:p>
        </p:txBody>
      </p:sp>
      <p:sp>
        <p:nvSpPr>
          <p:cNvPr name="TextBox 21" id="21"/>
          <p:cNvSpPr txBox="true"/>
          <p:nvPr/>
        </p:nvSpPr>
        <p:spPr>
          <a:xfrm rot="0">
            <a:off x="1338888" y="4209153"/>
            <a:ext cx="7345055" cy="3735661"/>
          </a:xfrm>
          <a:prstGeom prst="rect">
            <a:avLst/>
          </a:prstGeom>
        </p:spPr>
        <p:txBody>
          <a:bodyPr anchor="t" rtlCol="false" tIns="0" lIns="0" bIns="0" rIns="0">
            <a:spAutoFit/>
          </a:bodyPr>
          <a:lstStyle/>
          <a:p>
            <a:pPr algn="l" marL="377930" indent="-188965" lvl="1">
              <a:lnSpc>
                <a:spcPts val="3360"/>
              </a:lnSpc>
              <a:buFont typeface="Arial"/>
              <a:buChar char="•"/>
            </a:pPr>
            <a:r>
              <a:rPr lang="en-US" b="true" sz="1750">
                <a:solidFill>
                  <a:srgbClr val="364149"/>
                </a:solidFill>
                <a:latin typeface="Aptos Bold"/>
                <a:ea typeface="Aptos Bold"/>
                <a:cs typeface="Aptos Bold"/>
                <a:sym typeface="Aptos Bold"/>
              </a:rPr>
              <a:t>H</a:t>
            </a:r>
            <a:r>
              <a:rPr lang="en-US" b="true" sz="1750">
                <a:solidFill>
                  <a:srgbClr val="364149"/>
                </a:solidFill>
                <a:latin typeface="Aptos Bold"/>
                <a:ea typeface="Aptos Bold"/>
                <a:cs typeface="Aptos Bold"/>
                <a:sym typeface="Aptos Bold"/>
              </a:rPr>
              <a:t>eatmap of Scarcity Levels: Filtered the dataset for the first 10 unique countries.</a:t>
            </a:r>
          </a:p>
          <a:p>
            <a:pPr algn="l" marL="377930" indent="-188965" lvl="1">
              <a:lnSpc>
                <a:spcPts val="3360"/>
              </a:lnSpc>
              <a:buFont typeface="Arial"/>
              <a:buChar char="•"/>
            </a:pPr>
            <a:r>
              <a:rPr lang="en-US" b="true" sz="1750">
                <a:solidFill>
                  <a:srgbClr val="364149"/>
                </a:solidFill>
                <a:latin typeface="Aptos Bold"/>
                <a:ea typeface="Aptos Bold"/>
                <a:cs typeface="Aptos Bold"/>
                <a:sym typeface="Aptos Bold"/>
              </a:rPr>
              <a:t>Created a pivot table indexed by country with years as columns.</a:t>
            </a:r>
          </a:p>
          <a:p>
            <a:pPr algn="l" marL="377930" indent="-188965" lvl="1">
              <a:lnSpc>
                <a:spcPts val="3360"/>
              </a:lnSpc>
              <a:buFont typeface="Arial"/>
              <a:buChar char="•"/>
            </a:pPr>
            <a:r>
              <a:rPr lang="en-US" b="true" sz="1750">
                <a:solidFill>
                  <a:srgbClr val="364149"/>
                </a:solidFill>
                <a:latin typeface="Aptos Bold"/>
                <a:ea typeface="Aptos Bold"/>
                <a:cs typeface="Aptos Bold"/>
                <a:sym typeface="Aptos Bold"/>
              </a:rPr>
              <a:t>Generated a Seaborn heatmap using the RdYlGn colormap to visualize the evolution of water resource values over time.</a:t>
            </a:r>
          </a:p>
          <a:p>
            <a:pPr algn="l" marL="377930" indent="-188965" lvl="1">
              <a:lnSpc>
                <a:spcPts val="3360"/>
              </a:lnSpc>
              <a:buFont typeface="Arial"/>
              <a:buChar char="•"/>
            </a:pPr>
            <a:r>
              <a:rPr lang="en-US" b="true" sz="1750">
                <a:solidFill>
                  <a:srgbClr val="364149"/>
                </a:solidFill>
                <a:latin typeface="Aptos Bold"/>
                <a:ea typeface="Aptos Bold"/>
                <a:cs typeface="Aptos Bold"/>
                <a:sym typeface="Aptos Bold"/>
              </a:rPr>
              <a:t>C</a:t>
            </a:r>
            <a:r>
              <a:rPr lang="en-US" b="true" sz="1750">
                <a:solidFill>
                  <a:srgbClr val="364149"/>
                </a:solidFill>
                <a:latin typeface="Aptos Bold"/>
                <a:ea typeface="Aptos Bold"/>
                <a:cs typeface="Aptos Bold"/>
                <a:sym typeface="Aptos Bold"/>
              </a:rPr>
              <a:t>orrelation Matrix: Calculated correlation coefficients between the Year, Water Value, and World Rank metrics.</a:t>
            </a:r>
          </a:p>
          <a:p>
            <a:pPr algn="l" marL="377930" indent="-188965" lvl="1">
              <a:lnSpc>
                <a:spcPts val="3360"/>
              </a:lnSpc>
              <a:buFont typeface="Arial"/>
              <a:buChar char="•"/>
            </a:pPr>
            <a:r>
              <a:rPr lang="en-US" b="true" sz="1750">
                <a:solidFill>
                  <a:srgbClr val="364149"/>
                </a:solidFill>
                <a:latin typeface="Aptos Bold"/>
                <a:ea typeface="Aptos Bold"/>
                <a:cs typeface="Aptos Bold"/>
                <a:sym typeface="Aptos Bold"/>
              </a:rPr>
              <a:t>Plotted an annotated heatmap using the Blues colormap with a two-decimal float format to display the statistical relationships.</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304800" y="0"/>
                  </a:moveTo>
                  <a:lnTo>
                    <a:pt x="10439400" y="0"/>
                  </a:lnTo>
                  <a:cubicBezTo>
                    <a:pt x="10607736" y="0"/>
                    <a:pt x="10744200" y="136464"/>
                    <a:pt x="10744200" y="304800"/>
                  </a:cubicBezTo>
                  <a:lnTo>
                    <a:pt x="10744200" y="6819900"/>
                  </a:lnTo>
                  <a:cubicBezTo>
                    <a:pt x="10744200" y="6988236"/>
                    <a:pt x="10607736" y="7124700"/>
                    <a:pt x="10439400" y="7124700"/>
                  </a:cubicBezTo>
                  <a:lnTo>
                    <a:pt x="304800" y="7124700"/>
                  </a:lnTo>
                  <a:cubicBezTo>
                    <a:pt x="136464" y="7124700"/>
                    <a:pt x="0" y="6988236"/>
                    <a:pt x="0" y="6819900"/>
                  </a:cubicBezTo>
                  <a:lnTo>
                    <a:pt x="0" y="304800"/>
                  </a:lnTo>
                  <a:cubicBezTo>
                    <a:pt x="0" y="136464"/>
                    <a:pt x="136464" y="0"/>
                    <a:pt x="304800" y="0"/>
                  </a:cubicBezTo>
                  <a:close/>
                </a:path>
              </a:pathLst>
            </a:custGeom>
            <a:blipFill>
              <a:blip r:embed="rId8"/>
              <a:stretch>
                <a:fillRect l="-7142" t="0" r="-97382" b="-94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Wate</a:t>
            </a:r>
            <a:r>
              <a:rPr lang="en-US" b="true" sz="2106">
                <a:solidFill>
                  <a:srgbClr val="364149"/>
                </a:solidFill>
                <a:latin typeface="Poppins Bold"/>
                <a:ea typeface="Poppins Bold"/>
                <a:cs typeface="Poppins Bold"/>
                <a:sym typeface="Poppins Bold"/>
              </a:rPr>
              <a:t>r Scarcity Segmentation and Export</a:t>
            </a:r>
          </a:p>
        </p:txBody>
      </p:sp>
      <p:sp>
        <p:nvSpPr>
          <p:cNvPr name="TextBox 21" id="21"/>
          <p:cNvSpPr txBox="true"/>
          <p:nvPr/>
        </p:nvSpPr>
        <p:spPr>
          <a:xfrm rot="0">
            <a:off x="1243012" y="4125050"/>
            <a:ext cx="7440930" cy="4154805"/>
          </a:xfrm>
          <a:prstGeom prst="rect">
            <a:avLst/>
          </a:prstGeom>
        </p:spPr>
        <p:txBody>
          <a:bodyPr anchor="t" rtlCol="false" tIns="0" lIns="0" bIns="0" rIns="0">
            <a:spAutoFit/>
          </a:bodyPr>
          <a:lstStyle/>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W</a:t>
            </a:r>
            <a:r>
              <a:rPr lang="en-US" b="true" sz="1749">
                <a:solidFill>
                  <a:srgbClr val="364149"/>
                </a:solidFill>
                <a:latin typeface="Aptos Bold"/>
                <a:ea typeface="Aptos Bold"/>
                <a:cs typeface="Aptos Bold"/>
                <a:sym typeface="Aptos Bold"/>
              </a:rPr>
              <a:t>ater Scarcity Categories: Applied a structured set of conditions based on water values using np.select to create a new classification column (scarcity_status) ranging from "Absolute Scarcity" to "Abundant".</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Time Segmentation: Engineered a new feature named period by performing floor division on the year column to group the temporal observations into 10-year decade blocks.</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Final Save and Export: Saved the fully processed dataset as a CSV file named water_resources_final_analysis.csv, omitting the DataFrame index to ensure a clean data structure.</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79400" y="0"/>
                  </a:moveTo>
                  <a:lnTo>
                    <a:pt x="10464800" y="0"/>
                  </a:lnTo>
                  <a:cubicBezTo>
                    <a:pt x="10619108" y="0"/>
                    <a:pt x="10744200" y="125092"/>
                    <a:pt x="10744200" y="279400"/>
                  </a:cubicBezTo>
                  <a:lnTo>
                    <a:pt x="10744200" y="6845300"/>
                  </a:lnTo>
                  <a:cubicBezTo>
                    <a:pt x="10744200" y="6999608"/>
                    <a:pt x="10619108" y="7124700"/>
                    <a:pt x="10464800" y="7124700"/>
                  </a:cubicBezTo>
                  <a:lnTo>
                    <a:pt x="279400" y="7124700"/>
                  </a:lnTo>
                  <a:cubicBezTo>
                    <a:pt x="125092" y="7124700"/>
                    <a:pt x="0" y="6999608"/>
                    <a:pt x="0" y="6845300"/>
                  </a:cubicBezTo>
                  <a:lnTo>
                    <a:pt x="0" y="279400"/>
                  </a:lnTo>
                  <a:cubicBezTo>
                    <a:pt x="0" y="125092"/>
                    <a:pt x="125092" y="0"/>
                    <a:pt x="279400" y="0"/>
                  </a:cubicBezTo>
                  <a:close/>
                </a:path>
              </a:pathLst>
            </a:custGeom>
            <a:blipFill>
              <a:blip r:embed="rId8"/>
              <a:stretch>
                <a:fillRect l="-4143" t="-674" r="-82240" b="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Data Cle</a:t>
            </a:r>
            <a:r>
              <a:rPr lang="en-US" b="true" sz="2106">
                <a:solidFill>
                  <a:srgbClr val="364149"/>
                </a:solidFill>
                <a:latin typeface="Poppins Bold"/>
                <a:ea typeface="Poppins Bold"/>
                <a:cs typeface="Poppins Bold"/>
                <a:sym typeface="Poppins Bold"/>
              </a:rPr>
              <a:t>aning &amp; Investigation</a:t>
            </a:r>
          </a:p>
        </p:txBody>
      </p:sp>
      <p:sp>
        <p:nvSpPr>
          <p:cNvPr name="TextBox 21" id="21"/>
          <p:cNvSpPr txBox="true"/>
          <p:nvPr/>
        </p:nvSpPr>
        <p:spPr>
          <a:xfrm rot="0">
            <a:off x="1243012" y="4125050"/>
            <a:ext cx="7440930" cy="1745361"/>
          </a:xfrm>
          <a:prstGeom prst="rect">
            <a:avLst/>
          </a:prstGeom>
        </p:spPr>
        <p:txBody>
          <a:bodyPr anchor="t" rtlCol="false" tIns="0" lIns="0" bIns="0" rIns="0">
            <a:spAutoFit/>
          </a:bodyPr>
          <a:lstStyle/>
          <a:p>
            <a:pPr algn="l" marL="399414" indent="-199707" lvl="1">
              <a:lnSpc>
                <a:spcPts val="3551"/>
              </a:lnSpc>
              <a:buFont typeface="Arial"/>
              <a:buChar char="•"/>
            </a:pPr>
            <a:r>
              <a:rPr lang="en-US" b="true" sz="1849">
                <a:solidFill>
                  <a:srgbClr val="364149"/>
                </a:solidFill>
                <a:latin typeface="Aptos Bold"/>
                <a:ea typeface="Aptos Bold"/>
                <a:cs typeface="Aptos Bold"/>
                <a:sym typeface="Aptos Bold"/>
              </a:rPr>
              <a:t>No Missing Values: Confirmed there are zero missing values across the entire dataset.</a:t>
            </a:r>
          </a:p>
          <a:p>
            <a:pPr algn="l" marL="399414" indent="-199707" lvl="1">
              <a:lnSpc>
                <a:spcPts val="3551"/>
              </a:lnSpc>
              <a:buFont typeface="Arial"/>
              <a:buChar char="•"/>
            </a:pPr>
            <a:r>
              <a:rPr lang="en-US" b="true" sz="1849">
                <a:solidFill>
                  <a:srgbClr val="364149"/>
                </a:solidFill>
                <a:latin typeface="Aptos Bold"/>
                <a:ea typeface="Aptos Bold"/>
                <a:cs typeface="Aptos Bold"/>
                <a:sym typeface="Aptos Bold"/>
              </a:rPr>
              <a:t>No Duplicate Rows: Verified the absence of duplicate rows, reporting 0 duplicates for clean baseline data.</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79400" y="0"/>
                  </a:moveTo>
                  <a:lnTo>
                    <a:pt x="10464800" y="0"/>
                  </a:lnTo>
                  <a:cubicBezTo>
                    <a:pt x="10619108" y="0"/>
                    <a:pt x="10744200" y="125092"/>
                    <a:pt x="10744200" y="279400"/>
                  </a:cubicBezTo>
                  <a:lnTo>
                    <a:pt x="10744200" y="6845300"/>
                  </a:lnTo>
                  <a:cubicBezTo>
                    <a:pt x="10744200" y="6999608"/>
                    <a:pt x="10619108" y="7124700"/>
                    <a:pt x="10464800" y="7124700"/>
                  </a:cubicBezTo>
                  <a:lnTo>
                    <a:pt x="279400" y="7124700"/>
                  </a:lnTo>
                  <a:cubicBezTo>
                    <a:pt x="125092" y="7124700"/>
                    <a:pt x="0" y="6999608"/>
                    <a:pt x="0" y="6845300"/>
                  </a:cubicBezTo>
                  <a:lnTo>
                    <a:pt x="0" y="279400"/>
                  </a:lnTo>
                  <a:cubicBezTo>
                    <a:pt x="0" y="125092"/>
                    <a:pt x="125092" y="0"/>
                    <a:pt x="279400" y="0"/>
                  </a:cubicBezTo>
                  <a:close/>
                </a:path>
              </a:pathLst>
            </a:custGeom>
            <a:blipFill>
              <a:blip r:embed="rId8"/>
              <a:stretch>
                <a:fillRect l="0" t="-8675" r="0" b="-8675"/>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Featu</a:t>
            </a:r>
            <a:r>
              <a:rPr lang="en-US" b="true" sz="2106">
                <a:solidFill>
                  <a:srgbClr val="364149"/>
                </a:solidFill>
                <a:latin typeface="Poppins Bold"/>
                <a:ea typeface="Poppins Bold"/>
                <a:cs typeface="Poppins Bold"/>
                <a:sym typeface="Poppins Bold"/>
              </a:rPr>
              <a:t>re Engineering</a:t>
            </a:r>
          </a:p>
        </p:txBody>
      </p:sp>
      <p:sp>
        <p:nvSpPr>
          <p:cNvPr name="TextBox 21" id="21"/>
          <p:cNvSpPr txBox="true"/>
          <p:nvPr/>
        </p:nvSpPr>
        <p:spPr>
          <a:xfrm rot="0">
            <a:off x="1243013" y="3941121"/>
            <a:ext cx="7440930" cy="4644199"/>
          </a:xfrm>
          <a:prstGeom prst="rect">
            <a:avLst/>
          </a:prstGeom>
        </p:spPr>
        <p:txBody>
          <a:bodyPr anchor="t" rtlCol="false" tIns="0" lIns="0" bIns="0" rIns="0">
            <a:spAutoFit/>
          </a:bodyPr>
          <a:lstStyle/>
          <a:p>
            <a:pPr algn="l">
              <a:lnSpc>
                <a:spcPts val="3084"/>
              </a:lnSpc>
            </a:pPr>
            <a:r>
              <a:rPr lang="en-US" sz="1606" b="true">
                <a:solidFill>
                  <a:srgbClr val="364149"/>
                </a:solidFill>
                <a:latin typeface="Aptos Bold"/>
                <a:ea typeface="Aptos Bold"/>
                <a:cs typeface="Aptos Bold"/>
                <a:sym typeface="Aptos Bold"/>
              </a:rPr>
              <a:t>To</a:t>
            </a:r>
            <a:r>
              <a:rPr lang="en-US" sz="1606" b="true">
                <a:solidFill>
                  <a:srgbClr val="364149"/>
                </a:solidFill>
                <a:latin typeface="Aptos Bold"/>
                <a:ea typeface="Aptos Bold"/>
                <a:cs typeface="Aptos Bold"/>
                <a:sym typeface="Aptos Bold"/>
              </a:rPr>
              <a:t>tal Nutrients: Created a Total_Nutrients column by summing N, P, and K values.</a:t>
            </a:r>
          </a:p>
          <a:p>
            <a:pPr algn="l" marL="346792" indent="-173396" lvl="1">
              <a:lnSpc>
                <a:spcPts val="3084"/>
              </a:lnSpc>
              <a:buFont typeface="Arial"/>
              <a:buChar char="•"/>
            </a:pPr>
            <a:r>
              <a:rPr lang="en-US" b="true" sz="1606">
                <a:solidFill>
                  <a:srgbClr val="364149"/>
                </a:solidFill>
                <a:latin typeface="Aptos Bold"/>
                <a:ea typeface="Aptos Bold"/>
                <a:cs typeface="Aptos Bold"/>
                <a:sym typeface="Aptos Bold"/>
              </a:rPr>
              <a:t>Nutrient Ratios: Computed N_P_Ratio, N_K_Ratio, and P_K_Ratio (using an epsilon value to prevent division by zero).</a:t>
            </a:r>
          </a:p>
          <a:p>
            <a:pPr algn="l" marL="346792" indent="-173396" lvl="1">
              <a:lnSpc>
                <a:spcPts val="3084"/>
              </a:lnSpc>
              <a:buFont typeface="Arial"/>
              <a:buChar char="•"/>
            </a:pPr>
            <a:r>
              <a:rPr lang="en-US" b="true" sz="1606">
                <a:solidFill>
                  <a:srgbClr val="364149"/>
                </a:solidFill>
                <a:latin typeface="Aptos Bold"/>
                <a:ea typeface="Aptos Bold"/>
                <a:cs typeface="Aptos Bold"/>
                <a:sym typeface="Aptos Bold"/>
              </a:rPr>
              <a:t>Moisture Index: Divided rainfall by temperature to reflect the temperature-rainfall ratio.</a:t>
            </a:r>
          </a:p>
          <a:p>
            <a:pPr algn="l" marL="346792" indent="-173396" lvl="1">
              <a:lnSpc>
                <a:spcPts val="3084"/>
              </a:lnSpc>
              <a:buFont typeface="Arial"/>
              <a:buChar char="•"/>
            </a:pPr>
            <a:r>
              <a:rPr lang="en-US" b="true" sz="1606">
                <a:solidFill>
                  <a:srgbClr val="364149"/>
                </a:solidFill>
                <a:latin typeface="Aptos Bold"/>
                <a:ea typeface="Aptos Bold"/>
                <a:cs typeface="Aptos Bold"/>
                <a:sym typeface="Aptos Bold"/>
              </a:rPr>
              <a:t>Soil pH Categorization: Classed pH values into 'Acidic' (&lt; 6.0), 'Neutral' (6.0 - 7.5), or 'Alkaline' (&gt; 7.5).</a:t>
            </a:r>
          </a:p>
          <a:p>
            <a:pPr algn="l" marL="346792" indent="-173396" lvl="1">
              <a:lnSpc>
                <a:spcPts val="3084"/>
              </a:lnSpc>
              <a:buFont typeface="Arial"/>
              <a:buChar char="•"/>
            </a:pPr>
            <a:r>
              <a:rPr lang="en-US" b="true" sz="1606">
                <a:solidFill>
                  <a:srgbClr val="364149"/>
                </a:solidFill>
                <a:latin typeface="Aptos Bold"/>
                <a:ea typeface="Aptos Bold"/>
                <a:cs typeface="Aptos Bold"/>
                <a:sym typeface="Aptos Bold"/>
              </a:rPr>
              <a:t>Temperature-Humidity Index (THI): Calculated using the formula: temperature + (0.55 * humidity).</a:t>
            </a:r>
          </a:p>
          <a:p>
            <a:pPr algn="l" marL="346792" indent="-173396" lvl="1">
              <a:lnSpc>
                <a:spcPts val="3084"/>
              </a:lnSpc>
              <a:buFont typeface="Arial"/>
              <a:buChar char="•"/>
            </a:pPr>
            <a:r>
              <a:rPr lang="en-US" b="true" sz="1606">
                <a:solidFill>
                  <a:srgbClr val="364149"/>
                </a:solidFill>
                <a:latin typeface="Aptos Bold"/>
                <a:ea typeface="Aptos Bold"/>
                <a:cs typeface="Aptos Bold"/>
                <a:sym typeface="Aptos Bold"/>
              </a:rPr>
              <a:t>Nutrient-to-Water Ratio: Divided Total_Nutrients by rainfall to track nutrient-water balance.</a:t>
            </a:r>
          </a:p>
        </p:txBody>
      </p:sp>
      <p:grpSp>
        <p:nvGrpSpPr>
          <p:cNvPr name="Group 22" id="22"/>
          <p:cNvGrpSpPr/>
          <p:nvPr/>
        </p:nvGrpSpPr>
        <p:grpSpPr>
          <a:xfrm rot="0">
            <a:off x="9472612" y="3278981"/>
            <a:ext cx="8058150" cy="5510060"/>
            <a:chOff x="0" y="0"/>
            <a:chExt cx="10744200" cy="7346747"/>
          </a:xfrm>
        </p:grpSpPr>
        <p:sp>
          <p:nvSpPr>
            <p:cNvPr name="Freeform 23" id="23"/>
            <p:cNvSpPr/>
            <p:nvPr/>
          </p:nvSpPr>
          <p:spPr>
            <a:xfrm flipH="false" flipV="false" rot="0">
              <a:off x="0" y="0"/>
              <a:ext cx="10744200" cy="7346747"/>
            </a:xfrm>
            <a:custGeom>
              <a:avLst/>
              <a:gdLst/>
              <a:ahLst/>
              <a:cxnLst/>
              <a:rect r="r" b="b" t="t" l="l"/>
              <a:pathLst>
                <a:path h="7346747" w="10744200">
                  <a:moveTo>
                    <a:pt x="279400" y="0"/>
                  </a:moveTo>
                  <a:lnTo>
                    <a:pt x="10464800" y="0"/>
                  </a:lnTo>
                  <a:cubicBezTo>
                    <a:pt x="10619108" y="0"/>
                    <a:pt x="10744200" y="125092"/>
                    <a:pt x="10744200" y="279400"/>
                  </a:cubicBezTo>
                  <a:lnTo>
                    <a:pt x="10744200" y="7067347"/>
                  </a:lnTo>
                  <a:cubicBezTo>
                    <a:pt x="10744200" y="7141449"/>
                    <a:pt x="10714763" y="7212515"/>
                    <a:pt x="10662365" y="7264912"/>
                  </a:cubicBezTo>
                  <a:cubicBezTo>
                    <a:pt x="10609968" y="7317310"/>
                    <a:pt x="10538902" y="7346747"/>
                    <a:pt x="10464800" y="7346747"/>
                  </a:cubicBezTo>
                  <a:lnTo>
                    <a:pt x="279400" y="7346747"/>
                  </a:lnTo>
                  <a:cubicBezTo>
                    <a:pt x="125092" y="7346747"/>
                    <a:pt x="0" y="7221655"/>
                    <a:pt x="0" y="7067347"/>
                  </a:cubicBezTo>
                  <a:lnTo>
                    <a:pt x="0" y="279400"/>
                  </a:lnTo>
                  <a:cubicBezTo>
                    <a:pt x="0" y="125092"/>
                    <a:pt x="125092" y="0"/>
                    <a:pt x="279400" y="0"/>
                  </a:cubicBezTo>
                  <a:close/>
                </a:path>
              </a:pathLst>
            </a:custGeom>
            <a:blipFill>
              <a:blip r:embed="rId8"/>
              <a:stretch>
                <a:fillRect l="0" t="-786" r="0" b="-786"/>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584604" y="6440937"/>
            <a:ext cx="16982314" cy="3247088"/>
            <a:chOff x="0" y="0"/>
            <a:chExt cx="22643086" cy="4329450"/>
          </a:xfrm>
        </p:grpSpPr>
        <p:sp>
          <p:nvSpPr>
            <p:cNvPr name="Freeform 9" id="9" descr="image.png"/>
            <p:cNvSpPr/>
            <p:nvPr/>
          </p:nvSpPr>
          <p:spPr>
            <a:xfrm flipH="false" flipV="false" rot="0">
              <a:off x="0" y="0"/>
              <a:ext cx="22643086" cy="4329463"/>
            </a:xfrm>
            <a:custGeom>
              <a:avLst/>
              <a:gdLst/>
              <a:ahLst/>
              <a:cxnLst/>
              <a:rect r="r" b="b" t="t" l="l"/>
              <a:pathLst>
                <a:path h="4329463" w="22643086">
                  <a:moveTo>
                    <a:pt x="0" y="0"/>
                  </a:moveTo>
                  <a:lnTo>
                    <a:pt x="22643086" y="0"/>
                  </a:lnTo>
                  <a:lnTo>
                    <a:pt x="22643086" y="4329463"/>
                  </a:lnTo>
                  <a:lnTo>
                    <a:pt x="0" y="4329463"/>
                  </a:lnTo>
                  <a:lnTo>
                    <a:pt x="0" y="0"/>
                  </a:lnTo>
                  <a:close/>
                </a:path>
              </a:pathLst>
            </a:custGeom>
            <a:blipFill>
              <a:blip r:embed="rId4"/>
              <a:stretch>
                <a:fillRect l="0" t="-132276" r="0" b="-133823"/>
              </a:stretch>
            </a:blipFill>
          </p:spPr>
        </p:sp>
      </p:grpSp>
      <p:grpSp>
        <p:nvGrpSpPr>
          <p:cNvPr name="Group 10" id="10"/>
          <p:cNvGrpSpPr/>
          <p:nvPr/>
        </p:nvGrpSpPr>
        <p:grpSpPr>
          <a:xfrm rot="0">
            <a:off x="3249221" y="2217356"/>
            <a:ext cx="11775887" cy="4004209"/>
            <a:chOff x="0" y="0"/>
            <a:chExt cx="21289008" cy="7239000"/>
          </a:xfrm>
        </p:grpSpPr>
        <p:sp>
          <p:nvSpPr>
            <p:cNvPr name="Freeform 11" id="11" descr="image.png"/>
            <p:cNvSpPr/>
            <p:nvPr/>
          </p:nvSpPr>
          <p:spPr>
            <a:xfrm flipH="false" flipV="false" rot="0">
              <a:off x="0" y="0"/>
              <a:ext cx="21289008" cy="7239000"/>
            </a:xfrm>
            <a:custGeom>
              <a:avLst/>
              <a:gdLst/>
              <a:ahLst/>
              <a:cxnLst/>
              <a:rect r="r" b="b" t="t" l="l"/>
              <a:pathLst>
                <a:path h="7239000" w="21289008">
                  <a:moveTo>
                    <a:pt x="0" y="0"/>
                  </a:moveTo>
                  <a:lnTo>
                    <a:pt x="21289008" y="0"/>
                  </a:lnTo>
                  <a:lnTo>
                    <a:pt x="21289008" y="7239000"/>
                  </a:lnTo>
                  <a:lnTo>
                    <a:pt x="0" y="7239000"/>
                  </a:lnTo>
                  <a:lnTo>
                    <a:pt x="0" y="0"/>
                  </a:lnTo>
                  <a:close/>
                </a:path>
              </a:pathLst>
            </a:custGeom>
            <a:blipFill>
              <a:blip r:embed="rId5"/>
              <a:stretch>
                <a:fillRect l="0" t="-48029" r="0" b="-48545"/>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Data Cleaning Framework</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Python Pandas Imputation Pipeline</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071562" y="6678765"/>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Explorato</a:t>
            </a:r>
            <a:r>
              <a:rPr lang="en-US" b="true" sz="2106">
                <a:solidFill>
                  <a:srgbClr val="364149"/>
                </a:solidFill>
                <a:latin typeface="Poppins Bold"/>
                <a:ea typeface="Poppins Bold"/>
                <a:cs typeface="Poppins Bold"/>
                <a:sym typeface="Poppins Bold"/>
              </a:rPr>
              <a:t>ry Data Analysis (EDA)</a:t>
            </a:r>
          </a:p>
        </p:txBody>
      </p:sp>
      <p:sp>
        <p:nvSpPr>
          <p:cNvPr name="TextBox 21" id="21"/>
          <p:cNvSpPr txBox="true"/>
          <p:nvPr/>
        </p:nvSpPr>
        <p:spPr>
          <a:xfrm rot="0">
            <a:off x="1210638" y="7198995"/>
            <a:ext cx="15730244" cy="2059305"/>
          </a:xfrm>
          <a:prstGeom prst="rect">
            <a:avLst/>
          </a:prstGeom>
        </p:spPr>
        <p:txBody>
          <a:bodyPr anchor="t" rtlCol="false" tIns="0" lIns="0" bIns="0" rIns="0">
            <a:spAutoFit/>
          </a:bodyPr>
          <a:lstStyle/>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Num</a:t>
            </a:r>
            <a:r>
              <a:rPr lang="en-US" b="true" sz="1749">
                <a:solidFill>
                  <a:srgbClr val="364149"/>
                </a:solidFill>
                <a:latin typeface="Aptos Bold"/>
                <a:ea typeface="Aptos Bold"/>
                <a:cs typeface="Aptos Bold"/>
                <a:sym typeface="Aptos Bold"/>
              </a:rPr>
              <a:t>erical Distributions: Visualized the distributions of all numerical columns using a 4x4 histogram grid.</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Correlation Heatmap: Highlighted a very high correlation (0.94) between humidity and THI, showing humidity's strong influence.</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Outlier Checking: Analyzed the dataset to identify any outstanding data outliers.</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Top 5 Nutrient Requirements: Grouped mean N, P, and K values by crop type, and used bar plots to visualize the top 5 crops requiring the highest amounts of each nutrient.</a:t>
            </a:r>
          </a:p>
        </p:txBody>
      </p:sp>
      <p:grpSp>
        <p:nvGrpSpPr>
          <p:cNvPr name="Group 22" id="22"/>
          <p:cNvGrpSpPr/>
          <p:nvPr/>
        </p:nvGrpSpPr>
        <p:grpSpPr>
          <a:xfrm rot="0">
            <a:off x="3126414" y="2209810"/>
            <a:ext cx="11898694" cy="4011755"/>
            <a:chOff x="0" y="0"/>
            <a:chExt cx="22852141" cy="7704811"/>
          </a:xfrm>
        </p:grpSpPr>
        <p:sp>
          <p:nvSpPr>
            <p:cNvPr name="Freeform 23" id="23"/>
            <p:cNvSpPr/>
            <p:nvPr/>
          </p:nvSpPr>
          <p:spPr>
            <a:xfrm flipH="false" flipV="false" rot="0">
              <a:off x="0" y="0"/>
              <a:ext cx="22852142" cy="7704811"/>
            </a:xfrm>
            <a:custGeom>
              <a:avLst/>
              <a:gdLst/>
              <a:ahLst/>
              <a:cxnLst/>
              <a:rect r="r" b="b" t="t" l="l"/>
              <a:pathLst>
                <a:path h="7704811" w="22852142">
                  <a:moveTo>
                    <a:pt x="0" y="0"/>
                  </a:moveTo>
                  <a:lnTo>
                    <a:pt x="22852142" y="0"/>
                  </a:lnTo>
                  <a:lnTo>
                    <a:pt x="22852142" y="7704811"/>
                  </a:lnTo>
                  <a:lnTo>
                    <a:pt x="0" y="7704811"/>
                  </a:lnTo>
                  <a:lnTo>
                    <a:pt x="0" y="0"/>
                  </a:lnTo>
                  <a:close/>
                </a:path>
              </a:pathLst>
            </a:custGeom>
            <a:blipFill>
              <a:blip r:embed="rId8"/>
              <a:stretch>
                <a:fillRect l="0" t="-41" r="0" b="-6194"/>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884857"/>
            <a:ext cx="16859250" cy="428625"/>
            <a:chOff x="0" y="0"/>
            <a:chExt cx="22479000" cy="571500"/>
          </a:xfrm>
        </p:grpSpPr>
        <p:sp>
          <p:nvSpPr>
            <p:cNvPr name="Freeform 9" id="9" descr="image.png"/>
            <p:cNvSpPr/>
            <p:nvPr/>
          </p:nvSpPr>
          <p:spPr>
            <a:xfrm flipH="false" flipV="false" rot="0">
              <a:off x="0" y="0"/>
              <a:ext cx="22479000" cy="571500"/>
            </a:xfrm>
            <a:custGeom>
              <a:avLst/>
              <a:gdLst/>
              <a:ahLst/>
              <a:cxnLst/>
              <a:rect r="r" b="b" t="t" l="l"/>
              <a:pathLst>
                <a:path h="571500" w="22479000">
                  <a:moveTo>
                    <a:pt x="0" y="0"/>
                  </a:moveTo>
                  <a:lnTo>
                    <a:pt x="22479000" y="0"/>
                  </a:lnTo>
                  <a:lnTo>
                    <a:pt x="22479000" y="571500"/>
                  </a:lnTo>
                  <a:lnTo>
                    <a:pt x="0" y="571500"/>
                  </a:lnTo>
                  <a:lnTo>
                    <a:pt x="0" y="0"/>
                  </a:lnTo>
                  <a:close/>
                </a:path>
              </a:pathLst>
            </a:custGeom>
            <a:blipFill>
              <a:blip r:embed="rId4"/>
              <a:stretch>
                <a:fillRect l="0" t="0" r="0" b="-3333"/>
              </a:stretch>
            </a:blipFill>
          </p:spPr>
        </p:sp>
      </p:grpSp>
      <p:grpSp>
        <p:nvGrpSpPr>
          <p:cNvPr name="Group 10" id="10"/>
          <p:cNvGrpSpPr/>
          <p:nvPr/>
        </p:nvGrpSpPr>
        <p:grpSpPr>
          <a:xfrm rot="0">
            <a:off x="714375" y="628650"/>
            <a:ext cx="16859250" cy="1285875"/>
            <a:chOff x="0" y="0"/>
            <a:chExt cx="22479000" cy="1714500"/>
          </a:xfrm>
        </p:grpSpPr>
        <p:sp>
          <p:nvSpPr>
            <p:cNvPr name="Freeform 11" id="11"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5"/>
              <a:stretch>
                <a:fillRect l="0" t="0" r="0" b="0"/>
              </a:stretch>
            </a:blipFill>
          </p:spPr>
        </p:sp>
      </p:grpSp>
      <p:grpSp>
        <p:nvGrpSpPr>
          <p:cNvPr name="Group 12" id="12"/>
          <p:cNvGrpSpPr/>
          <p:nvPr/>
        </p:nvGrpSpPr>
        <p:grpSpPr>
          <a:xfrm rot="0">
            <a:off x="0" y="0"/>
            <a:ext cx="18288000" cy="57150"/>
            <a:chOff x="0" y="0"/>
            <a:chExt cx="24384000" cy="76200"/>
          </a:xfrm>
        </p:grpSpPr>
        <p:sp>
          <p:nvSpPr>
            <p:cNvPr name="Freeform 13" id="13"/>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4" id="14"/>
          <p:cNvSpPr txBox="true"/>
          <p:nvPr/>
        </p:nvSpPr>
        <p:spPr>
          <a:xfrm rot="0">
            <a:off x="357188" y="4442069"/>
            <a:ext cx="17573625" cy="1325832"/>
          </a:xfrm>
          <a:prstGeom prst="rect">
            <a:avLst/>
          </a:prstGeom>
        </p:spPr>
        <p:txBody>
          <a:bodyPr anchor="t" rtlCol="false" tIns="0" lIns="0" bIns="0" rIns="0">
            <a:spAutoFit/>
          </a:bodyPr>
          <a:lstStyle/>
          <a:p>
            <a:pPr algn="ctr">
              <a:lnSpc>
                <a:spcPts val="10366"/>
              </a:lnSpc>
            </a:pPr>
            <a:r>
              <a:rPr lang="en-US" b="true" sz="7200">
                <a:solidFill>
                  <a:srgbClr val="FFFFFF"/>
                </a:solidFill>
                <a:latin typeface="Poppins Bold"/>
                <a:ea typeface="Poppins Bold"/>
                <a:cs typeface="Poppins Bold"/>
                <a:sym typeface="Poppins Bold"/>
              </a:rPr>
              <a:t>Machine Learning</a:t>
            </a:r>
          </a:p>
        </p:txBody>
      </p:sp>
      <p:sp>
        <p:nvSpPr>
          <p:cNvPr name="TextBox 15" id="15"/>
          <p:cNvSpPr txBox="true"/>
          <p:nvPr/>
        </p:nvSpPr>
        <p:spPr>
          <a:xfrm rot="0">
            <a:off x="357188" y="5767911"/>
            <a:ext cx="17573625" cy="642938"/>
          </a:xfrm>
          <a:prstGeom prst="rect">
            <a:avLst/>
          </a:prstGeom>
        </p:spPr>
        <p:txBody>
          <a:bodyPr anchor="t" rtlCol="false" tIns="0" lIns="0" bIns="0" rIns="0">
            <a:spAutoFit/>
          </a:bodyPr>
          <a:lstStyle/>
          <a:p>
            <a:pPr algn="ctr">
              <a:lnSpc>
                <a:spcPts val="3240"/>
              </a:lnSpc>
            </a:pPr>
            <a:r>
              <a:rPr lang="ar-EG" sz="2700">
                <a:solidFill>
                  <a:srgbClr val="03B3C3"/>
                </a:solidFill>
                <a:latin typeface="Cairo"/>
                <a:ea typeface="Cairo"/>
                <a:cs typeface="Cairo"/>
                <a:sym typeface="Cairo"/>
                <a:rtl val="true"/>
              </a:rPr>
              <a:t>تطبيق خوارزميات ونماذج تعلم الآلة</a:t>
            </a:r>
          </a:p>
        </p:txBody>
      </p:sp>
      <p:grpSp>
        <p:nvGrpSpPr>
          <p:cNvPr name="Group 16" id="16"/>
          <p:cNvGrpSpPr/>
          <p:nvPr/>
        </p:nvGrpSpPr>
        <p:grpSpPr>
          <a:xfrm rot="0">
            <a:off x="8286750" y="6839474"/>
            <a:ext cx="1714500" cy="57150"/>
            <a:chOff x="0" y="0"/>
            <a:chExt cx="2286000" cy="76200"/>
          </a:xfrm>
        </p:grpSpPr>
        <p:sp>
          <p:nvSpPr>
            <p:cNvPr name="Freeform 17" id="17"/>
            <p:cNvSpPr/>
            <p:nvPr/>
          </p:nvSpPr>
          <p:spPr>
            <a:xfrm flipH="false" flipV="false" rot="0">
              <a:off x="0" y="0"/>
              <a:ext cx="2286000" cy="76200"/>
            </a:xfrm>
            <a:custGeom>
              <a:avLst/>
              <a:gdLst/>
              <a:ahLst/>
              <a:cxnLst/>
              <a:rect r="r" b="b" t="t" l="l"/>
              <a:pathLst>
                <a:path h="76200" w="2286000">
                  <a:moveTo>
                    <a:pt x="0" y="0"/>
                  </a:moveTo>
                  <a:lnTo>
                    <a:pt x="2286000" y="0"/>
                  </a:lnTo>
                  <a:lnTo>
                    <a:pt x="2286000" y="76200"/>
                  </a:lnTo>
                  <a:lnTo>
                    <a:pt x="0" y="76200"/>
                  </a:lnTo>
                  <a:close/>
                </a:path>
              </a:pathLst>
            </a:custGeom>
            <a:solidFill>
              <a:srgbClr val="2D6832"/>
            </a:solidFill>
          </p:spPr>
        </p:sp>
      </p:grpSp>
      <p:sp>
        <p:nvSpPr>
          <p:cNvPr name="TextBox 18" id="18"/>
          <p:cNvSpPr txBox="true"/>
          <p:nvPr/>
        </p:nvSpPr>
        <p:spPr>
          <a:xfrm rot="0">
            <a:off x="4857750" y="7191899"/>
            <a:ext cx="8572500" cy="873101"/>
          </a:xfrm>
          <a:prstGeom prst="rect">
            <a:avLst/>
          </a:prstGeom>
        </p:spPr>
        <p:txBody>
          <a:bodyPr anchor="t" rtlCol="false" tIns="0" lIns="0" bIns="0" rIns="0">
            <a:spAutoFit/>
          </a:bodyPr>
          <a:lstStyle/>
          <a:p>
            <a:pPr algn="ctr">
              <a:lnSpc>
                <a:spcPts val="3670"/>
              </a:lnSpc>
            </a:pPr>
            <a:r>
              <a:rPr lang="en-US" sz="1912">
                <a:solidFill>
                  <a:srgbClr val="4085B4"/>
                </a:solidFill>
                <a:latin typeface="Aptos"/>
                <a:ea typeface="Aptos"/>
                <a:cs typeface="Aptos"/>
                <a:sym typeface="Aptos"/>
              </a:rPr>
              <a:t>Supervised forecasting, clustering, and behavioral predictions built to yield practical enterprise insights.</a:t>
            </a:r>
          </a:p>
        </p:txBody>
      </p:sp>
      <p:sp>
        <p:nvSpPr>
          <p:cNvPr name="TextBox 19" id="19"/>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Phase 02</a:t>
            </a:r>
          </a:p>
        </p:txBody>
      </p:sp>
      <p:sp>
        <p:nvSpPr>
          <p:cNvPr name="TextBox 20" id="20"/>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Predictive &amp; Statistical Modeling</a:t>
            </a:r>
          </a:p>
        </p:txBody>
      </p:sp>
      <p:grpSp>
        <p:nvGrpSpPr>
          <p:cNvPr name="Group 21" id="21"/>
          <p:cNvGrpSpPr/>
          <p:nvPr/>
        </p:nvGrpSpPr>
        <p:grpSpPr>
          <a:xfrm rot="0">
            <a:off x="16216312" y="802110"/>
            <a:ext cx="928688" cy="924449"/>
            <a:chOff x="0" y="0"/>
            <a:chExt cx="1238250" cy="1232598"/>
          </a:xfrm>
        </p:grpSpPr>
        <p:sp>
          <p:nvSpPr>
            <p:cNvPr name="Freeform 22" id="22"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6"/>
              <a:stretch>
                <a:fillRect l="0" t="0" r="0" b="-2009"/>
              </a:stretch>
            </a:blipFill>
          </p:spPr>
        </p:sp>
      </p:grpSp>
      <p:grpSp>
        <p:nvGrpSpPr>
          <p:cNvPr name="Group 23" id="23"/>
          <p:cNvGrpSpPr/>
          <p:nvPr/>
        </p:nvGrpSpPr>
        <p:grpSpPr>
          <a:xfrm rot="0">
            <a:off x="1071562" y="628650"/>
            <a:ext cx="1148274" cy="1103376"/>
            <a:chOff x="0" y="0"/>
            <a:chExt cx="1238250" cy="1189834"/>
          </a:xfrm>
        </p:grpSpPr>
        <p:sp>
          <p:nvSpPr>
            <p:cNvPr name="Freeform 24" id="24"/>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2273447"/>
            <a:ext cx="8143875" cy="6558467"/>
            <a:chOff x="0" y="0"/>
            <a:chExt cx="10858500" cy="8744622"/>
          </a:xfrm>
        </p:grpSpPr>
        <p:sp>
          <p:nvSpPr>
            <p:cNvPr name="Freeform 9" id="9" descr="image.png"/>
            <p:cNvSpPr/>
            <p:nvPr/>
          </p:nvSpPr>
          <p:spPr>
            <a:xfrm flipH="false" flipV="false" rot="0">
              <a:off x="0" y="0"/>
              <a:ext cx="10858500" cy="8744634"/>
            </a:xfrm>
            <a:custGeom>
              <a:avLst/>
              <a:gdLst/>
              <a:ahLst/>
              <a:cxnLst/>
              <a:rect r="r" b="b" t="t" l="l"/>
              <a:pathLst>
                <a:path h="8744634" w="10858500">
                  <a:moveTo>
                    <a:pt x="0" y="0"/>
                  </a:moveTo>
                  <a:lnTo>
                    <a:pt x="10858500" y="0"/>
                  </a:lnTo>
                  <a:lnTo>
                    <a:pt x="10858500" y="8744634"/>
                  </a:lnTo>
                  <a:lnTo>
                    <a:pt x="0" y="8744634"/>
                  </a:lnTo>
                  <a:lnTo>
                    <a:pt x="0" y="0"/>
                  </a:lnTo>
                  <a:close/>
                </a:path>
              </a:pathLst>
            </a:custGeom>
            <a:blipFill>
              <a:blip r:embed="rId4"/>
              <a:stretch>
                <a:fillRect l="-7767" t="0" r="-7767" b="-424"/>
              </a:stretch>
            </a:blipFill>
          </p:spPr>
        </p:sp>
      </p:grpSp>
      <p:grpSp>
        <p:nvGrpSpPr>
          <p:cNvPr name="Group 10" id="10"/>
          <p:cNvGrpSpPr/>
          <p:nvPr/>
        </p:nvGrpSpPr>
        <p:grpSpPr>
          <a:xfrm rot="0">
            <a:off x="9144000" y="2273447"/>
            <a:ext cx="8072438" cy="6558467"/>
            <a:chOff x="0" y="0"/>
            <a:chExt cx="10763250" cy="8744622"/>
          </a:xfrm>
        </p:grpSpPr>
        <p:sp>
          <p:nvSpPr>
            <p:cNvPr name="Freeform 11" id="11" descr="image.png"/>
            <p:cNvSpPr/>
            <p:nvPr/>
          </p:nvSpPr>
          <p:spPr>
            <a:xfrm flipH="false" flipV="false" rot="0">
              <a:off x="0" y="0"/>
              <a:ext cx="10763250" cy="8744622"/>
            </a:xfrm>
            <a:custGeom>
              <a:avLst/>
              <a:gdLst/>
              <a:ahLst/>
              <a:cxnLst/>
              <a:rect r="r" b="b" t="t" l="l"/>
              <a:pathLst>
                <a:path h="8744622" w="10763250">
                  <a:moveTo>
                    <a:pt x="0" y="0"/>
                  </a:moveTo>
                  <a:lnTo>
                    <a:pt x="10763250" y="0"/>
                  </a:lnTo>
                  <a:lnTo>
                    <a:pt x="10763250" y="8744622"/>
                  </a:lnTo>
                  <a:lnTo>
                    <a:pt x="0" y="8744622"/>
                  </a:lnTo>
                  <a:lnTo>
                    <a:pt x="0" y="0"/>
                  </a:lnTo>
                  <a:close/>
                </a:path>
              </a:pathLst>
            </a:custGeom>
            <a:blipFill>
              <a:blip r:embed="rId5"/>
              <a:stretch>
                <a:fillRect l="-10933" t="0" r="-10933"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495300"/>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Model Me</a:t>
            </a:r>
            <a:r>
              <a:rPr lang="en-US" b="true" sz="3150">
                <a:solidFill>
                  <a:srgbClr val="FFFFFF"/>
                </a:solidFill>
                <a:latin typeface="Poppins Bold"/>
                <a:ea typeface="Poppins Bold"/>
                <a:cs typeface="Poppins Bold"/>
                <a:sym typeface="Poppins Bold"/>
              </a:rPr>
              <a:t>trics Evaluation</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M</a:t>
            </a:r>
            <a:r>
              <a:rPr lang="en-US" sz="1575">
                <a:solidFill>
                  <a:srgbClr val="03B3C3"/>
                </a:solidFill>
                <a:latin typeface="Aptos"/>
                <a:ea typeface="Aptos"/>
                <a:cs typeface="Aptos"/>
                <a:sym typeface="Aptos"/>
              </a:rPr>
              <a:t>odel Testing Comparison</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2865911"/>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Machine Learning </a:t>
            </a:r>
          </a:p>
        </p:txBody>
      </p:sp>
      <p:sp>
        <p:nvSpPr>
          <p:cNvPr name="TextBox 21" id="21"/>
          <p:cNvSpPr txBox="true"/>
          <p:nvPr/>
        </p:nvSpPr>
        <p:spPr>
          <a:xfrm rot="0">
            <a:off x="1164197" y="3246911"/>
            <a:ext cx="7244231" cy="4993005"/>
          </a:xfrm>
          <a:prstGeom prst="rect">
            <a:avLst/>
          </a:prstGeom>
        </p:spPr>
        <p:txBody>
          <a:bodyPr anchor="t" rtlCol="false" tIns="0" lIns="0" bIns="0" rIns="0">
            <a:spAutoFit/>
          </a:bodyPr>
          <a:lstStyle/>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T</a:t>
            </a:r>
            <a:r>
              <a:rPr lang="en-US" b="true" sz="1749">
                <a:solidFill>
                  <a:srgbClr val="364149"/>
                </a:solidFill>
                <a:latin typeface="Aptos Bold"/>
                <a:ea typeface="Aptos Bold"/>
                <a:cs typeface="Aptos Bold"/>
                <a:sym typeface="Aptos Bold"/>
              </a:rPr>
              <a:t>ask: Multi-class classification predicting one of 4 water scarcity levels per country per year.</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Target variable: scarcity_level — determined by FAO thresholds on water per capita (m³/yr).</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8 engineered features built from the raw water_value time series using lag, rolling mean, change, and rank operations.</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3 algorithms: Random Forest (recommended — handles class imbalance via class_weight='balanced'), Gradient Boosting, and Logistic Regression as a baseline.</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Evaluation: Test accuracy, 5-fold cross-validation, per-class classification report, and confusion matrix.</a:t>
            </a:r>
          </a:p>
          <a:p>
            <a:pPr algn="l" marL="377824" indent="-188912" lvl="1">
              <a:lnSpc>
                <a:spcPts val="3359"/>
              </a:lnSpc>
              <a:buFont typeface="Arial"/>
              <a:buChar char="•"/>
            </a:pPr>
            <a:r>
              <a:rPr lang="en-US" b="true" sz="1749">
                <a:solidFill>
                  <a:srgbClr val="364149"/>
                </a:solidFill>
                <a:latin typeface="Aptos Bold"/>
                <a:ea typeface="Aptos Bold"/>
                <a:cs typeface="Aptos Bold"/>
                <a:sym typeface="Aptos Bold"/>
              </a:rPr>
              <a:t>Here's the pipeline flow from end to end</a:t>
            </a:r>
          </a:p>
        </p:txBody>
      </p:sp>
      <p:grpSp>
        <p:nvGrpSpPr>
          <p:cNvPr name="Group 22" id="22"/>
          <p:cNvGrpSpPr/>
          <p:nvPr/>
        </p:nvGrpSpPr>
        <p:grpSpPr>
          <a:xfrm rot="0">
            <a:off x="9144000" y="2273447"/>
            <a:ext cx="8058150" cy="6558467"/>
            <a:chOff x="0" y="0"/>
            <a:chExt cx="10744200" cy="8744622"/>
          </a:xfrm>
        </p:grpSpPr>
        <p:sp>
          <p:nvSpPr>
            <p:cNvPr name="Freeform 23" id="23"/>
            <p:cNvSpPr/>
            <p:nvPr/>
          </p:nvSpPr>
          <p:spPr>
            <a:xfrm flipH="false" flipV="false" rot="0">
              <a:off x="0" y="0"/>
              <a:ext cx="10744200" cy="8744622"/>
            </a:xfrm>
            <a:custGeom>
              <a:avLst/>
              <a:gdLst/>
              <a:ahLst/>
              <a:cxnLst/>
              <a:rect r="r" b="b" t="t" l="l"/>
              <a:pathLst>
                <a:path h="8744622" w="10744200">
                  <a:moveTo>
                    <a:pt x="0" y="0"/>
                  </a:moveTo>
                  <a:lnTo>
                    <a:pt x="10744200" y="0"/>
                  </a:lnTo>
                  <a:lnTo>
                    <a:pt x="10744200" y="8744622"/>
                  </a:lnTo>
                  <a:lnTo>
                    <a:pt x="0" y="8744622"/>
                  </a:lnTo>
                  <a:lnTo>
                    <a:pt x="0" y="0"/>
                  </a:lnTo>
                  <a:close/>
                </a:path>
              </a:pathLst>
            </a:custGeom>
            <a:blipFill>
              <a:blip r:embed="rId8"/>
              <a:stretch>
                <a:fillRect l="0" t="-7286" r="0" b="-2909"/>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884857"/>
            <a:ext cx="16859250" cy="428625"/>
            <a:chOff x="0" y="0"/>
            <a:chExt cx="22479000" cy="571500"/>
          </a:xfrm>
        </p:grpSpPr>
        <p:sp>
          <p:nvSpPr>
            <p:cNvPr name="Freeform 9" id="9" descr="image.png"/>
            <p:cNvSpPr/>
            <p:nvPr/>
          </p:nvSpPr>
          <p:spPr>
            <a:xfrm flipH="false" flipV="false" rot="0">
              <a:off x="0" y="0"/>
              <a:ext cx="22479000" cy="571500"/>
            </a:xfrm>
            <a:custGeom>
              <a:avLst/>
              <a:gdLst/>
              <a:ahLst/>
              <a:cxnLst/>
              <a:rect r="r" b="b" t="t" l="l"/>
              <a:pathLst>
                <a:path h="571500" w="22479000">
                  <a:moveTo>
                    <a:pt x="0" y="0"/>
                  </a:moveTo>
                  <a:lnTo>
                    <a:pt x="22479000" y="0"/>
                  </a:lnTo>
                  <a:lnTo>
                    <a:pt x="22479000" y="571500"/>
                  </a:lnTo>
                  <a:lnTo>
                    <a:pt x="0" y="571500"/>
                  </a:lnTo>
                  <a:lnTo>
                    <a:pt x="0" y="0"/>
                  </a:lnTo>
                  <a:close/>
                </a:path>
              </a:pathLst>
            </a:custGeom>
            <a:blipFill>
              <a:blip r:embed="rId4"/>
              <a:stretch>
                <a:fillRect l="0" t="0" r="0" b="-3333"/>
              </a:stretch>
            </a:blipFill>
          </p:spPr>
        </p:sp>
      </p:grpSp>
      <p:grpSp>
        <p:nvGrpSpPr>
          <p:cNvPr name="Group 10" id="10"/>
          <p:cNvGrpSpPr/>
          <p:nvPr/>
        </p:nvGrpSpPr>
        <p:grpSpPr>
          <a:xfrm rot="0">
            <a:off x="714375" y="628650"/>
            <a:ext cx="16859250" cy="1285875"/>
            <a:chOff x="0" y="0"/>
            <a:chExt cx="22479000" cy="1714500"/>
          </a:xfrm>
        </p:grpSpPr>
        <p:sp>
          <p:nvSpPr>
            <p:cNvPr name="Freeform 11" id="11"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5"/>
              <a:stretch>
                <a:fillRect l="0" t="0" r="0" b="0"/>
              </a:stretch>
            </a:blipFill>
          </p:spPr>
        </p:sp>
      </p:grpSp>
      <p:grpSp>
        <p:nvGrpSpPr>
          <p:cNvPr name="Group 12" id="12"/>
          <p:cNvGrpSpPr/>
          <p:nvPr/>
        </p:nvGrpSpPr>
        <p:grpSpPr>
          <a:xfrm rot="0">
            <a:off x="0" y="0"/>
            <a:ext cx="18288000" cy="57150"/>
            <a:chOff x="0" y="0"/>
            <a:chExt cx="24384000" cy="76200"/>
          </a:xfrm>
        </p:grpSpPr>
        <p:sp>
          <p:nvSpPr>
            <p:cNvPr name="Freeform 13" id="13"/>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4" id="14"/>
          <p:cNvSpPr txBox="true"/>
          <p:nvPr/>
        </p:nvSpPr>
        <p:spPr>
          <a:xfrm rot="0">
            <a:off x="357188" y="4442069"/>
            <a:ext cx="17573625" cy="1325832"/>
          </a:xfrm>
          <a:prstGeom prst="rect">
            <a:avLst/>
          </a:prstGeom>
        </p:spPr>
        <p:txBody>
          <a:bodyPr anchor="t" rtlCol="false" tIns="0" lIns="0" bIns="0" rIns="0">
            <a:spAutoFit/>
          </a:bodyPr>
          <a:lstStyle/>
          <a:p>
            <a:pPr algn="ctr">
              <a:lnSpc>
                <a:spcPts val="10366"/>
              </a:lnSpc>
            </a:pPr>
            <a:r>
              <a:rPr lang="en-US" b="true" sz="7200">
                <a:solidFill>
                  <a:srgbClr val="FFFFFF"/>
                </a:solidFill>
                <a:latin typeface="Poppins Bold"/>
                <a:ea typeface="Poppins Bold"/>
                <a:cs typeface="Poppins Bold"/>
                <a:sym typeface="Poppins Bold"/>
              </a:rPr>
              <a:t>Data Modeling</a:t>
            </a:r>
          </a:p>
        </p:txBody>
      </p:sp>
      <p:sp>
        <p:nvSpPr>
          <p:cNvPr name="TextBox 15" id="15"/>
          <p:cNvSpPr txBox="true"/>
          <p:nvPr/>
        </p:nvSpPr>
        <p:spPr>
          <a:xfrm rot="0">
            <a:off x="357188" y="5767911"/>
            <a:ext cx="17573625" cy="642938"/>
          </a:xfrm>
          <a:prstGeom prst="rect">
            <a:avLst/>
          </a:prstGeom>
        </p:spPr>
        <p:txBody>
          <a:bodyPr anchor="t" rtlCol="false" tIns="0" lIns="0" bIns="0" rIns="0">
            <a:spAutoFit/>
          </a:bodyPr>
          <a:lstStyle/>
          <a:p>
            <a:pPr algn="ctr">
              <a:lnSpc>
                <a:spcPts val="3240"/>
              </a:lnSpc>
            </a:pPr>
            <a:r>
              <a:rPr lang="ar-EG" sz="2700">
                <a:solidFill>
                  <a:srgbClr val="03B3C3"/>
                </a:solidFill>
                <a:latin typeface="Cairo"/>
                <a:ea typeface="Cairo"/>
                <a:cs typeface="Cairo"/>
                <a:sym typeface="Cairo"/>
                <a:rtl val="true"/>
              </a:rPr>
              <a:t>بناء مستودع البيانات ونمذجة العلاقات</a:t>
            </a:r>
          </a:p>
        </p:txBody>
      </p:sp>
      <p:grpSp>
        <p:nvGrpSpPr>
          <p:cNvPr name="Group 16" id="16"/>
          <p:cNvGrpSpPr/>
          <p:nvPr/>
        </p:nvGrpSpPr>
        <p:grpSpPr>
          <a:xfrm rot="0">
            <a:off x="8286750" y="6839474"/>
            <a:ext cx="1714500" cy="57150"/>
            <a:chOff x="0" y="0"/>
            <a:chExt cx="2286000" cy="76200"/>
          </a:xfrm>
        </p:grpSpPr>
        <p:sp>
          <p:nvSpPr>
            <p:cNvPr name="Freeform 17" id="17"/>
            <p:cNvSpPr/>
            <p:nvPr/>
          </p:nvSpPr>
          <p:spPr>
            <a:xfrm flipH="false" flipV="false" rot="0">
              <a:off x="0" y="0"/>
              <a:ext cx="2286000" cy="76200"/>
            </a:xfrm>
            <a:custGeom>
              <a:avLst/>
              <a:gdLst/>
              <a:ahLst/>
              <a:cxnLst/>
              <a:rect r="r" b="b" t="t" l="l"/>
              <a:pathLst>
                <a:path h="76200" w="2286000">
                  <a:moveTo>
                    <a:pt x="0" y="0"/>
                  </a:moveTo>
                  <a:lnTo>
                    <a:pt x="2286000" y="0"/>
                  </a:lnTo>
                  <a:lnTo>
                    <a:pt x="2286000" y="76200"/>
                  </a:lnTo>
                  <a:lnTo>
                    <a:pt x="0" y="76200"/>
                  </a:lnTo>
                  <a:close/>
                </a:path>
              </a:pathLst>
            </a:custGeom>
            <a:solidFill>
              <a:srgbClr val="4085B4"/>
            </a:solidFill>
          </p:spPr>
        </p:sp>
      </p:grpSp>
      <p:sp>
        <p:nvSpPr>
          <p:cNvPr name="TextBox 18" id="18"/>
          <p:cNvSpPr txBox="true"/>
          <p:nvPr/>
        </p:nvSpPr>
        <p:spPr>
          <a:xfrm rot="0">
            <a:off x="4857750" y="7191899"/>
            <a:ext cx="8572500" cy="873101"/>
          </a:xfrm>
          <a:prstGeom prst="rect">
            <a:avLst/>
          </a:prstGeom>
        </p:spPr>
        <p:txBody>
          <a:bodyPr anchor="t" rtlCol="false" tIns="0" lIns="0" bIns="0" rIns="0">
            <a:spAutoFit/>
          </a:bodyPr>
          <a:lstStyle/>
          <a:p>
            <a:pPr algn="ctr">
              <a:lnSpc>
                <a:spcPts val="3670"/>
              </a:lnSpc>
            </a:pPr>
            <a:r>
              <a:rPr lang="en-US" sz="1912">
                <a:solidFill>
                  <a:srgbClr val="4085B4"/>
                </a:solidFill>
                <a:latin typeface="Aptos"/>
                <a:ea typeface="Aptos"/>
                <a:cs typeface="Aptos"/>
                <a:sym typeface="Aptos"/>
              </a:rPr>
              <a:t>Designing data models, transaction paths, and structural dimensions built for business queries.</a:t>
            </a:r>
          </a:p>
        </p:txBody>
      </p:sp>
      <p:sp>
        <p:nvSpPr>
          <p:cNvPr name="TextBox 19" id="19"/>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Phase 03</a:t>
            </a:r>
          </a:p>
        </p:txBody>
      </p:sp>
      <p:sp>
        <p:nvSpPr>
          <p:cNvPr name="TextBox 20" id="20"/>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Relational Mapping &amp; schemas</a:t>
            </a:r>
          </a:p>
        </p:txBody>
      </p:sp>
      <p:grpSp>
        <p:nvGrpSpPr>
          <p:cNvPr name="Group 21" id="21"/>
          <p:cNvGrpSpPr/>
          <p:nvPr/>
        </p:nvGrpSpPr>
        <p:grpSpPr>
          <a:xfrm rot="0">
            <a:off x="16216312" y="802110"/>
            <a:ext cx="928688" cy="924449"/>
            <a:chOff x="0" y="0"/>
            <a:chExt cx="1238250" cy="1232598"/>
          </a:xfrm>
        </p:grpSpPr>
        <p:sp>
          <p:nvSpPr>
            <p:cNvPr name="Freeform 22" id="22"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6"/>
              <a:stretch>
                <a:fillRect l="0" t="0" r="0" b="-2009"/>
              </a:stretch>
            </a:blipFill>
          </p:spPr>
        </p:sp>
      </p:grpSp>
      <p:grpSp>
        <p:nvGrpSpPr>
          <p:cNvPr name="Group 23" id="23"/>
          <p:cNvGrpSpPr/>
          <p:nvPr/>
        </p:nvGrpSpPr>
        <p:grpSpPr>
          <a:xfrm rot="0">
            <a:off x="1071562" y="628650"/>
            <a:ext cx="1148274" cy="1103376"/>
            <a:chOff x="0" y="0"/>
            <a:chExt cx="1238250" cy="1189834"/>
          </a:xfrm>
        </p:grpSpPr>
        <p:sp>
          <p:nvSpPr>
            <p:cNvPr name="Freeform 24" id="24"/>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155309"/>
            <a:ext cx="8143875" cy="5676605"/>
            <a:chOff x="0" y="0"/>
            <a:chExt cx="10858500" cy="7568806"/>
          </a:xfrm>
        </p:grpSpPr>
        <p:sp>
          <p:nvSpPr>
            <p:cNvPr name="Freeform 9" id="9" descr="image.png"/>
            <p:cNvSpPr/>
            <p:nvPr/>
          </p:nvSpPr>
          <p:spPr>
            <a:xfrm flipH="false" flipV="false" rot="0">
              <a:off x="0" y="0"/>
              <a:ext cx="10858500" cy="7568819"/>
            </a:xfrm>
            <a:custGeom>
              <a:avLst/>
              <a:gdLst/>
              <a:ahLst/>
              <a:cxnLst/>
              <a:rect r="r" b="b" t="t" l="l"/>
              <a:pathLst>
                <a:path h="7568819" w="10858500">
                  <a:moveTo>
                    <a:pt x="0" y="0"/>
                  </a:moveTo>
                  <a:lnTo>
                    <a:pt x="10858500" y="0"/>
                  </a:lnTo>
                  <a:lnTo>
                    <a:pt x="10858500" y="7568819"/>
                  </a:lnTo>
                  <a:lnTo>
                    <a:pt x="0" y="7568819"/>
                  </a:lnTo>
                  <a:lnTo>
                    <a:pt x="0" y="0"/>
                  </a:lnTo>
                  <a:close/>
                </a:path>
              </a:pathLst>
            </a:custGeom>
            <a:blipFill>
              <a:blip r:embed="rId4"/>
              <a:stretch>
                <a:fillRect l="0" t="0" r="0" b="-424"/>
              </a:stretch>
            </a:blipFill>
          </p:spPr>
        </p:sp>
      </p:grpSp>
      <p:grpSp>
        <p:nvGrpSpPr>
          <p:cNvPr name="Group 10" id="10"/>
          <p:cNvGrpSpPr/>
          <p:nvPr/>
        </p:nvGrpSpPr>
        <p:grpSpPr>
          <a:xfrm rot="0">
            <a:off x="9429750" y="3278981"/>
            <a:ext cx="8143875" cy="5429250"/>
            <a:chOff x="0" y="0"/>
            <a:chExt cx="10858500" cy="7239000"/>
          </a:xfrm>
        </p:grpSpPr>
        <p:sp>
          <p:nvSpPr>
            <p:cNvPr name="Freeform 11" id="11" descr="image.png"/>
            <p:cNvSpPr/>
            <p:nvPr/>
          </p:nvSpPr>
          <p:spPr>
            <a:xfrm flipH="false" flipV="false" rot="0">
              <a:off x="0" y="0"/>
              <a:ext cx="10858500" cy="7239000"/>
            </a:xfrm>
            <a:custGeom>
              <a:avLst/>
              <a:gdLst/>
              <a:ahLst/>
              <a:cxnLst/>
              <a:rect r="r" b="b" t="t" l="l"/>
              <a:pathLst>
                <a:path h="7239000" w="10858500">
                  <a:moveTo>
                    <a:pt x="0" y="0"/>
                  </a:moveTo>
                  <a:lnTo>
                    <a:pt x="10858500" y="0"/>
                  </a:lnTo>
                  <a:lnTo>
                    <a:pt x="10858500" y="7239000"/>
                  </a:lnTo>
                  <a:lnTo>
                    <a:pt x="0" y="7239000"/>
                  </a:lnTo>
                  <a:lnTo>
                    <a:pt x="0" y="0"/>
                  </a:lnTo>
                  <a:close/>
                </a:path>
              </a:pathLst>
            </a:custGeom>
            <a:blipFill>
              <a:blip r:embed="rId5"/>
              <a:stretch>
                <a:fillRect l="0" t="0" r="0" b="-263"/>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Relational Schema Architecture</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Star Schema Enterprise Implementation</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664896"/>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Data Schema &amp; Keys Mapping</a:t>
            </a:r>
          </a:p>
        </p:txBody>
      </p:sp>
      <p:sp>
        <p:nvSpPr>
          <p:cNvPr name="TextBox 21" id="21"/>
          <p:cNvSpPr txBox="true"/>
          <p:nvPr/>
        </p:nvSpPr>
        <p:spPr>
          <a:xfrm rot="0">
            <a:off x="1243012" y="3974459"/>
            <a:ext cx="7086600" cy="787527"/>
          </a:xfrm>
          <a:prstGeom prst="rect">
            <a:avLst/>
          </a:prstGeom>
        </p:spPr>
        <p:txBody>
          <a:bodyPr anchor="t" rtlCol="false" tIns="0" lIns="0" bIns="0" rIns="0">
            <a:spAutoFit/>
          </a:bodyPr>
          <a:lstStyle/>
          <a:p>
            <a:pPr algn="l">
              <a:lnSpc>
                <a:spcPts val="3264"/>
              </a:lnSpc>
            </a:pPr>
            <a:r>
              <a:rPr lang="en-US" b="true" sz="1700">
                <a:solidFill>
                  <a:srgbClr val="364149"/>
                </a:solidFill>
                <a:latin typeface="Aptos Bold"/>
                <a:ea typeface="Aptos Bold"/>
                <a:cs typeface="Aptos Bold"/>
                <a:sym typeface="Aptos Bold"/>
              </a:rPr>
              <a:t>I m</a:t>
            </a:r>
            <a:r>
              <a:rPr lang="en-US" b="true" sz="1700">
                <a:solidFill>
                  <a:srgbClr val="364149"/>
                </a:solidFill>
                <a:latin typeface="Aptos Bold"/>
                <a:ea typeface="Aptos Bold"/>
                <a:cs typeface="Aptos Bold"/>
                <a:sym typeface="Aptos Bold"/>
              </a:rPr>
              <a:t>apped my environmental dependencies to outline a scalable star schema structure:</a:t>
            </a:r>
          </a:p>
        </p:txBody>
      </p:sp>
      <p:grpSp>
        <p:nvGrpSpPr>
          <p:cNvPr name="Group 22" id="22"/>
          <p:cNvGrpSpPr/>
          <p:nvPr/>
        </p:nvGrpSpPr>
        <p:grpSpPr>
          <a:xfrm rot="0">
            <a:off x="9472612" y="3321844"/>
            <a:ext cx="8058150" cy="5343525"/>
            <a:chOff x="0" y="0"/>
            <a:chExt cx="10744200" cy="7124700"/>
          </a:xfrm>
        </p:grpSpPr>
        <p:sp>
          <p:nvSpPr>
            <p:cNvPr name="Freeform 23" id="23"/>
            <p:cNvSpPr/>
            <p:nvPr/>
          </p:nvSpPr>
          <p:spPr>
            <a:xfrm flipH="false" flipV="false" rot="0">
              <a:off x="0" y="0"/>
              <a:ext cx="10744200" cy="7124700"/>
            </a:xfrm>
            <a:custGeom>
              <a:avLst/>
              <a:gdLst/>
              <a:ahLst/>
              <a:cxnLst/>
              <a:rect r="r" b="b" t="t" l="l"/>
              <a:pathLst>
                <a:path h="7124700" w="10744200">
                  <a:moveTo>
                    <a:pt x="254000" y="0"/>
                  </a:moveTo>
                  <a:lnTo>
                    <a:pt x="10490200" y="0"/>
                  </a:lnTo>
                  <a:cubicBezTo>
                    <a:pt x="10630481" y="0"/>
                    <a:pt x="10744200" y="113720"/>
                    <a:pt x="10744200" y="254000"/>
                  </a:cubicBezTo>
                  <a:lnTo>
                    <a:pt x="10744200" y="6870700"/>
                  </a:lnTo>
                  <a:cubicBezTo>
                    <a:pt x="10744200" y="7010981"/>
                    <a:pt x="10630481" y="7124700"/>
                    <a:pt x="10490200" y="7124700"/>
                  </a:cubicBezTo>
                  <a:lnTo>
                    <a:pt x="254000" y="7124700"/>
                  </a:lnTo>
                  <a:cubicBezTo>
                    <a:pt x="113720" y="7124700"/>
                    <a:pt x="0" y="7010981"/>
                    <a:pt x="0" y="6870700"/>
                  </a:cubicBezTo>
                  <a:lnTo>
                    <a:pt x="0" y="254000"/>
                  </a:lnTo>
                  <a:cubicBezTo>
                    <a:pt x="0" y="113720"/>
                    <a:pt x="113720" y="0"/>
                    <a:pt x="254000" y="0"/>
                  </a:cubicBezTo>
                  <a:close/>
                </a:path>
              </a:pathLst>
            </a:custGeom>
            <a:blipFill>
              <a:blip r:embed="rId8"/>
              <a:stretch>
                <a:fillRect l="-5428" t="0" r="-5428" b="0"/>
              </a:stretch>
            </a:blipFill>
          </p:spPr>
        </p:sp>
      </p:grpSp>
      <p:sp>
        <p:nvSpPr>
          <p:cNvPr name="TextBox 24" id="24"/>
          <p:cNvSpPr txBox="true"/>
          <p:nvPr/>
        </p:nvSpPr>
        <p:spPr>
          <a:xfrm rot="0">
            <a:off x="1885950" y="4843526"/>
            <a:ext cx="6972300" cy="1186640"/>
          </a:xfrm>
          <a:prstGeom prst="rect">
            <a:avLst/>
          </a:prstGeom>
        </p:spPr>
        <p:txBody>
          <a:bodyPr anchor="t" rtlCol="false" tIns="0" lIns="0" bIns="0" rIns="0">
            <a:spAutoFit/>
          </a:bodyPr>
          <a:lstStyle/>
          <a:p>
            <a:pPr algn="l">
              <a:lnSpc>
                <a:spcPts val="3286"/>
              </a:lnSpc>
            </a:pPr>
            <a:r>
              <a:rPr lang="en-US" b="true" sz="1712">
                <a:solidFill>
                  <a:srgbClr val="364149"/>
                </a:solidFill>
                <a:latin typeface="Aptos Bold"/>
                <a:ea typeface="Aptos Bold"/>
                <a:cs typeface="Aptos Bold"/>
                <a:sym typeface="Aptos Bold"/>
              </a:rPr>
              <a:t>Fact Tables Design: </a:t>
            </a:r>
            <a:r>
              <a:rPr lang="en-US" sz="1712">
                <a:solidFill>
                  <a:srgbClr val="364149"/>
                </a:solidFill>
                <a:latin typeface="Aptos"/>
                <a:ea typeface="Aptos"/>
                <a:cs typeface="Aptos"/>
                <a:sym typeface="Aptos"/>
              </a:rPr>
              <a:t>I consolidated global temperature records as my central hub to capture historical climate and environmental performance markers spanning from 1900 to the present.</a:t>
            </a:r>
          </a:p>
        </p:txBody>
      </p:sp>
      <p:sp>
        <p:nvSpPr>
          <p:cNvPr name="TextBox 25" id="25"/>
          <p:cNvSpPr txBox="true"/>
          <p:nvPr/>
        </p:nvSpPr>
        <p:spPr>
          <a:xfrm rot="0">
            <a:off x="1885950" y="6063701"/>
            <a:ext cx="6797993" cy="1108928"/>
          </a:xfrm>
          <a:prstGeom prst="rect">
            <a:avLst/>
          </a:prstGeom>
        </p:spPr>
        <p:txBody>
          <a:bodyPr anchor="t" rtlCol="false" tIns="0" lIns="0" bIns="0" rIns="0">
            <a:spAutoFit/>
          </a:bodyPr>
          <a:lstStyle/>
          <a:p>
            <a:pPr algn="l">
              <a:lnSpc>
                <a:spcPts val="3048"/>
              </a:lnSpc>
            </a:pPr>
            <a:r>
              <a:rPr lang="en-US" b="true" sz="1588">
                <a:solidFill>
                  <a:srgbClr val="364149"/>
                </a:solidFill>
                <a:latin typeface="Aptos Bold"/>
                <a:ea typeface="Aptos Bold"/>
                <a:cs typeface="Aptos Bold"/>
                <a:sym typeface="Aptos Bold"/>
              </a:rPr>
              <a:t>Dimension Structuring: </a:t>
            </a:r>
            <a:r>
              <a:rPr lang="en-US" sz="1588">
                <a:solidFill>
                  <a:srgbClr val="364149"/>
                </a:solidFill>
                <a:latin typeface="Aptos"/>
                <a:ea typeface="Aptos"/>
                <a:cs typeface="Aptos"/>
                <a:sym typeface="Aptos"/>
              </a:rPr>
              <a:t>I established specialized localization dimensions—including country, regional, state, and city levels—alongside dedicated economic, water resource, and climate change dimensions.</a:t>
            </a:r>
          </a:p>
        </p:txBody>
      </p:sp>
      <p:sp>
        <p:nvSpPr>
          <p:cNvPr name="TextBox 26" id="26"/>
          <p:cNvSpPr txBox="true"/>
          <p:nvPr/>
        </p:nvSpPr>
        <p:spPr>
          <a:xfrm rot="0">
            <a:off x="1885950" y="7340651"/>
            <a:ext cx="6797993" cy="1186640"/>
          </a:xfrm>
          <a:prstGeom prst="rect">
            <a:avLst/>
          </a:prstGeom>
        </p:spPr>
        <p:txBody>
          <a:bodyPr anchor="t" rtlCol="false" tIns="0" lIns="0" bIns="0" rIns="0">
            <a:spAutoFit/>
          </a:bodyPr>
          <a:lstStyle/>
          <a:p>
            <a:pPr algn="l">
              <a:lnSpc>
                <a:spcPts val="3286"/>
              </a:lnSpc>
            </a:pPr>
            <a:r>
              <a:rPr lang="en-US" b="true" sz="1712">
                <a:solidFill>
                  <a:srgbClr val="364149"/>
                </a:solidFill>
                <a:latin typeface="Aptos Bold"/>
                <a:ea typeface="Aptos Bold"/>
                <a:cs typeface="Aptos Bold"/>
                <a:sym typeface="Aptos Bold"/>
              </a:rPr>
              <a:t>Primary/Foreign Mappings: </a:t>
            </a:r>
            <a:r>
              <a:rPr lang="en-US" sz="1712">
                <a:solidFill>
                  <a:srgbClr val="364149"/>
                </a:solidFill>
                <a:latin typeface="Aptos"/>
                <a:ea typeface="Aptos"/>
                <a:cs typeface="Aptos"/>
                <a:sym typeface="Aptos"/>
              </a:rPr>
              <a:t>I built stable references using a one-to-many (1:*) cardinality, mapping the unique date configurations (dt or year) from my central hub directly to the surrounding datasets. </a:t>
            </a:r>
          </a:p>
        </p:txBody>
      </p:sp>
      <p:grpSp>
        <p:nvGrpSpPr>
          <p:cNvPr name="Group 27" id="27"/>
          <p:cNvGrpSpPr/>
          <p:nvPr/>
        </p:nvGrpSpPr>
        <p:grpSpPr>
          <a:xfrm rot="0">
            <a:off x="1243012" y="5165379"/>
            <a:ext cx="400050" cy="328612"/>
            <a:chOff x="0" y="0"/>
            <a:chExt cx="533400" cy="438150"/>
          </a:xfrm>
        </p:grpSpPr>
        <p:sp>
          <p:nvSpPr>
            <p:cNvPr name="Freeform 28" id="28" descr="image.png"/>
            <p:cNvSpPr/>
            <p:nvPr/>
          </p:nvSpPr>
          <p:spPr>
            <a:xfrm flipH="false" flipV="false" rot="0">
              <a:off x="0" y="0"/>
              <a:ext cx="533400" cy="438150"/>
            </a:xfrm>
            <a:custGeom>
              <a:avLst/>
              <a:gdLst/>
              <a:ahLst/>
              <a:cxnLst/>
              <a:rect r="r" b="b" t="t" l="l"/>
              <a:pathLst>
                <a:path h="438150" w="533400">
                  <a:moveTo>
                    <a:pt x="0" y="0"/>
                  </a:moveTo>
                  <a:lnTo>
                    <a:pt x="533400" y="0"/>
                  </a:lnTo>
                  <a:lnTo>
                    <a:pt x="533400" y="438150"/>
                  </a:lnTo>
                  <a:lnTo>
                    <a:pt x="0" y="438150"/>
                  </a:lnTo>
                  <a:lnTo>
                    <a:pt x="0" y="0"/>
                  </a:lnTo>
                  <a:close/>
                </a:path>
              </a:pathLst>
            </a:custGeom>
            <a:blipFill>
              <a:blip r:embed="rId9"/>
              <a:stretch>
                <a:fillRect l="0" t="0" r="0" b="0"/>
              </a:stretch>
            </a:blipFill>
          </p:spPr>
        </p:sp>
      </p:grpSp>
      <p:grpSp>
        <p:nvGrpSpPr>
          <p:cNvPr name="Group 29" id="29"/>
          <p:cNvGrpSpPr/>
          <p:nvPr/>
        </p:nvGrpSpPr>
        <p:grpSpPr>
          <a:xfrm rot="0">
            <a:off x="1243012" y="6228007"/>
            <a:ext cx="314325" cy="328612"/>
            <a:chOff x="0" y="0"/>
            <a:chExt cx="419100" cy="438150"/>
          </a:xfrm>
        </p:grpSpPr>
        <p:sp>
          <p:nvSpPr>
            <p:cNvPr name="Freeform 30" id="30" descr="image.png"/>
            <p:cNvSpPr/>
            <p:nvPr/>
          </p:nvSpPr>
          <p:spPr>
            <a:xfrm flipH="false" flipV="false" rot="0">
              <a:off x="0" y="0"/>
              <a:ext cx="419100" cy="438150"/>
            </a:xfrm>
            <a:custGeom>
              <a:avLst/>
              <a:gdLst/>
              <a:ahLst/>
              <a:cxnLst/>
              <a:rect r="r" b="b" t="t" l="l"/>
              <a:pathLst>
                <a:path h="438150" w="419100">
                  <a:moveTo>
                    <a:pt x="0" y="0"/>
                  </a:moveTo>
                  <a:lnTo>
                    <a:pt x="419100" y="0"/>
                  </a:lnTo>
                  <a:lnTo>
                    <a:pt x="419100" y="438150"/>
                  </a:lnTo>
                  <a:lnTo>
                    <a:pt x="0" y="438150"/>
                  </a:lnTo>
                  <a:lnTo>
                    <a:pt x="0" y="0"/>
                  </a:lnTo>
                  <a:close/>
                </a:path>
              </a:pathLst>
            </a:custGeom>
            <a:blipFill>
              <a:blip r:embed="rId10"/>
              <a:stretch>
                <a:fillRect l="0" t="0" r="0" b="0"/>
              </a:stretch>
            </a:blipFill>
          </p:spPr>
        </p:sp>
      </p:grpSp>
      <p:grpSp>
        <p:nvGrpSpPr>
          <p:cNvPr name="Group 31" id="31"/>
          <p:cNvGrpSpPr/>
          <p:nvPr/>
        </p:nvGrpSpPr>
        <p:grpSpPr>
          <a:xfrm rot="0">
            <a:off x="1243012" y="7290645"/>
            <a:ext cx="314325" cy="328612"/>
            <a:chOff x="0" y="0"/>
            <a:chExt cx="419100" cy="438150"/>
          </a:xfrm>
        </p:grpSpPr>
        <p:sp>
          <p:nvSpPr>
            <p:cNvPr name="Freeform 32" id="32" descr="image.png"/>
            <p:cNvSpPr/>
            <p:nvPr/>
          </p:nvSpPr>
          <p:spPr>
            <a:xfrm flipH="false" flipV="false" rot="0">
              <a:off x="0" y="0"/>
              <a:ext cx="419100" cy="438150"/>
            </a:xfrm>
            <a:custGeom>
              <a:avLst/>
              <a:gdLst/>
              <a:ahLst/>
              <a:cxnLst/>
              <a:rect r="r" b="b" t="t" l="l"/>
              <a:pathLst>
                <a:path h="438150" w="419100">
                  <a:moveTo>
                    <a:pt x="0" y="0"/>
                  </a:moveTo>
                  <a:lnTo>
                    <a:pt x="419100" y="0"/>
                  </a:lnTo>
                  <a:lnTo>
                    <a:pt x="419100" y="438150"/>
                  </a:lnTo>
                  <a:lnTo>
                    <a:pt x="0" y="438150"/>
                  </a:lnTo>
                  <a:lnTo>
                    <a:pt x="0" y="0"/>
                  </a:lnTo>
                  <a:close/>
                </a:path>
              </a:pathLst>
            </a:custGeom>
            <a:blipFill>
              <a:blip r:embed="rId11"/>
              <a:stretch>
                <a:fillRect l="0" t="0" r="0" b="0"/>
              </a:stretch>
            </a:blipFill>
          </p:spPr>
        </p:sp>
      </p:grpSp>
      <p:grpSp>
        <p:nvGrpSpPr>
          <p:cNvPr name="Group 33" id="33"/>
          <p:cNvGrpSpPr/>
          <p:nvPr/>
        </p:nvGrpSpPr>
        <p:grpSpPr>
          <a:xfrm rot="0">
            <a:off x="1071562" y="628650"/>
            <a:ext cx="1148274" cy="1103376"/>
            <a:chOff x="0" y="0"/>
            <a:chExt cx="1238250" cy="1189834"/>
          </a:xfrm>
        </p:grpSpPr>
        <p:sp>
          <p:nvSpPr>
            <p:cNvPr name="Freeform 34" id="34"/>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12"/>
              <a:stretch>
                <a:fillRect l="0" t="-2034" r="0" b="-2034"/>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884857"/>
            <a:ext cx="16859250" cy="428625"/>
            <a:chOff x="0" y="0"/>
            <a:chExt cx="22479000" cy="571500"/>
          </a:xfrm>
        </p:grpSpPr>
        <p:sp>
          <p:nvSpPr>
            <p:cNvPr name="Freeform 9" id="9" descr="image.png"/>
            <p:cNvSpPr/>
            <p:nvPr/>
          </p:nvSpPr>
          <p:spPr>
            <a:xfrm flipH="false" flipV="false" rot="0">
              <a:off x="0" y="0"/>
              <a:ext cx="22479000" cy="571500"/>
            </a:xfrm>
            <a:custGeom>
              <a:avLst/>
              <a:gdLst/>
              <a:ahLst/>
              <a:cxnLst/>
              <a:rect r="r" b="b" t="t" l="l"/>
              <a:pathLst>
                <a:path h="571500" w="22479000">
                  <a:moveTo>
                    <a:pt x="0" y="0"/>
                  </a:moveTo>
                  <a:lnTo>
                    <a:pt x="22479000" y="0"/>
                  </a:lnTo>
                  <a:lnTo>
                    <a:pt x="22479000" y="571500"/>
                  </a:lnTo>
                  <a:lnTo>
                    <a:pt x="0" y="571500"/>
                  </a:lnTo>
                  <a:lnTo>
                    <a:pt x="0" y="0"/>
                  </a:lnTo>
                  <a:close/>
                </a:path>
              </a:pathLst>
            </a:custGeom>
            <a:blipFill>
              <a:blip r:embed="rId4"/>
              <a:stretch>
                <a:fillRect l="0" t="0" r="0" b="-3333"/>
              </a:stretch>
            </a:blipFill>
          </p:spPr>
        </p:sp>
      </p:grpSp>
      <p:grpSp>
        <p:nvGrpSpPr>
          <p:cNvPr name="Group 10" id="10"/>
          <p:cNvGrpSpPr/>
          <p:nvPr/>
        </p:nvGrpSpPr>
        <p:grpSpPr>
          <a:xfrm rot="0">
            <a:off x="714375" y="628650"/>
            <a:ext cx="16859250" cy="1285875"/>
            <a:chOff x="0" y="0"/>
            <a:chExt cx="22479000" cy="1714500"/>
          </a:xfrm>
        </p:grpSpPr>
        <p:sp>
          <p:nvSpPr>
            <p:cNvPr name="Freeform 11" id="11"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5"/>
              <a:stretch>
                <a:fillRect l="0" t="0" r="0" b="0"/>
              </a:stretch>
            </a:blipFill>
          </p:spPr>
        </p:sp>
      </p:grpSp>
      <p:grpSp>
        <p:nvGrpSpPr>
          <p:cNvPr name="Group 12" id="12"/>
          <p:cNvGrpSpPr/>
          <p:nvPr/>
        </p:nvGrpSpPr>
        <p:grpSpPr>
          <a:xfrm rot="0">
            <a:off x="0" y="0"/>
            <a:ext cx="18288000" cy="57150"/>
            <a:chOff x="0" y="0"/>
            <a:chExt cx="24384000" cy="76200"/>
          </a:xfrm>
        </p:grpSpPr>
        <p:sp>
          <p:nvSpPr>
            <p:cNvPr name="Freeform 13" id="13"/>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4" id="14"/>
          <p:cNvSpPr txBox="true"/>
          <p:nvPr/>
        </p:nvSpPr>
        <p:spPr>
          <a:xfrm rot="0">
            <a:off x="357188" y="4442069"/>
            <a:ext cx="17573625" cy="1325832"/>
          </a:xfrm>
          <a:prstGeom prst="rect">
            <a:avLst/>
          </a:prstGeom>
        </p:spPr>
        <p:txBody>
          <a:bodyPr anchor="t" rtlCol="false" tIns="0" lIns="0" bIns="0" rIns="0">
            <a:spAutoFit/>
          </a:bodyPr>
          <a:lstStyle/>
          <a:p>
            <a:pPr algn="ctr">
              <a:lnSpc>
                <a:spcPts val="10366"/>
              </a:lnSpc>
            </a:pPr>
            <a:r>
              <a:rPr lang="en-US" b="true" sz="7200">
                <a:solidFill>
                  <a:srgbClr val="FFFFFF"/>
                </a:solidFill>
                <a:latin typeface="Poppins Bold"/>
                <a:ea typeface="Poppins Bold"/>
                <a:cs typeface="Poppins Bold"/>
                <a:sym typeface="Poppins Bold"/>
              </a:rPr>
              <a:t>Dashboard Design</a:t>
            </a:r>
          </a:p>
        </p:txBody>
      </p:sp>
      <p:sp>
        <p:nvSpPr>
          <p:cNvPr name="TextBox 15" id="15"/>
          <p:cNvSpPr txBox="true"/>
          <p:nvPr/>
        </p:nvSpPr>
        <p:spPr>
          <a:xfrm rot="0">
            <a:off x="357188" y="5767911"/>
            <a:ext cx="17573625" cy="642938"/>
          </a:xfrm>
          <a:prstGeom prst="rect">
            <a:avLst/>
          </a:prstGeom>
        </p:spPr>
        <p:txBody>
          <a:bodyPr anchor="t" rtlCol="false" tIns="0" lIns="0" bIns="0" rIns="0">
            <a:spAutoFit/>
          </a:bodyPr>
          <a:lstStyle/>
          <a:p>
            <a:pPr algn="ctr">
              <a:lnSpc>
                <a:spcPts val="3240"/>
              </a:lnSpc>
            </a:pPr>
            <a:r>
              <a:rPr lang="ar-EG" sz="2700">
                <a:solidFill>
                  <a:srgbClr val="03B3C3"/>
                </a:solidFill>
                <a:latin typeface="Cairo"/>
                <a:ea typeface="Cairo"/>
                <a:cs typeface="Cairo"/>
                <a:sym typeface="Cairo"/>
                <a:rtl val="true"/>
              </a:rPr>
              <a:t>تصميم لوحة البيانات التفاعلية والمؤشرات</a:t>
            </a:r>
          </a:p>
        </p:txBody>
      </p:sp>
      <p:grpSp>
        <p:nvGrpSpPr>
          <p:cNvPr name="Group 16" id="16"/>
          <p:cNvGrpSpPr/>
          <p:nvPr/>
        </p:nvGrpSpPr>
        <p:grpSpPr>
          <a:xfrm rot="0">
            <a:off x="8286750" y="6839474"/>
            <a:ext cx="1714500" cy="57150"/>
            <a:chOff x="0" y="0"/>
            <a:chExt cx="2286000" cy="76200"/>
          </a:xfrm>
        </p:grpSpPr>
        <p:sp>
          <p:nvSpPr>
            <p:cNvPr name="Freeform 17" id="17"/>
            <p:cNvSpPr/>
            <p:nvPr/>
          </p:nvSpPr>
          <p:spPr>
            <a:xfrm flipH="false" flipV="false" rot="0">
              <a:off x="0" y="0"/>
              <a:ext cx="2286000" cy="76200"/>
            </a:xfrm>
            <a:custGeom>
              <a:avLst/>
              <a:gdLst/>
              <a:ahLst/>
              <a:cxnLst/>
              <a:rect r="r" b="b" t="t" l="l"/>
              <a:pathLst>
                <a:path h="76200" w="2286000">
                  <a:moveTo>
                    <a:pt x="0" y="0"/>
                  </a:moveTo>
                  <a:lnTo>
                    <a:pt x="2286000" y="0"/>
                  </a:lnTo>
                  <a:lnTo>
                    <a:pt x="2286000" y="76200"/>
                  </a:lnTo>
                  <a:lnTo>
                    <a:pt x="0" y="76200"/>
                  </a:lnTo>
                  <a:close/>
                </a:path>
              </a:pathLst>
            </a:custGeom>
            <a:solidFill>
              <a:srgbClr val="03B3C3"/>
            </a:solidFill>
          </p:spPr>
        </p:sp>
      </p:grpSp>
      <p:sp>
        <p:nvSpPr>
          <p:cNvPr name="TextBox 18" id="18"/>
          <p:cNvSpPr txBox="true"/>
          <p:nvPr/>
        </p:nvSpPr>
        <p:spPr>
          <a:xfrm rot="0">
            <a:off x="4857750" y="7191899"/>
            <a:ext cx="8572500" cy="873101"/>
          </a:xfrm>
          <a:prstGeom prst="rect">
            <a:avLst/>
          </a:prstGeom>
        </p:spPr>
        <p:txBody>
          <a:bodyPr anchor="t" rtlCol="false" tIns="0" lIns="0" bIns="0" rIns="0">
            <a:spAutoFit/>
          </a:bodyPr>
          <a:lstStyle/>
          <a:p>
            <a:pPr algn="ctr">
              <a:lnSpc>
                <a:spcPts val="3670"/>
              </a:lnSpc>
            </a:pPr>
            <a:r>
              <a:rPr lang="en-US" sz="1912">
                <a:solidFill>
                  <a:srgbClr val="4085B4"/>
                </a:solidFill>
                <a:latin typeface="Aptos"/>
                <a:ea typeface="Aptos"/>
                <a:cs typeface="Aptos"/>
                <a:sym typeface="Aptos"/>
              </a:rPr>
              <a:t>Translating dataset rows into visual indicators and dynamic slicers using Power BI or Tableau interfaces.</a:t>
            </a:r>
          </a:p>
        </p:txBody>
      </p:sp>
      <p:sp>
        <p:nvSpPr>
          <p:cNvPr name="TextBox 19" id="19"/>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Phase 04</a:t>
            </a:r>
          </a:p>
        </p:txBody>
      </p:sp>
      <p:sp>
        <p:nvSpPr>
          <p:cNvPr name="TextBox 20" id="20"/>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Interactive Visualization Design</a:t>
            </a:r>
          </a:p>
        </p:txBody>
      </p:sp>
      <p:grpSp>
        <p:nvGrpSpPr>
          <p:cNvPr name="Group 21" id="21"/>
          <p:cNvGrpSpPr/>
          <p:nvPr/>
        </p:nvGrpSpPr>
        <p:grpSpPr>
          <a:xfrm rot="0">
            <a:off x="16216312" y="802110"/>
            <a:ext cx="928688" cy="924449"/>
            <a:chOff x="0" y="0"/>
            <a:chExt cx="1238250" cy="1232598"/>
          </a:xfrm>
        </p:grpSpPr>
        <p:sp>
          <p:nvSpPr>
            <p:cNvPr name="Freeform 22" id="22"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6"/>
              <a:stretch>
                <a:fillRect l="0" t="0" r="0" b="-2009"/>
              </a:stretch>
            </a:blipFill>
          </p:spPr>
        </p:sp>
      </p:grpSp>
      <p:grpSp>
        <p:nvGrpSpPr>
          <p:cNvPr name="Group 23" id="23"/>
          <p:cNvGrpSpPr/>
          <p:nvPr/>
        </p:nvGrpSpPr>
        <p:grpSpPr>
          <a:xfrm rot="0">
            <a:off x="1071562" y="628650"/>
            <a:ext cx="1148274" cy="1103376"/>
            <a:chOff x="0" y="0"/>
            <a:chExt cx="1238250" cy="1189834"/>
          </a:xfrm>
        </p:grpSpPr>
        <p:sp>
          <p:nvSpPr>
            <p:cNvPr name="Freeform 24" id="24"/>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338141"/>
            <a:ext cx="8143875" cy="5310930"/>
            <a:chOff x="0" y="0"/>
            <a:chExt cx="10858500" cy="7081241"/>
          </a:xfrm>
        </p:grpSpPr>
        <p:sp>
          <p:nvSpPr>
            <p:cNvPr name="Freeform 9" id="9" descr="image.png"/>
            <p:cNvSpPr/>
            <p:nvPr/>
          </p:nvSpPr>
          <p:spPr>
            <a:xfrm flipH="false" flipV="false" rot="0">
              <a:off x="0" y="0"/>
              <a:ext cx="10858500" cy="7081266"/>
            </a:xfrm>
            <a:custGeom>
              <a:avLst/>
              <a:gdLst/>
              <a:ahLst/>
              <a:cxnLst/>
              <a:rect r="r" b="b" t="t" l="l"/>
              <a:pathLst>
                <a:path h="7081266" w="10858500">
                  <a:moveTo>
                    <a:pt x="0" y="0"/>
                  </a:moveTo>
                  <a:lnTo>
                    <a:pt x="10858500" y="0"/>
                  </a:lnTo>
                  <a:lnTo>
                    <a:pt x="10858500" y="7081266"/>
                  </a:lnTo>
                  <a:lnTo>
                    <a:pt x="0" y="7081266"/>
                  </a:lnTo>
                  <a:lnTo>
                    <a:pt x="0" y="0"/>
                  </a:lnTo>
                  <a:close/>
                </a:path>
              </a:pathLst>
            </a:custGeom>
            <a:blipFill>
              <a:blip r:embed="rId4"/>
              <a:stretch>
                <a:fillRect l="0" t="0" r="0" b="-344"/>
              </a:stretch>
            </a:blipFill>
          </p:spPr>
        </p:sp>
      </p:grpSp>
      <p:grpSp>
        <p:nvGrpSpPr>
          <p:cNvPr name="Group 10" id="10"/>
          <p:cNvGrpSpPr/>
          <p:nvPr/>
        </p:nvGrpSpPr>
        <p:grpSpPr>
          <a:xfrm rot="0">
            <a:off x="9144000" y="3278981"/>
            <a:ext cx="8625997" cy="5429250"/>
            <a:chOff x="0" y="0"/>
            <a:chExt cx="11501330" cy="7239000"/>
          </a:xfrm>
        </p:grpSpPr>
        <p:sp>
          <p:nvSpPr>
            <p:cNvPr name="Freeform 11" id="11" descr="image.png"/>
            <p:cNvSpPr/>
            <p:nvPr/>
          </p:nvSpPr>
          <p:spPr>
            <a:xfrm flipH="false" flipV="false" rot="0">
              <a:off x="0" y="0"/>
              <a:ext cx="11501330" cy="7239000"/>
            </a:xfrm>
            <a:custGeom>
              <a:avLst/>
              <a:gdLst/>
              <a:ahLst/>
              <a:cxnLst/>
              <a:rect r="r" b="b" t="t" l="l"/>
              <a:pathLst>
                <a:path h="7239000" w="11501330">
                  <a:moveTo>
                    <a:pt x="335725" y="0"/>
                  </a:moveTo>
                  <a:lnTo>
                    <a:pt x="11165605" y="0"/>
                  </a:lnTo>
                  <a:cubicBezTo>
                    <a:pt x="11351020" y="0"/>
                    <a:pt x="11501330" y="150309"/>
                    <a:pt x="11501330" y="335725"/>
                  </a:cubicBezTo>
                  <a:lnTo>
                    <a:pt x="11501330" y="6903275"/>
                  </a:lnTo>
                  <a:cubicBezTo>
                    <a:pt x="11501330" y="6992315"/>
                    <a:pt x="11465959" y="7077708"/>
                    <a:pt x="11402999" y="7140669"/>
                  </a:cubicBezTo>
                  <a:cubicBezTo>
                    <a:pt x="11340037" y="7203629"/>
                    <a:pt x="11254645" y="7239000"/>
                    <a:pt x="11165605" y="7239000"/>
                  </a:cubicBezTo>
                  <a:lnTo>
                    <a:pt x="335725" y="7239000"/>
                  </a:lnTo>
                  <a:cubicBezTo>
                    <a:pt x="246685" y="7239000"/>
                    <a:pt x="161292" y="7203629"/>
                    <a:pt x="98332" y="7140669"/>
                  </a:cubicBezTo>
                  <a:cubicBezTo>
                    <a:pt x="35371" y="7077708"/>
                    <a:pt x="0" y="6992315"/>
                    <a:pt x="0" y="6903275"/>
                  </a:cubicBezTo>
                  <a:lnTo>
                    <a:pt x="0" y="335725"/>
                  </a:lnTo>
                  <a:cubicBezTo>
                    <a:pt x="0" y="246685"/>
                    <a:pt x="35371" y="161292"/>
                    <a:pt x="98332" y="98332"/>
                  </a:cubicBezTo>
                  <a:cubicBezTo>
                    <a:pt x="161292" y="35371"/>
                    <a:pt x="246685" y="0"/>
                    <a:pt x="335725" y="0"/>
                  </a:cubicBezTo>
                  <a:close/>
                </a:path>
              </a:pathLst>
            </a:custGeom>
            <a:blipFill>
              <a:blip r:embed="rId5"/>
              <a:stretch>
                <a:fillRect l="0" t="-2960" r="0" b="-3238"/>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BI Interactive Interface Design</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Dashboard Metrics &amp; User Flow</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847729"/>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Top 10 Affected Cities </a:t>
            </a:r>
          </a:p>
        </p:txBody>
      </p:sp>
      <p:sp>
        <p:nvSpPr>
          <p:cNvPr name="TextBox 21" id="21"/>
          <p:cNvSpPr txBox="true"/>
          <p:nvPr/>
        </p:nvSpPr>
        <p:spPr>
          <a:xfrm rot="0">
            <a:off x="1429626" y="4123954"/>
            <a:ext cx="7428624" cy="4838167"/>
          </a:xfrm>
          <a:prstGeom prst="rect">
            <a:avLst/>
          </a:prstGeom>
        </p:spPr>
        <p:txBody>
          <a:bodyPr anchor="t" rtlCol="false" tIns="0" lIns="0" bIns="0" rIns="0">
            <a:spAutoFit/>
          </a:bodyPr>
          <a:lstStyle/>
          <a:p>
            <a:pPr algn="l">
              <a:lnSpc>
                <a:spcPts val="2611"/>
              </a:lnSpc>
            </a:pPr>
            <a:r>
              <a:rPr lang="en-US" b="true" sz="1359">
                <a:solidFill>
                  <a:srgbClr val="364149"/>
                </a:solidFill>
                <a:latin typeface="Aptos Bold"/>
                <a:ea typeface="Aptos Bold"/>
                <a:cs typeface="Aptos Bold"/>
                <a:sym typeface="Aptos Bold"/>
              </a:rPr>
              <a:t> The dataset covers 193 countries, providing a comprehensive global view of climate indicators.</a:t>
            </a:r>
          </a:p>
          <a:p>
            <a:pPr algn="l" marL="293623" indent="-146812" lvl="1">
              <a:lnSpc>
                <a:spcPts val="2611"/>
              </a:lnSpc>
              <a:buFont typeface="Arial"/>
              <a:buChar char="•"/>
            </a:pPr>
            <a:r>
              <a:rPr lang="en-US" b="true" sz="1359">
                <a:solidFill>
                  <a:srgbClr val="364149"/>
                </a:solidFill>
                <a:latin typeface="Aptos Bold"/>
                <a:ea typeface="Aptos Bold"/>
                <a:cs typeface="Aptos Bold"/>
                <a:sym typeface="Aptos Bold"/>
              </a:rPr>
              <a:t> The average global temperature reached 15.32°C, highlighting the continuous warming trend observed worldwide.</a:t>
            </a:r>
          </a:p>
          <a:p>
            <a:pPr algn="l" marL="293623" indent="-146812" lvl="1">
              <a:lnSpc>
                <a:spcPts val="2611"/>
              </a:lnSpc>
              <a:buFont typeface="Arial"/>
              <a:buChar char="•"/>
            </a:pPr>
            <a:r>
              <a:rPr lang="en-US" b="true" sz="1359">
                <a:solidFill>
                  <a:srgbClr val="364149"/>
                </a:solidFill>
                <a:latin typeface="Aptos Bold"/>
                <a:ea typeface="Aptos Bold"/>
                <a:cs typeface="Aptos Bold"/>
                <a:sym typeface="Aptos Bold"/>
              </a:rPr>
              <a:t>The average humidity value of 71.48% indicates significant moisture levels that can influence weather patterns and precipitation.</a:t>
            </a:r>
          </a:p>
          <a:p>
            <a:pPr algn="l" marL="293623" indent="-146812" lvl="1">
              <a:lnSpc>
                <a:spcPts val="2611"/>
              </a:lnSpc>
              <a:buFont typeface="Arial"/>
              <a:buChar char="•"/>
            </a:pPr>
            <a:r>
              <a:rPr lang="en-US" b="true" sz="1359">
                <a:solidFill>
                  <a:srgbClr val="364149"/>
                </a:solidFill>
                <a:latin typeface="Aptos Bold"/>
                <a:ea typeface="Aptos Bold"/>
                <a:cs typeface="Aptos Bold"/>
                <a:sym typeface="Aptos Bold"/>
              </a:rPr>
              <a:t>The average water value of 24.02K shows notable disparities in water resource availability across countries.</a:t>
            </a:r>
          </a:p>
          <a:p>
            <a:pPr algn="l" marL="293623" indent="-146812" lvl="1">
              <a:lnSpc>
                <a:spcPts val="2611"/>
              </a:lnSpc>
              <a:buFont typeface="Arial"/>
              <a:buChar char="•"/>
            </a:pPr>
            <a:r>
              <a:rPr lang="en-US" b="true" sz="1359">
                <a:solidFill>
                  <a:srgbClr val="364149"/>
                </a:solidFill>
                <a:latin typeface="Aptos Bold"/>
                <a:ea typeface="Aptos Bold"/>
                <a:cs typeface="Aptos Bold"/>
                <a:sym typeface="Aptos Bold"/>
              </a:rPr>
              <a:t>The Nutrients-to-Water ratio (1.98%) suggests a relatively low concentration of nutrients compared to water resources, indicating potential agricultural and environmental imbalances.</a:t>
            </a:r>
          </a:p>
          <a:p>
            <a:pPr algn="l" marL="293623" indent="-146812" lvl="1">
              <a:lnSpc>
                <a:spcPts val="2611"/>
              </a:lnSpc>
              <a:buFont typeface="Arial"/>
              <a:buChar char="•"/>
            </a:pPr>
            <a:r>
              <a:rPr lang="en-US" b="true" sz="1359">
                <a:solidFill>
                  <a:srgbClr val="364149"/>
                </a:solidFill>
                <a:latin typeface="Aptos Bold"/>
                <a:ea typeface="Aptos Bold"/>
                <a:cs typeface="Aptos Bold"/>
                <a:sym typeface="Aptos Bold"/>
              </a:rPr>
              <a:t>The highest average temperatures were recorded in cities such as Umm Durman, Madras, Jiddah, Bangkok, and Ho Chi Minh City, demonstrating that regions in Africa, the Middle East, and South Asia are among the most heat-affected areas.</a:t>
            </a:r>
          </a:p>
          <a:p>
            <a:pPr algn="l">
              <a:lnSpc>
                <a:spcPts val="2611"/>
              </a:lnSpc>
            </a:pPr>
          </a:p>
        </p:txBody>
      </p:sp>
      <p:grpSp>
        <p:nvGrpSpPr>
          <p:cNvPr name="Group 22" id="22"/>
          <p:cNvGrpSpPr/>
          <p:nvPr/>
        </p:nvGrpSpPr>
        <p:grpSpPr>
          <a:xfrm rot="0">
            <a:off x="9144000" y="3321844"/>
            <a:ext cx="8625997" cy="5343525"/>
            <a:chOff x="0" y="0"/>
            <a:chExt cx="11501330" cy="7124700"/>
          </a:xfrm>
        </p:grpSpPr>
        <p:sp>
          <p:nvSpPr>
            <p:cNvPr name="Freeform 23" id="23"/>
            <p:cNvSpPr/>
            <p:nvPr/>
          </p:nvSpPr>
          <p:spPr>
            <a:xfrm flipH="false" flipV="false" rot="0">
              <a:off x="0" y="0"/>
              <a:ext cx="11501330" cy="7124700"/>
            </a:xfrm>
            <a:custGeom>
              <a:avLst/>
              <a:gdLst/>
              <a:ahLst/>
              <a:cxnLst/>
              <a:rect r="r" b="b" t="t" l="l"/>
              <a:pathLst>
                <a:path h="7124700" w="11501330">
                  <a:moveTo>
                    <a:pt x="284735" y="0"/>
                  </a:moveTo>
                  <a:lnTo>
                    <a:pt x="11216594" y="0"/>
                  </a:lnTo>
                  <a:cubicBezTo>
                    <a:pt x="11373849" y="0"/>
                    <a:pt x="11501330" y="127480"/>
                    <a:pt x="11501330" y="284735"/>
                  </a:cubicBezTo>
                  <a:lnTo>
                    <a:pt x="11501330" y="6839965"/>
                  </a:lnTo>
                  <a:cubicBezTo>
                    <a:pt x="11501330" y="6997219"/>
                    <a:pt x="11373849" y="7124700"/>
                    <a:pt x="11216594" y="7124700"/>
                  </a:cubicBezTo>
                  <a:lnTo>
                    <a:pt x="284735" y="7124700"/>
                  </a:lnTo>
                  <a:cubicBezTo>
                    <a:pt x="127480" y="7124700"/>
                    <a:pt x="0" y="6997219"/>
                    <a:pt x="0" y="6839965"/>
                  </a:cubicBezTo>
                  <a:lnTo>
                    <a:pt x="0" y="284735"/>
                  </a:lnTo>
                  <a:cubicBezTo>
                    <a:pt x="0" y="127480"/>
                    <a:pt x="127480" y="0"/>
                    <a:pt x="284735" y="0"/>
                  </a:cubicBezTo>
                  <a:close/>
                </a:path>
              </a:pathLst>
            </a:custGeom>
            <a:blipFill>
              <a:blip r:embed="rId8"/>
              <a:stretch>
                <a:fillRect l="-3739" t="0" r="-3739" b="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338141"/>
            <a:ext cx="8143875" cy="5310930"/>
            <a:chOff x="0" y="0"/>
            <a:chExt cx="10858500" cy="7081241"/>
          </a:xfrm>
        </p:grpSpPr>
        <p:sp>
          <p:nvSpPr>
            <p:cNvPr name="Freeform 9" id="9" descr="image.png"/>
            <p:cNvSpPr/>
            <p:nvPr/>
          </p:nvSpPr>
          <p:spPr>
            <a:xfrm flipH="false" flipV="false" rot="0">
              <a:off x="0" y="0"/>
              <a:ext cx="10858500" cy="7081266"/>
            </a:xfrm>
            <a:custGeom>
              <a:avLst/>
              <a:gdLst/>
              <a:ahLst/>
              <a:cxnLst/>
              <a:rect r="r" b="b" t="t" l="l"/>
              <a:pathLst>
                <a:path h="7081266" w="10858500">
                  <a:moveTo>
                    <a:pt x="0" y="0"/>
                  </a:moveTo>
                  <a:lnTo>
                    <a:pt x="10858500" y="0"/>
                  </a:lnTo>
                  <a:lnTo>
                    <a:pt x="10858500" y="7081266"/>
                  </a:lnTo>
                  <a:lnTo>
                    <a:pt x="0" y="7081266"/>
                  </a:lnTo>
                  <a:lnTo>
                    <a:pt x="0" y="0"/>
                  </a:lnTo>
                  <a:close/>
                </a:path>
              </a:pathLst>
            </a:custGeom>
            <a:blipFill>
              <a:blip r:embed="rId4"/>
              <a:stretch>
                <a:fillRect l="0" t="0" r="0" b="-344"/>
              </a:stretch>
            </a:blipFill>
          </p:spPr>
        </p:sp>
      </p:grpSp>
      <p:grpSp>
        <p:nvGrpSpPr>
          <p:cNvPr name="Group 10" id="10"/>
          <p:cNvGrpSpPr/>
          <p:nvPr/>
        </p:nvGrpSpPr>
        <p:grpSpPr>
          <a:xfrm rot="0">
            <a:off x="9286875" y="3278981"/>
            <a:ext cx="8429625" cy="5429250"/>
            <a:chOff x="0" y="0"/>
            <a:chExt cx="11239500" cy="7239000"/>
          </a:xfrm>
        </p:grpSpPr>
        <p:sp>
          <p:nvSpPr>
            <p:cNvPr name="Freeform 11" id="11" descr="image.png"/>
            <p:cNvSpPr/>
            <p:nvPr/>
          </p:nvSpPr>
          <p:spPr>
            <a:xfrm flipH="false" flipV="false" rot="0">
              <a:off x="0" y="0"/>
              <a:ext cx="11239500" cy="7239000"/>
            </a:xfrm>
            <a:custGeom>
              <a:avLst/>
              <a:gdLst/>
              <a:ahLst/>
              <a:cxnLst/>
              <a:rect r="r" b="b" t="t" l="l"/>
              <a:pathLst>
                <a:path h="7239000" w="11239500">
                  <a:moveTo>
                    <a:pt x="380354" y="0"/>
                  </a:moveTo>
                  <a:lnTo>
                    <a:pt x="10859146" y="0"/>
                  </a:lnTo>
                  <a:cubicBezTo>
                    <a:pt x="10960022" y="0"/>
                    <a:pt x="11056766" y="40073"/>
                    <a:pt x="11128097" y="111403"/>
                  </a:cubicBezTo>
                  <a:cubicBezTo>
                    <a:pt x="11199427" y="182733"/>
                    <a:pt x="11239500" y="279478"/>
                    <a:pt x="11239500" y="380354"/>
                  </a:cubicBezTo>
                  <a:lnTo>
                    <a:pt x="11239500" y="6858646"/>
                  </a:lnTo>
                  <a:cubicBezTo>
                    <a:pt x="11239500" y="6959522"/>
                    <a:pt x="11199427" y="7056266"/>
                    <a:pt x="11128097" y="7127597"/>
                  </a:cubicBezTo>
                  <a:cubicBezTo>
                    <a:pt x="11056766" y="7198927"/>
                    <a:pt x="10960022" y="7239000"/>
                    <a:pt x="10859146" y="7239000"/>
                  </a:cubicBezTo>
                  <a:lnTo>
                    <a:pt x="380354" y="7239000"/>
                  </a:lnTo>
                  <a:cubicBezTo>
                    <a:pt x="279478" y="7239000"/>
                    <a:pt x="182733" y="7198927"/>
                    <a:pt x="111403" y="7127597"/>
                  </a:cubicBezTo>
                  <a:cubicBezTo>
                    <a:pt x="40073" y="7056266"/>
                    <a:pt x="0" y="6959522"/>
                    <a:pt x="0" y="6858646"/>
                  </a:cubicBezTo>
                  <a:lnTo>
                    <a:pt x="0" y="380354"/>
                  </a:lnTo>
                  <a:cubicBezTo>
                    <a:pt x="0" y="279478"/>
                    <a:pt x="40073" y="182733"/>
                    <a:pt x="111403" y="111403"/>
                  </a:cubicBezTo>
                  <a:cubicBezTo>
                    <a:pt x="182733" y="40073"/>
                    <a:pt x="279478" y="0"/>
                    <a:pt x="380354" y="0"/>
                  </a:cubicBezTo>
                  <a:close/>
                </a:path>
              </a:pathLst>
            </a:custGeom>
            <a:blipFill>
              <a:blip r:embed="rId5"/>
              <a:stretch>
                <a:fillRect l="0" t="-1754" r="0" b="-2026"/>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BI Interactive Interface Design</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Dashboard Metrics &amp; User Flow</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847729"/>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Gr</a:t>
            </a:r>
            <a:r>
              <a:rPr lang="en-US" b="true" sz="2106">
                <a:solidFill>
                  <a:srgbClr val="364149"/>
                </a:solidFill>
                <a:latin typeface="Poppins Bold"/>
                <a:ea typeface="Poppins Bold"/>
                <a:cs typeface="Poppins Bold"/>
                <a:sym typeface="Poppins Bold"/>
              </a:rPr>
              <a:t>eenhouse Gases Dashboard</a:t>
            </a:r>
          </a:p>
        </p:txBody>
      </p:sp>
      <p:sp>
        <p:nvSpPr>
          <p:cNvPr name="TextBox 21" id="21"/>
          <p:cNvSpPr txBox="true"/>
          <p:nvPr/>
        </p:nvSpPr>
        <p:spPr>
          <a:xfrm rot="0">
            <a:off x="1429626" y="4104904"/>
            <a:ext cx="6982155" cy="3971367"/>
          </a:xfrm>
          <a:prstGeom prst="rect">
            <a:avLst/>
          </a:prstGeom>
        </p:spPr>
        <p:txBody>
          <a:bodyPr anchor="t" rtlCol="false" tIns="0" lIns="0" bIns="0" rIns="0">
            <a:spAutoFit/>
          </a:bodyPr>
          <a:lstStyle/>
          <a:p>
            <a:pPr algn="l" marL="361151" indent="-180576" lvl="1">
              <a:lnSpc>
                <a:spcPts val="3211"/>
              </a:lnSpc>
              <a:buFont typeface="Arial"/>
              <a:buChar char="•"/>
            </a:pPr>
            <a:r>
              <a:rPr lang="en-US" b="true" sz="1672">
                <a:solidFill>
                  <a:srgbClr val="364149"/>
                </a:solidFill>
                <a:latin typeface="Aptos Bold"/>
                <a:ea typeface="Aptos Bold"/>
                <a:cs typeface="Aptos Bold"/>
                <a:sym typeface="Aptos Bold"/>
              </a:rPr>
              <a:t>CO₂ emissions are the dominant greenhouse gas, with an average value of  76.84, significantly higher than both CH₄ and N₂O emissions.</a:t>
            </a:r>
          </a:p>
          <a:p>
            <a:pPr algn="l" marL="361151" indent="-180576" lvl="1">
              <a:lnSpc>
                <a:spcPts val="3211"/>
              </a:lnSpc>
              <a:buFont typeface="Arial"/>
              <a:buChar char="•"/>
            </a:pPr>
            <a:r>
              <a:rPr lang="en-US" b="true" sz="1672">
                <a:solidFill>
                  <a:srgbClr val="364149"/>
                </a:solidFill>
                <a:latin typeface="Aptos Bold"/>
                <a:ea typeface="Aptos Bold"/>
                <a:cs typeface="Aptos Bold"/>
                <a:sym typeface="Aptos Bold"/>
              </a:rPr>
              <a:t>Methane (CH₄) emissions showed a gradual decline over the years, indicating improvements in emission management in some regions.</a:t>
            </a:r>
          </a:p>
          <a:p>
            <a:pPr algn="l" marL="361151" indent="-180576" lvl="1">
              <a:lnSpc>
                <a:spcPts val="3211"/>
              </a:lnSpc>
              <a:buFont typeface="Arial"/>
              <a:buChar char="•"/>
            </a:pPr>
            <a:r>
              <a:rPr lang="en-US" b="true" sz="1672">
                <a:solidFill>
                  <a:srgbClr val="364149"/>
                </a:solidFill>
                <a:latin typeface="Aptos Bold"/>
                <a:ea typeface="Aptos Bold"/>
                <a:cs typeface="Aptos Bold"/>
                <a:sym typeface="Aptos Bold"/>
              </a:rPr>
              <a:t>Nitrous Oxide (N₂O) emissions remained relatively stable, with only minor fluctuations.</a:t>
            </a:r>
          </a:p>
          <a:p>
            <a:pPr algn="l" marL="361151" indent="-180576" lvl="1">
              <a:lnSpc>
                <a:spcPts val="3211"/>
              </a:lnSpc>
              <a:buFont typeface="Arial"/>
              <a:buChar char="•"/>
            </a:pPr>
            <a:r>
              <a:rPr lang="en-US" b="true" sz="1672">
                <a:solidFill>
                  <a:srgbClr val="364149"/>
                </a:solidFill>
                <a:latin typeface="Aptos Bold"/>
                <a:ea typeface="Aptos Bold"/>
                <a:cs typeface="Aptos Bold"/>
                <a:sym typeface="Aptos Bold"/>
              </a:rPr>
              <a:t>Historical data shows periods of sharp increases in CO₂ emissions, followed by periods of stabilization, emphasizing the long-term impact of industrialization and energy consumption.</a:t>
            </a:r>
          </a:p>
        </p:txBody>
      </p:sp>
      <p:grpSp>
        <p:nvGrpSpPr>
          <p:cNvPr name="Group 22" id="22"/>
          <p:cNvGrpSpPr/>
          <p:nvPr/>
        </p:nvGrpSpPr>
        <p:grpSpPr>
          <a:xfrm rot="0">
            <a:off x="9286875" y="3321844"/>
            <a:ext cx="8429625" cy="5343525"/>
            <a:chOff x="0" y="0"/>
            <a:chExt cx="11239500" cy="7124700"/>
          </a:xfrm>
        </p:grpSpPr>
        <p:sp>
          <p:nvSpPr>
            <p:cNvPr name="Freeform 23" id="23"/>
            <p:cNvSpPr/>
            <p:nvPr/>
          </p:nvSpPr>
          <p:spPr>
            <a:xfrm flipH="false" flipV="false" rot="0">
              <a:off x="0" y="0"/>
              <a:ext cx="11239500" cy="7124700"/>
            </a:xfrm>
            <a:custGeom>
              <a:avLst/>
              <a:gdLst/>
              <a:ahLst/>
              <a:cxnLst/>
              <a:rect r="r" b="b" t="t" l="l"/>
              <a:pathLst>
                <a:path h="7124700" w="11239500">
                  <a:moveTo>
                    <a:pt x="291368" y="0"/>
                  </a:moveTo>
                  <a:lnTo>
                    <a:pt x="10948132" y="0"/>
                  </a:lnTo>
                  <a:cubicBezTo>
                    <a:pt x="11025408" y="0"/>
                    <a:pt x="11099518" y="30698"/>
                    <a:pt x="11154160" y="85340"/>
                  </a:cubicBezTo>
                  <a:cubicBezTo>
                    <a:pt x="11208803" y="139982"/>
                    <a:pt x="11239500" y="214093"/>
                    <a:pt x="11239500" y="291368"/>
                  </a:cubicBezTo>
                  <a:lnTo>
                    <a:pt x="11239500" y="6833332"/>
                  </a:lnTo>
                  <a:cubicBezTo>
                    <a:pt x="11239500" y="6910608"/>
                    <a:pt x="11208803" y="6984718"/>
                    <a:pt x="11154160" y="7039360"/>
                  </a:cubicBezTo>
                  <a:cubicBezTo>
                    <a:pt x="11099518" y="7094003"/>
                    <a:pt x="11025408" y="7124700"/>
                    <a:pt x="10948132" y="7124700"/>
                  </a:cubicBezTo>
                  <a:lnTo>
                    <a:pt x="291368" y="7124700"/>
                  </a:lnTo>
                  <a:cubicBezTo>
                    <a:pt x="214093" y="7124700"/>
                    <a:pt x="139982" y="7094003"/>
                    <a:pt x="85340" y="7039360"/>
                  </a:cubicBezTo>
                  <a:cubicBezTo>
                    <a:pt x="30698" y="6984718"/>
                    <a:pt x="0" y="6910608"/>
                    <a:pt x="0" y="6833332"/>
                  </a:cubicBezTo>
                  <a:lnTo>
                    <a:pt x="0" y="291368"/>
                  </a:lnTo>
                  <a:cubicBezTo>
                    <a:pt x="0" y="214093"/>
                    <a:pt x="30698" y="139982"/>
                    <a:pt x="85340" y="85340"/>
                  </a:cubicBezTo>
                  <a:cubicBezTo>
                    <a:pt x="139982" y="30698"/>
                    <a:pt x="214093" y="0"/>
                    <a:pt x="291368" y="0"/>
                  </a:cubicBezTo>
                  <a:close/>
                </a:path>
              </a:pathLst>
            </a:custGeom>
            <a:blipFill>
              <a:blip r:embed="rId8"/>
              <a:stretch>
                <a:fillRect l="-822" t="0" r="-822" b="0"/>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338141"/>
            <a:ext cx="8143875" cy="5310930"/>
            <a:chOff x="0" y="0"/>
            <a:chExt cx="10858500" cy="7081241"/>
          </a:xfrm>
        </p:grpSpPr>
        <p:sp>
          <p:nvSpPr>
            <p:cNvPr name="Freeform 9" id="9" descr="image.png"/>
            <p:cNvSpPr/>
            <p:nvPr/>
          </p:nvSpPr>
          <p:spPr>
            <a:xfrm flipH="false" flipV="false" rot="0">
              <a:off x="0" y="0"/>
              <a:ext cx="10858500" cy="7081266"/>
            </a:xfrm>
            <a:custGeom>
              <a:avLst/>
              <a:gdLst/>
              <a:ahLst/>
              <a:cxnLst/>
              <a:rect r="r" b="b" t="t" l="l"/>
              <a:pathLst>
                <a:path h="7081266" w="10858500">
                  <a:moveTo>
                    <a:pt x="0" y="0"/>
                  </a:moveTo>
                  <a:lnTo>
                    <a:pt x="10858500" y="0"/>
                  </a:lnTo>
                  <a:lnTo>
                    <a:pt x="10858500" y="7081266"/>
                  </a:lnTo>
                  <a:lnTo>
                    <a:pt x="0" y="7081266"/>
                  </a:lnTo>
                  <a:lnTo>
                    <a:pt x="0" y="0"/>
                  </a:lnTo>
                  <a:close/>
                </a:path>
              </a:pathLst>
            </a:custGeom>
            <a:blipFill>
              <a:blip r:embed="rId4"/>
              <a:stretch>
                <a:fillRect l="0" t="0" r="0" b="-344"/>
              </a:stretch>
            </a:blipFill>
          </p:spPr>
        </p:sp>
      </p:grpSp>
      <p:grpSp>
        <p:nvGrpSpPr>
          <p:cNvPr name="Group 10" id="10"/>
          <p:cNvGrpSpPr/>
          <p:nvPr/>
        </p:nvGrpSpPr>
        <p:grpSpPr>
          <a:xfrm rot="0">
            <a:off x="9144000" y="3278981"/>
            <a:ext cx="8913079" cy="5429250"/>
            <a:chOff x="0" y="0"/>
            <a:chExt cx="11884105" cy="7239000"/>
          </a:xfrm>
        </p:grpSpPr>
        <p:sp>
          <p:nvSpPr>
            <p:cNvPr name="Freeform 11" id="11" descr="image.png"/>
            <p:cNvSpPr/>
            <p:nvPr/>
          </p:nvSpPr>
          <p:spPr>
            <a:xfrm flipH="false" flipV="false" rot="0">
              <a:off x="0" y="0"/>
              <a:ext cx="11884105" cy="7239000"/>
            </a:xfrm>
            <a:custGeom>
              <a:avLst/>
              <a:gdLst/>
              <a:ahLst/>
              <a:cxnLst/>
              <a:rect r="r" b="b" t="t" l="l"/>
              <a:pathLst>
                <a:path h="7239000" w="11884105">
                  <a:moveTo>
                    <a:pt x="348119" y="0"/>
                  </a:moveTo>
                  <a:lnTo>
                    <a:pt x="11535985" y="0"/>
                  </a:lnTo>
                  <a:cubicBezTo>
                    <a:pt x="11728246" y="0"/>
                    <a:pt x="11884105" y="155858"/>
                    <a:pt x="11884105" y="348119"/>
                  </a:cubicBezTo>
                  <a:lnTo>
                    <a:pt x="11884105" y="6890880"/>
                  </a:lnTo>
                  <a:cubicBezTo>
                    <a:pt x="11884105" y="6983208"/>
                    <a:pt x="11847428" y="7071753"/>
                    <a:pt x="11782143" y="7137038"/>
                  </a:cubicBezTo>
                  <a:cubicBezTo>
                    <a:pt x="11716858" y="7202323"/>
                    <a:pt x="11628313" y="7239000"/>
                    <a:pt x="11535985" y="7239000"/>
                  </a:cubicBezTo>
                  <a:lnTo>
                    <a:pt x="348119" y="7239000"/>
                  </a:lnTo>
                  <a:cubicBezTo>
                    <a:pt x="255792" y="7239000"/>
                    <a:pt x="167247" y="7202323"/>
                    <a:pt x="101962" y="7137038"/>
                  </a:cubicBezTo>
                  <a:cubicBezTo>
                    <a:pt x="36677" y="7071753"/>
                    <a:pt x="0" y="6983208"/>
                    <a:pt x="0" y="6890880"/>
                  </a:cubicBezTo>
                  <a:lnTo>
                    <a:pt x="0" y="348119"/>
                  </a:lnTo>
                  <a:cubicBezTo>
                    <a:pt x="0" y="255792"/>
                    <a:pt x="36677" y="167247"/>
                    <a:pt x="101962" y="101962"/>
                  </a:cubicBezTo>
                  <a:cubicBezTo>
                    <a:pt x="167247" y="36677"/>
                    <a:pt x="255792" y="0"/>
                    <a:pt x="348119" y="0"/>
                  </a:cubicBezTo>
                  <a:close/>
                </a:path>
              </a:pathLst>
            </a:custGeom>
            <a:blipFill>
              <a:blip r:embed="rId5"/>
              <a:stretch>
                <a:fillRect l="0" t="-4722" r="0" b="-5010"/>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BI Interactive Interface Design</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Dashboard Metrics &amp; User Flow</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847729"/>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W</a:t>
            </a:r>
            <a:r>
              <a:rPr lang="en-US" b="true" sz="2106">
                <a:solidFill>
                  <a:srgbClr val="364149"/>
                </a:solidFill>
                <a:latin typeface="Poppins Bold"/>
                <a:ea typeface="Poppins Bold"/>
                <a:cs typeface="Poppins Bold"/>
                <a:sym typeface="Poppins Bold"/>
              </a:rPr>
              <a:t>ater Resources &amp; Temperature Dashboard</a:t>
            </a:r>
          </a:p>
        </p:txBody>
      </p:sp>
      <p:sp>
        <p:nvSpPr>
          <p:cNvPr name="TextBox 21" id="21"/>
          <p:cNvSpPr txBox="true"/>
          <p:nvPr/>
        </p:nvSpPr>
        <p:spPr>
          <a:xfrm rot="0">
            <a:off x="1429626" y="4104904"/>
            <a:ext cx="7254316" cy="2897610"/>
          </a:xfrm>
          <a:prstGeom prst="rect">
            <a:avLst/>
          </a:prstGeom>
        </p:spPr>
        <p:txBody>
          <a:bodyPr anchor="t" rtlCol="false" tIns="0" lIns="0" bIns="0" rIns="0">
            <a:spAutoFit/>
          </a:bodyPr>
          <a:lstStyle/>
          <a:p>
            <a:pPr algn="l" marL="377577" indent="-188788" lvl="1">
              <a:lnSpc>
                <a:spcPts val="3357"/>
              </a:lnSpc>
              <a:buFont typeface="Arial"/>
              <a:buChar char="•"/>
            </a:pPr>
            <a:r>
              <a:rPr lang="en-US" b="true" sz="1748">
                <a:solidFill>
                  <a:srgbClr val="364149"/>
                </a:solidFill>
                <a:latin typeface="Aptos Bold"/>
                <a:ea typeface="Aptos Bold"/>
                <a:cs typeface="Aptos Bold"/>
                <a:sym typeface="Aptos Bold"/>
              </a:rPr>
              <a:t>Countries such as Saudi Arabia, Djibouti, Mali, Burkina Faso, and Aruba recorded the highest average temperatures.</a:t>
            </a:r>
          </a:p>
          <a:p>
            <a:pPr algn="l" marL="377577" indent="-188788" lvl="1">
              <a:lnSpc>
                <a:spcPts val="3357"/>
              </a:lnSpc>
              <a:buFont typeface="Arial"/>
              <a:buChar char="•"/>
            </a:pPr>
            <a:r>
              <a:rPr lang="en-US" b="true" sz="1748">
                <a:solidFill>
                  <a:srgbClr val="364149"/>
                </a:solidFill>
                <a:latin typeface="Aptos Bold"/>
                <a:ea typeface="Aptos Bold"/>
                <a:cs typeface="Aptos Bold"/>
                <a:sym typeface="Aptos Bold"/>
              </a:rPr>
              <a:t>Iceland possesses the highest average water value by a significant margin, followed by Guyana and Suriname, highlighting the unequal global distribution of freshwater resources.</a:t>
            </a:r>
          </a:p>
          <a:p>
            <a:pPr algn="l" marL="377577" indent="-188788" lvl="1">
              <a:lnSpc>
                <a:spcPts val="3357"/>
              </a:lnSpc>
              <a:buFont typeface="Arial"/>
              <a:buChar char="•"/>
            </a:pPr>
            <a:r>
              <a:rPr lang="en-US" b="true" sz="1748">
                <a:solidFill>
                  <a:srgbClr val="364149"/>
                </a:solidFill>
                <a:latin typeface="Aptos Bold"/>
                <a:ea typeface="Aptos Bold"/>
                <a:cs typeface="Aptos Bold"/>
                <a:sym typeface="Aptos Bold"/>
              </a:rPr>
              <a:t>The analysis shows a steady decline in average water values over time, indicating increasing pressure on global water resources.</a:t>
            </a:r>
          </a:p>
        </p:txBody>
      </p:sp>
      <p:grpSp>
        <p:nvGrpSpPr>
          <p:cNvPr name="Group 22" id="22"/>
          <p:cNvGrpSpPr/>
          <p:nvPr/>
        </p:nvGrpSpPr>
        <p:grpSpPr>
          <a:xfrm rot="0">
            <a:off x="9144000" y="3338141"/>
            <a:ext cx="8913079" cy="5386388"/>
            <a:chOff x="0" y="0"/>
            <a:chExt cx="11884105" cy="7181850"/>
          </a:xfrm>
        </p:grpSpPr>
        <p:sp>
          <p:nvSpPr>
            <p:cNvPr name="Freeform 23" id="23"/>
            <p:cNvSpPr/>
            <p:nvPr/>
          </p:nvSpPr>
          <p:spPr>
            <a:xfrm flipH="false" flipV="false" rot="-24000">
              <a:off x="-23087" y="-39558"/>
              <a:ext cx="11930279" cy="7260967"/>
            </a:xfrm>
            <a:custGeom>
              <a:avLst/>
              <a:gdLst/>
              <a:ahLst/>
              <a:cxnLst/>
              <a:rect r="r" b="b" t="t" l="l"/>
              <a:pathLst>
                <a:path h="7260967" w="11930279">
                  <a:moveTo>
                    <a:pt x="312377" y="6"/>
                  </a:moveTo>
                  <a:lnTo>
                    <a:pt x="11668040" y="79285"/>
                  </a:lnTo>
                  <a:cubicBezTo>
                    <a:pt x="11813885" y="80303"/>
                    <a:pt x="11931291" y="199359"/>
                    <a:pt x="11930273" y="345204"/>
                  </a:cubicBezTo>
                  <a:lnTo>
                    <a:pt x="11883821" y="6998728"/>
                  </a:lnTo>
                  <a:cubicBezTo>
                    <a:pt x="11882803" y="7144573"/>
                    <a:pt x="11763747" y="7261978"/>
                    <a:pt x="11617902" y="7260960"/>
                  </a:cubicBezTo>
                  <a:lnTo>
                    <a:pt x="262238" y="7181681"/>
                  </a:lnTo>
                  <a:cubicBezTo>
                    <a:pt x="116393" y="7180663"/>
                    <a:pt x="-1012" y="7061606"/>
                    <a:pt x="6" y="6915762"/>
                  </a:cubicBezTo>
                  <a:lnTo>
                    <a:pt x="46457" y="262238"/>
                  </a:lnTo>
                  <a:cubicBezTo>
                    <a:pt x="47476" y="116393"/>
                    <a:pt x="166532" y="-1012"/>
                    <a:pt x="312377" y="6"/>
                  </a:cubicBezTo>
                  <a:close/>
                </a:path>
              </a:pathLst>
            </a:custGeom>
            <a:blipFill>
              <a:blip r:embed="rId8"/>
              <a:stretch>
                <a:fillRect l="-15" t="-1405" r="-15" b="-1392"/>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338141"/>
            <a:ext cx="8143875" cy="5310930"/>
            <a:chOff x="0" y="0"/>
            <a:chExt cx="10858500" cy="7081241"/>
          </a:xfrm>
        </p:grpSpPr>
        <p:sp>
          <p:nvSpPr>
            <p:cNvPr name="Freeform 9" id="9" descr="image.png"/>
            <p:cNvSpPr/>
            <p:nvPr/>
          </p:nvSpPr>
          <p:spPr>
            <a:xfrm flipH="false" flipV="false" rot="0">
              <a:off x="0" y="0"/>
              <a:ext cx="10858500" cy="7081266"/>
            </a:xfrm>
            <a:custGeom>
              <a:avLst/>
              <a:gdLst/>
              <a:ahLst/>
              <a:cxnLst/>
              <a:rect r="r" b="b" t="t" l="l"/>
              <a:pathLst>
                <a:path h="7081266" w="10858500">
                  <a:moveTo>
                    <a:pt x="0" y="0"/>
                  </a:moveTo>
                  <a:lnTo>
                    <a:pt x="10858500" y="0"/>
                  </a:lnTo>
                  <a:lnTo>
                    <a:pt x="10858500" y="7081266"/>
                  </a:lnTo>
                  <a:lnTo>
                    <a:pt x="0" y="7081266"/>
                  </a:lnTo>
                  <a:lnTo>
                    <a:pt x="0" y="0"/>
                  </a:lnTo>
                  <a:close/>
                </a:path>
              </a:pathLst>
            </a:custGeom>
            <a:blipFill>
              <a:blip r:embed="rId4"/>
              <a:stretch>
                <a:fillRect l="0" t="0" r="0" b="-344"/>
              </a:stretch>
            </a:blipFill>
          </p:spPr>
        </p:sp>
      </p:grpSp>
      <p:grpSp>
        <p:nvGrpSpPr>
          <p:cNvPr name="Group 10" id="10"/>
          <p:cNvGrpSpPr/>
          <p:nvPr/>
        </p:nvGrpSpPr>
        <p:grpSpPr>
          <a:xfrm rot="0">
            <a:off x="9153212" y="3278981"/>
            <a:ext cx="8696951" cy="5429250"/>
            <a:chOff x="0" y="0"/>
            <a:chExt cx="11595935" cy="7239000"/>
          </a:xfrm>
        </p:grpSpPr>
        <p:sp>
          <p:nvSpPr>
            <p:cNvPr name="Freeform 11" id="11" descr="image.png"/>
            <p:cNvSpPr/>
            <p:nvPr/>
          </p:nvSpPr>
          <p:spPr>
            <a:xfrm flipH="false" flipV="false" rot="0">
              <a:off x="0" y="0"/>
              <a:ext cx="11595935" cy="7239000"/>
            </a:xfrm>
            <a:custGeom>
              <a:avLst/>
              <a:gdLst/>
              <a:ahLst/>
              <a:cxnLst/>
              <a:rect r="r" b="b" t="t" l="l"/>
              <a:pathLst>
                <a:path h="7239000" w="11595935">
                  <a:moveTo>
                    <a:pt x="309201" y="0"/>
                  </a:moveTo>
                  <a:lnTo>
                    <a:pt x="11286734" y="0"/>
                  </a:lnTo>
                  <a:cubicBezTo>
                    <a:pt x="11457501" y="0"/>
                    <a:pt x="11595935" y="138434"/>
                    <a:pt x="11595935" y="309201"/>
                  </a:cubicBezTo>
                  <a:lnTo>
                    <a:pt x="11595935" y="6929799"/>
                  </a:lnTo>
                  <a:cubicBezTo>
                    <a:pt x="11595935" y="7100566"/>
                    <a:pt x="11457501" y="7239000"/>
                    <a:pt x="11286734" y="7239000"/>
                  </a:cubicBezTo>
                  <a:lnTo>
                    <a:pt x="309201" y="7239000"/>
                  </a:lnTo>
                  <a:cubicBezTo>
                    <a:pt x="138434" y="7239000"/>
                    <a:pt x="0" y="7100566"/>
                    <a:pt x="0" y="6929799"/>
                  </a:cubicBezTo>
                  <a:lnTo>
                    <a:pt x="0" y="309201"/>
                  </a:lnTo>
                  <a:cubicBezTo>
                    <a:pt x="0" y="138434"/>
                    <a:pt x="138434" y="0"/>
                    <a:pt x="309201" y="0"/>
                  </a:cubicBezTo>
                  <a:close/>
                </a:path>
              </a:pathLst>
            </a:custGeom>
            <a:blipFill>
              <a:blip r:embed="rId5"/>
              <a:stretch>
                <a:fillRect l="0" t="-3395" r="0" b="-3676"/>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grpSp>
        <p:nvGrpSpPr>
          <p:cNvPr name="Group 16" id="16"/>
          <p:cNvGrpSpPr/>
          <p:nvPr/>
        </p:nvGrpSpPr>
        <p:grpSpPr>
          <a:xfrm rot="0">
            <a:off x="1071562" y="628650"/>
            <a:ext cx="1148274" cy="1103376"/>
            <a:chOff x="0" y="0"/>
            <a:chExt cx="1238250" cy="1189834"/>
          </a:xfrm>
        </p:grpSpPr>
        <p:sp>
          <p:nvSpPr>
            <p:cNvPr name="Freeform 17" id="17"/>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
        <p:nvSpPr>
          <p:cNvPr name="TextBox 18" id="18"/>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BI Interactive Interface Design</a:t>
            </a:r>
          </a:p>
        </p:txBody>
      </p:sp>
      <p:sp>
        <p:nvSpPr>
          <p:cNvPr name="TextBox 19" id="19"/>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Dashboard Metrics &amp; User Flow</a:t>
            </a:r>
          </a:p>
        </p:txBody>
      </p:sp>
      <p:grpSp>
        <p:nvGrpSpPr>
          <p:cNvPr name="Group 20" id="20"/>
          <p:cNvGrpSpPr/>
          <p:nvPr/>
        </p:nvGrpSpPr>
        <p:grpSpPr>
          <a:xfrm rot="0">
            <a:off x="16216312" y="802110"/>
            <a:ext cx="928688" cy="924449"/>
            <a:chOff x="0" y="0"/>
            <a:chExt cx="1238250" cy="1232598"/>
          </a:xfrm>
        </p:grpSpPr>
        <p:sp>
          <p:nvSpPr>
            <p:cNvPr name="Freeform 21" id="21"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8"/>
              <a:stretch>
                <a:fillRect l="0" t="0" r="0" b="-2009"/>
              </a:stretch>
            </a:blipFill>
          </p:spPr>
        </p:sp>
      </p:grpSp>
      <p:sp>
        <p:nvSpPr>
          <p:cNvPr name="TextBox 22" id="22"/>
          <p:cNvSpPr txBox="true"/>
          <p:nvPr/>
        </p:nvSpPr>
        <p:spPr>
          <a:xfrm rot="0">
            <a:off x="1243012" y="3847729"/>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Natura</a:t>
            </a:r>
            <a:r>
              <a:rPr lang="en-US" b="true" sz="2106">
                <a:solidFill>
                  <a:srgbClr val="364149"/>
                </a:solidFill>
                <a:latin typeface="Poppins Bold"/>
                <a:ea typeface="Poppins Bold"/>
                <a:cs typeface="Poppins Bold"/>
                <a:sym typeface="Poppins Bold"/>
              </a:rPr>
              <a:t>l Disasters Dashboard</a:t>
            </a:r>
          </a:p>
        </p:txBody>
      </p:sp>
      <p:sp>
        <p:nvSpPr>
          <p:cNvPr name="TextBox 23" id="23"/>
          <p:cNvSpPr txBox="true"/>
          <p:nvPr/>
        </p:nvSpPr>
        <p:spPr>
          <a:xfrm rot="0">
            <a:off x="1429626" y="4104904"/>
            <a:ext cx="7346782" cy="4473702"/>
          </a:xfrm>
          <a:prstGeom prst="rect">
            <a:avLst/>
          </a:prstGeom>
        </p:spPr>
        <p:txBody>
          <a:bodyPr anchor="t" rtlCol="false" tIns="0" lIns="0" bIns="0" rIns="0">
            <a:spAutoFit/>
          </a:bodyPr>
          <a:lstStyle/>
          <a:p>
            <a:pPr algn="l" marL="367031" indent="-183515" lvl="1">
              <a:lnSpc>
                <a:spcPts val="3264"/>
              </a:lnSpc>
              <a:buFont typeface="Arial"/>
              <a:buChar char="•"/>
            </a:pPr>
            <a:r>
              <a:rPr lang="en-US" b="true" sz="1700">
                <a:solidFill>
                  <a:srgbClr val="364149"/>
                </a:solidFill>
                <a:latin typeface="Aptos Bold"/>
                <a:ea typeface="Aptos Bold"/>
                <a:cs typeface="Aptos Bold"/>
                <a:sym typeface="Aptos Bold"/>
              </a:rPr>
              <a:t>The dataset recorded approximately 12,000 disasters worldwide, demonstrating the growing impact of climate-related and environmental events.</a:t>
            </a:r>
          </a:p>
          <a:p>
            <a:pPr algn="l" marL="367031" indent="-183515" lvl="1">
              <a:lnSpc>
                <a:spcPts val="3264"/>
              </a:lnSpc>
              <a:buFont typeface="Arial"/>
              <a:buChar char="•"/>
            </a:pPr>
            <a:r>
              <a:rPr lang="en-US" b="true" sz="1700">
                <a:solidFill>
                  <a:srgbClr val="364149"/>
                </a:solidFill>
                <a:latin typeface="Aptos Bold"/>
                <a:ea typeface="Aptos Bold"/>
                <a:cs typeface="Aptos Bold"/>
                <a:sym typeface="Aptos Bold"/>
              </a:rPr>
              <a:t>Earthquakes and storms account for the largest number of deaths globally, followed by floods and epidemics.</a:t>
            </a:r>
          </a:p>
          <a:p>
            <a:pPr algn="l" marL="367031" indent="-183515" lvl="1">
              <a:lnSpc>
                <a:spcPts val="3264"/>
              </a:lnSpc>
              <a:buFont typeface="Arial"/>
              <a:buChar char="•"/>
            </a:pPr>
            <a:r>
              <a:rPr lang="en-US" b="true" sz="1700">
                <a:solidFill>
                  <a:srgbClr val="364149"/>
                </a:solidFill>
                <a:latin typeface="Aptos Bold"/>
                <a:ea typeface="Aptos Bold"/>
                <a:cs typeface="Aptos Bold"/>
                <a:sym typeface="Aptos Bold"/>
              </a:rPr>
              <a:t>Asia experienced the highest number of disaster-related fatalities, making it the most vulnerable region in terms of human impact.</a:t>
            </a:r>
          </a:p>
          <a:p>
            <a:pPr algn="l" marL="367031" indent="-183515" lvl="1">
              <a:lnSpc>
                <a:spcPts val="3264"/>
              </a:lnSpc>
              <a:buFont typeface="Arial"/>
              <a:buChar char="•"/>
            </a:pPr>
            <a:r>
              <a:rPr lang="en-US" b="true" sz="1700">
                <a:solidFill>
                  <a:srgbClr val="364149"/>
                </a:solidFill>
                <a:latin typeface="Aptos Bold"/>
                <a:ea typeface="Aptos Bold"/>
                <a:cs typeface="Aptos Bold"/>
                <a:sym typeface="Aptos Bold"/>
              </a:rPr>
              <a:t>Countries such as Haiti, Indonesia, Myanmar, China, and India experienced the highest disaster death tolls.</a:t>
            </a:r>
          </a:p>
          <a:p>
            <a:pPr algn="l" marL="367031" indent="-183515" lvl="1">
              <a:lnSpc>
                <a:spcPts val="3264"/>
              </a:lnSpc>
              <a:buFont typeface="Arial"/>
              <a:buChar char="•"/>
            </a:pPr>
            <a:r>
              <a:rPr lang="en-US" b="true" sz="1700">
                <a:solidFill>
                  <a:srgbClr val="364149"/>
                </a:solidFill>
                <a:latin typeface="Aptos Bold"/>
                <a:ea typeface="Aptos Bold"/>
                <a:cs typeface="Aptos Bold"/>
                <a:sym typeface="Aptos Bold"/>
              </a:rPr>
              <a:t>The number of disaster-related deaths has fluctuated significantly over the years, with several major spikes caused by catastrophic events.</a:t>
            </a:r>
          </a:p>
        </p:txBody>
      </p:sp>
      <p:grpSp>
        <p:nvGrpSpPr>
          <p:cNvPr name="Group 24" id="24"/>
          <p:cNvGrpSpPr/>
          <p:nvPr/>
        </p:nvGrpSpPr>
        <p:grpSpPr>
          <a:xfrm rot="0">
            <a:off x="9153212" y="3321844"/>
            <a:ext cx="8696951" cy="5386387"/>
            <a:chOff x="0" y="0"/>
            <a:chExt cx="11503659" cy="7124700"/>
          </a:xfrm>
        </p:grpSpPr>
        <p:sp>
          <p:nvSpPr>
            <p:cNvPr name="Freeform 25" id="25"/>
            <p:cNvSpPr/>
            <p:nvPr/>
          </p:nvSpPr>
          <p:spPr>
            <a:xfrm flipH="false" flipV="false" rot="0">
              <a:off x="0" y="0"/>
              <a:ext cx="11503659" cy="7124700"/>
            </a:xfrm>
            <a:custGeom>
              <a:avLst/>
              <a:gdLst/>
              <a:ahLst/>
              <a:cxnLst/>
              <a:rect r="r" b="b" t="t" l="l"/>
              <a:pathLst>
                <a:path h="7124700" w="11503659">
                  <a:moveTo>
                    <a:pt x="258878" y="0"/>
                  </a:moveTo>
                  <a:lnTo>
                    <a:pt x="11244781" y="0"/>
                  </a:lnTo>
                  <a:cubicBezTo>
                    <a:pt x="11313440" y="0"/>
                    <a:pt x="11379287" y="27275"/>
                    <a:pt x="11427836" y="75824"/>
                  </a:cubicBezTo>
                  <a:cubicBezTo>
                    <a:pt x="11476385" y="124373"/>
                    <a:pt x="11503659" y="190219"/>
                    <a:pt x="11503659" y="258878"/>
                  </a:cubicBezTo>
                  <a:lnTo>
                    <a:pt x="11503659" y="6865822"/>
                  </a:lnTo>
                  <a:cubicBezTo>
                    <a:pt x="11503659" y="6934481"/>
                    <a:pt x="11476385" y="7000328"/>
                    <a:pt x="11427836" y="7048877"/>
                  </a:cubicBezTo>
                  <a:cubicBezTo>
                    <a:pt x="11379287" y="7097426"/>
                    <a:pt x="11313440" y="7124700"/>
                    <a:pt x="11244781" y="7124700"/>
                  </a:cubicBezTo>
                  <a:lnTo>
                    <a:pt x="258878" y="7124700"/>
                  </a:lnTo>
                  <a:cubicBezTo>
                    <a:pt x="190219" y="7124700"/>
                    <a:pt x="124373" y="7097426"/>
                    <a:pt x="75824" y="7048877"/>
                  </a:cubicBezTo>
                  <a:cubicBezTo>
                    <a:pt x="27275" y="7000328"/>
                    <a:pt x="0" y="6934481"/>
                    <a:pt x="0" y="6865822"/>
                  </a:cubicBezTo>
                  <a:lnTo>
                    <a:pt x="0" y="258878"/>
                  </a:lnTo>
                  <a:cubicBezTo>
                    <a:pt x="0" y="190219"/>
                    <a:pt x="27275" y="124373"/>
                    <a:pt x="75824" y="75824"/>
                  </a:cubicBezTo>
                  <a:cubicBezTo>
                    <a:pt x="124373" y="27275"/>
                    <a:pt x="190219" y="0"/>
                    <a:pt x="258878" y="0"/>
                  </a:cubicBezTo>
                  <a:close/>
                </a:path>
              </a:pathLst>
            </a:custGeom>
            <a:blipFill>
              <a:blip r:embed="rId9"/>
              <a:stretch>
                <a:fillRect l="0" t="-199" r="0" b="-199"/>
              </a:stretch>
            </a:blip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338141"/>
            <a:ext cx="8143875" cy="5310930"/>
            <a:chOff x="0" y="0"/>
            <a:chExt cx="10858500" cy="7081241"/>
          </a:xfrm>
        </p:grpSpPr>
        <p:sp>
          <p:nvSpPr>
            <p:cNvPr name="Freeform 9" id="9" descr="image.png"/>
            <p:cNvSpPr/>
            <p:nvPr/>
          </p:nvSpPr>
          <p:spPr>
            <a:xfrm flipH="false" flipV="false" rot="0">
              <a:off x="0" y="0"/>
              <a:ext cx="10858500" cy="7081266"/>
            </a:xfrm>
            <a:custGeom>
              <a:avLst/>
              <a:gdLst/>
              <a:ahLst/>
              <a:cxnLst/>
              <a:rect r="r" b="b" t="t" l="l"/>
              <a:pathLst>
                <a:path h="7081266" w="10858500">
                  <a:moveTo>
                    <a:pt x="0" y="0"/>
                  </a:moveTo>
                  <a:lnTo>
                    <a:pt x="10858500" y="0"/>
                  </a:lnTo>
                  <a:lnTo>
                    <a:pt x="10858500" y="7081266"/>
                  </a:lnTo>
                  <a:lnTo>
                    <a:pt x="0" y="7081266"/>
                  </a:lnTo>
                  <a:lnTo>
                    <a:pt x="0" y="0"/>
                  </a:lnTo>
                  <a:close/>
                </a:path>
              </a:pathLst>
            </a:custGeom>
            <a:blipFill>
              <a:blip r:embed="rId4"/>
              <a:stretch>
                <a:fillRect l="0" t="0" r="0" b="-344"/>
              </a:stretch>
            </a:blipFill>
          </p:spPr>
        </p:sp>
      </p:grpSp>
      <p:grpSp>
        <p:nvGrpSpPr>
          <p:cNvPr name="Group 10" id="10"/>
          <p:cNvGrpSpPr/>
          <p:nvPr/>
        </p:nvGrpSpPr>
        <p:grpSpPr>
          <a:xfrm rot="0">
            <a:off x="9211947" y="3338141"/>
            <a:ext cx="8579482" cy="5370090"/>
            <a:chOff x="0" y="0"/>
            <a:chExt cx="11439309" cy="7160120"/>
          </a:xfrm>
        </p:grpSpPr>
        <p:sp>
          <p:nvSpPr>
            <p:cNvPr name="Freeform 11" id="11" descr="image.png"/>
            <p:cNvSpPr/>
            <p:nvPr/>
          </p:nvSpPr>
          <p:spPr>
            <a:xfrm flipH="false" flipV="false" rot="0">
              <a:off x="0" y="0"/>
              <a:ext cx="11439310" cy="7160120"/>
            </a:xfrm>
            <a:custGeom>
              <a:avLst/>
              <a:gdLst/>
              <a:ahLst/>
              <a:cxnLst/>
              <a:rect r="r" b="b" t="t" l="l"/>
              <a:pathLst>
                <a:path h="7160120" w="11439310">
                  <a:moveTo>
                    <a:pt x="433987" y="0"/>
                  </a:moveTo>
                  <a:lnTo>
                    <a:pt x="11005323" y="0"/>
                  </a:lnTo>
                  <a:cubicBezTo>
                    <a:pt x="11120424" y="0"/>
                    <a:pt x="11230810" y="45723"/>
                    <a:pt x="11312198" y="127112"/>
                  </a:cubicBezTo>
                  <a:cubicBezTo>
                    <a:pt x="11393586" y="208500"/>
                    <a:pt x="11439310" y="318886"/>
                    <a:pt x="11439310" y="433987"/>
                  </a:cubicBezTo>
                  <a:lnTo>
                    <a:pt x="11439310" y="6726134"/>
                  </a:lnTo>
                  <a:cubicBezTo>
                    <a:pt x="11439310" y="6965818"/>
                    <a:pt x="11245007" y="7160120"/>
                    <a:pt x="11005323" y="7160120"/>
                  </a:cubicBezTo>
                  <a:lnTo>
                    <a:pt x="433987" y="7160120"/>
                  </a:lnTo>
                  <a:cubicBezTo>
                    <a:pt x="194302" y="7160120"/>
                    <a:pt x="0" y="6965818"/>
                    <a:pt x="0" y="6726134"/>
                  </a:cubicBezTo>
                  <a:lnTo>
                    <a:pt x="0" y="433987"/>
                  </a:lnTo>
                  <a:cubicBezTo>
                    <a:pt x="0" y="194302"/>
                    <a:pt x="194302" y="0"/>
                    <a:pt x="433987" y="0"/>
                  </a:cubicBezTo>
                  <a:close/>
                </a:path>
              </a:pathLst>
            </a:custGeom>
            <a:blipFill>
              <a:blip r:embed="rId5"/>
              <a:stretch>
                <a:fillRect l="0" t="-3254" r="0" b="-3535"/>
              </a:stretch>
            </a:blipFill>
          </p:spPr>
        </p:sp>
      </p:grpSp>
      <p:grpSp>
        <p:nvGrpSpPr>
          <p:cNvPr name="Group 12" id="12"/>
          <p:cNvGrpSpPr/>
          <p:nvPr/>
        </p:nvGrpSpPr>
        <p:grpSpPr>
          <a:xfrm rot="0">
            <a:off x="714375" y="628650"/>
            <a:ext cx="16859250" cy="1285875"/>
            <a:chOff x="0" y="0"/>
            <a:chExt cx="22479000" cy="1714500"/>
          </a:xfrm>
        </p:grpSpPr>
        <p:sp>
          <p:nvSpPr>
            <p:cNvPr name="Freeform 13" id="13"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6"/>
              <a:stretch>
                <a:fillRect l="0" t="0" r="0" b="0"/>
              </a:stretch>
            </a:blipFill>
          </p:spPr>
        </p:sp>
      </p:grpSp>
      <p:grpSp>
        <p:nvGrpSpPr>
          <p:cNvPr name="Group 14" id="14"/>
          <p:cNvGrpSpPr/>
          <p:nvPr/>
        </p:nvGrpSpPr>
        <p:grpSpPr>
          <a:xfrm rot="0">
            <a:off x="0" y="0"/>
            <a:ext cx="18288000" cy="57150"/>
            <a:chOff x="0" y="0"/>
            <a:chExt cx="24384000" cy="76200"/>
          </a:xfrm>
        </p:grpSpPr>
        <p:sp>
          <p:nvSpPr>
            <p:cNvPr name="Freeform 15" id="15"/>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6" id="16"/>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BI Interactive Interface Design</a:t>
            </a:r>
          </a:p>
        </p:txBody>
      </p:sp>
      <p:sp>
        <p:nvSpPr>
          <p:cNvPr name="TextBox 17" id="17"/>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Dashboard Metrics &amp; User Flow</a:t>
            </a:r>
          </a:p>
        </p:txBody>
      </p:sp>
      <p:grpSp>
        <p:nvGrpSpPr>
          <p:cNvPr name="Group 18" id="18"/>
          <p:cNvGrpSpPr/>
          <p:nvPr/>
        </p:nvGrpSpPr>
        <p:grpSpPr>
          <a:xfrm rot="0">
            <a:off x="16216312" y="802110"/>
            <a:ext cx="928688" cy="924449"/>
            <a:chOff x="0" y="0"/>
            <a:chExt cx="1238250" cy="1232598"/>
          </a:xfrm>
        </p:grpSpPr>
        <p:sp>
          <p:nvSpPr>
            <p:cNvPr name="Freeform 19" id="19"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7"/>
              <a:stretch>
                <a:fillRect l="0" t="0" r="0" b="-2009"/>
              </a:stretch>
            </a:blipFill>
          </p:spPr>
        </p:sp>
      </p:grpSp>
      <p:sp>
        <p:nvSpPr>
          <p:cNvPr name="TextBox 20" id="20"/>
          <p:cNvSpPr txBox="true"/>
          <p:nvPr/>
        </p:nvSpPr>
        <p:spPr>
          <a:xfrm rot="0">
            <a:off x="1243012" y="3847729"/>
            <a:ext cx="7440930"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Crops &amp; Nu</a:t>
            </a:r>
            <a:r>
              <a:rPr lang="en-US" b="true" sz="2106">
                <a:solidFill>
                  <a:srgbClr val="364149"/>
                </a:solidFill>
                <a:latin typeface="Poppins Bold"/>
                <a:ea typeface="Poppins Bold"/>
                <a:cs typeface="Poppins Bold"/>
                <a:sym typeface="Poppins Bold"/>
              </a:rPr>
              <a:t>trients Dashboard</a:t>
            </a:r>
          </a:p>
        </p:txBody>
      </p:sp>
      <p:sp>
        <p:nvSpPr>
          <p:cNvPr name="TextBox 21" id="21"/>
          <p:cNvSpPr txBox="true"/>
          <p:nvPr/>
        </p:nvSpPr>
        <p:spPr>
          <a:xfrm rot="0">
            <a:off x="1429626" y="4133479"/>
            <a:ext cx="7428624" cy="4182739"/>
          </a:xfrm>
          <a:prstGeom prst="rect">
            <a:avLst/>
          </a:prstGeom>
        </p:spPr>
        <p:txBody>
          <a:bodyPr anchor="t" rtlCol="false" tIns="0" lIns="0" bIns="0" rIns="0">
            <a:spAutoFit/>
          </a:bodyPr>
          <a:lstStyle/>
          <a:p>
            <a:pPr algn="l">
              <a:lnSpc>
                <a:spcPts val="2573"/>
              </a:lnSpc>
            </a:pPr>
            <a:r>
              <a:rPr lang="en-US" b="true" sz="1340">
                <a:solidFill>
                  <a:srgbClr val="364149"/>
                </a:solidFill>
                <a:latin typeface="Aptos Bold"/>
                <a:ea typeface="Aptos Bold"/>
                <a:cs typeface="Aptos Bold"/>
                <a:sym typeface="Aptos Bold"/>
              </a:rPr>
              <a:t>The dataset contains approximately 2,000 crop records, enabling analysis of agricultural patterns and nutrient relationships.</a:t>
            </a:r>
          </a:p>
          <a:p>
            <a:pPr algn="l">
              <a:lnSpc>
                <a:spcPts val="2573"/>
              </a:lnSpc>
            </a:pPr>
            <a:r>
              <a:rPr lang="en-US" b="true" sz="1340">
                <a:solidFill>
                  <a:srgbClr val="364149"/>
                </a:solidFill>
                <a:latin typeface="Aptos Bold"/>
                <a:ea typeface="Aptos Bold"/>
                <a:cs typeface="Aptos Bold"/>
                <a:sym typeface="Aptos Bold"/>
              </a:rPr>
              <a:t>The average nutrient value reached 152.06, while the average N ratio was 1.70, indicating a moderate balance between nitrogen and phosphorus levels across crops.</a:t>
            </a:r>
          </a:p>
          <a:p>
            <a:pPr algn="l">
              <a:lnSpc>
                <a:spcPts val="2573"/>
              </a:lnSpc>
            </a:pPr>
            <a:r>
              <a:rPr lang="en-US" b="true" sz="1340">
                <a:solidFill>
                  <a:srgbClr val="364149"/>
                </a:solidFill>
                <a:latin typeface="Aptos Bold"/>
                <a:ea typeface="Aptos Bold"/>
                <a:cs typeface="Aptos Bold"/>
                <a:sym typeface="Aptos Bold"/>
              </a:rPr>
              <a:t>The average rainfall value of 103.46 highlights the significant role of precipitation in agricultural productivity and nutrient availability.</a:t>
            </a:r>
          </a:p>
          <a:p>
            <a:pPr algn="l" marL="289381" indent="-144691" lvl="1">
              <a:lnSpc>
                <a:spcPts val="2573"/>
              </a:lnSpc>
              <a:buFont typeface="Arial"/>
              <a:buChar char="•"/>
            </a:pPr>
            <a:r>
              <a:rPr lang="en-US" b="true" sz="1340">
                <a:solidFill>
                  <a:srgbClr val="364149"/>
                </a:solidFill>
                <a:latin typeface="Aptos Bold"/>
                <a:ea typeface="Aptos Bold"/>
                <a:cs typeface="Aptos Bold"/>
                <a:sym typeface="Aptos Bold"/>
              </a:rPr>
              <a:t>The analysis shows that nutrient availability generally increases with higher humidity levels, highlighting the importance of environmental conditions in crop productivity.</a:t>
            </a:r>
          </a:p>
          <a:p>
            <a:pPr algn="l" marL="289381" indent="-144691" lvl="1">
              <a:lnSpc>
                <a:spcPts val="2573"/>
              </a:lnSpc>
              <a:buFont typeface="Arial"/>
              <a:buChar char="•"/>
            </a:pPr>
            <a:r>
              <a:rPr lang="en-US" b="true" sz="1340">
                <a:solidFill>
                  <a:srgbClr val="364149"/>
                </a:solidFill>
                <a:latin typeface="Aptos Bold"/>
                <a:ea typeface="Aptos Bold"/>
                <a:cs typeface="Aptos Bold"/>
                <a:sym typeface="Aptos Bold"/>
              </a:rPr>
              <a:t>Crops such as muskmelon, watermelon, coffee, coconut, and cotton exhibited the highest N:P ratios, indicating varying nutrient requirements among different crop types.</a:t>
            </a:r>
          </a:p>
          <a:p>
            <a:pPr algn="l" marL="289381" indent="-144691" lvl="1">
              <a:lnSpc>
                <a:spcPts val="2573"/>
              </a:lnSpc>
              <a:buFont typeface="Arial"/>
              <a:buChar char="•"/>
            </a:pPr>
            <a:r>
              <a:rPr lang="en-US" b="true" sz="1340">
                <a:solidFill>
                  <a:srgbClr val="364149"/>
                </a:solidFill>
                <a:latin typeface="Aptos Bold"/>
                <a:ea typeface="Aptos Bold"/>
                <a:cs typeface="Aptos Bold"/>
                <a:sym typeface="Aptos Bold"/>
              </a:rPr>
              <a:t>The weak correlation between temperature and the N:P ratio suggests that nutrient balance is influenced by multiple factors beyond temperature alone, emphasizing the complexity of agricultural ecosystems.</a:t>
            </a:r>
          </a:p>
        </p:txBody>
      </p:sp>
      <p:grpSp>
        <p:nvGrpSpPr>
          <p:cNvPr name="Group 22" id="22"/>
          <p:cNvGrpSpPr/>
          <p:nvPr/>
        </p:nvGrpSpPr>
        <p:grpSpPr>
          <a:xfrm rot="0">
            <a:off x="9211947" y="3321844"/>
            <a:ext cx="8579482" cy="5343525"/>
            <a:chOff x="0" y="0"/>
            <a:chExt cx="11439309" cy="7124700"/>
          </a:xfrm>
        </p:grpSpPr>
        <p:sp>
          <p:nvSpPr>
            <p:cNvPr name="Freeform 23" id="23"/>
            <p:cNvSpPr/>
            <p:nvPr/>
          </p:nvSpPr>
          <p:spPr>
            <a:xfrm flipH="false" flipV="false" rot="0">
              <a:off x="0" y="0"/>
              <a:ext cx="11439310" cy="7124700"/>
            </a:xfrm>
            <a:custGeom>
              <a:avLst/>
              <a:gdLst/>
              <a:ahLst/>
              <a:cxnLst/>
              <a:rect r="r" b="b" t="t" l="l"/>
              <a:pathLst>
                <a:path h="7124700" w="11439310">
                  <a:moveTo>
                    <a:pt x="238566" y="0"/>
                  </a:moveTo>
                  <a:lnTo>
                    <a:pt x="11200743" y="0"/>
                  </a:lnTo>
                  <a:cubicBezTo>
                    <a:pt x="11264016" y="0"/>
                    <a:pt x="11324696" y="25135"/>
                    <a:pt x="11369435" y="69874"/>
                  </a:cubicBezTo>
                  <a:cubicBezTo>
                    <a:pt x="11414175" y="114614"/>
                    <a:pt x="11439310" y="175294"/>
                    <a:pt x="11439310" y="238566"/>
                  </a:cubicBezTo>
                  <a:lnTo>
                    <a:pt x="11439310" y="6886134"/>
                  </a:lnTo>
                  <a:cubicBezTo>
                    <a:pt x="11439310" y="6949406"/>
                    <a:pt x="11414175" y="7010086"/>
                    <a:pt x="11369435" y="7054826"/>
                  </a:cubicBezTo>
                  <a:cubicBezTo>
                    <a:pt x="11324696" y="7099565"/>
                    <a:pt x="11264016" y="7124700"/>
                    <a:pt x="11200743" y="7124700"/>
                  </a:cubicBezTo>
                  <a:lnTo>
                    <a:pt x="238566" y="7124700"/>
                  </a:lnTo>
                  <a:cubicBezTo>
                    <a:pt x="175294" y="7124700"/>
                    <a:pt x="114614" y="7099565"/>
                    <a:pt x="69874" y="7054826"/>
                  </a:cubicBezTo>
                  <a:cubicBezTo>
                    <a:pt x="25135" y="7010086"/>
                    <a:pt x="0" y="6949406"/>
                    <a:pt x="0" y="6886134"/>
                  </a:cubicBezTo>
                  <a:lnTo>
                    <a:pt x="0" y="238566"/>
                  </a:lnTo>
                  <a:cubicBezTo>
                    <a:pt x="0" y="175294"/>
                    <a:pt x="25135" y="114614"/>
                    <a:pt x="69874" y="69874"/>
                  </a:cubicBezTo>
                  <a:cubicBezTo>
                    <a:pt x="114614" y="25135"/>
                    <a:pt x="175294" y="0"/>
                    <a:pt x="238566" y="0"/>
                  </a:cubicBezTo>
                  <a:close/>
                </a:path>
              </a:pathLst>
            </a:custGeom>
            <a:blipFill>
              <a:blip r:embed="rId8"/>
              <a:stretch>
                <a:fillRect l="0" t="-211" r="0" b="-211"/>
              </a:stretch>
            </a:blipFill>
          </p:spPr>
        </p:sp>
      </p:grpSp>
      <p:grpSp>
        <p:nvGrpSpPr>
          <p:cNvPr name="Group 24" id="24"/>
          <p:cNvGrpSpPr/>
          <p:nvPr/>
        </p:nvGrpSpPr>
        <p:grpSpPr>
          <a:xfrm rot="0">
            <a:off x="1071562" y="628650"/>
            <a:ext cx="1148274" cy="1103376"/>
            <a:chOff x="0" y="0"/>
            <a:chExt cx="1238250" cy="1189834"/>
          </a:xfrm>
        </p:grpSpPr>
        <p:sp>
          <p:nvSpPr>
            <p:cNvPr name="Freeform 25" id="25"/>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9"/>
              <a:stretch>
                <a:fillRect l="0" t="-2034" r="0" b="-2034"/>
              </a:stretch>
            </a:blip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884857"/>
            <a:ext cx="16859250" cy="428625"/>
            <a:chOff x="0" y="0"/>
            <a:chExt cx="22479000" cy="571500"/>
          </a:xfrm>
        </p:grpSpPr>
        <p:sp>
          <p:nvSpPr>
            <p:cNvPr name="Freeform 9" id="9" descr="image.png"/>
            <p:cNvSpPr/>
            <p:nvPr/>
          </p:nvSpPr>
          <p:spPr>
            <a:xfrm flipH="false" flipV="false" rot="0">
              <a:off x="0" y="0"/>
              <a:ext cx="22479000" cy="571500"/>
            </a:xfrm>
            <a:custGeom>
              <a:avLst/>
              <a:gdLst/>
              <a:ahLst/>
              <a:cxnLst/>
              <a:rect r="r" b="b" t="t" l="l"/>
              <a:pathLst>
                <a:path h="571500" w="22479000">
                  <a:moveTo>
                    <a:pt x="0" y="0"/>
                  </a:moveTo>
                  <a:lnTo>
                    <a:pt x="22479000" y="0"/>
                  </a:lnTo>
                  <a:lnTo>
                    <a:pt x="22479000" y="571500"/>
                  </a:lnTo>
                  <a:lnTo>
                    <a:pt x="0" y="571500"/>
                  </a:lnTo>
                  <a:lnTo>
                    <a:pt x="0" y="0"/>
                  </a:lnTo>
                  <a:close/>
                </a:path>
              </a:pathLst>
            </a:custGeom>
            <a:blipFill>
              <a:blip r:embed="rId4"/>
              <a:stretch>
                <a:fillRect l="0" t="0" r="0" b="-3333"/>
              </a:stretch>
            </a:blipFill>
          </p:spPr>
        </p:sp>
      </p:grpSp>
      <p:grpSp>
        <p:nvGrpSpPr>
          <p:cNvPr name="Group 10" id="10"/>
          <p:cNvGrpSpPr/>
          <p:nvPr/>
        </p:nvGrpSpPr>
        <p:grpSpPr>
          <a:xfrm rot="0">
            <a:off x="714375" y="628650"/>
            <a:ext cx="16859250" cy="1285875"/>
            <a:chOff x="0" y="0"/>
            <a:chExt cx="22479000" cy="1714500"/>
          </a:xfrm>
        </p:grpSpPr>
        <p:sp>
          <p:nvSpPr>
            <p:cNvPr name="Freeform 11" id="11"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5"/>
              <a:stretch>
                <a:fillRect l="0" t="0" r="0" b="0"/>
              </a:stretch>
            </a:blipFill>
          </p:spPr>
        </p:sp>
      </p:grpSp>
      <p:grpSp>
        <p:nvGrpSpPr>
          <p:cNvPr name="Group 12" id="12"/>
          <p:cNvGrpSpPr/>
          <p:nvPr/>
        </p:nvGrpSpPr>
        <p:grpSpPr>
          <a:xfrm rot="0">
            <a:off x="0" y="0"/>
            <a:ext cx="18288000" cy="57150"/>
            <a:chOff x="0" y="0"/>
            <a:chExt cx="24384000" cy="76200"/>
          </a:xfrm>
        </p:grpSpPr>
        <p:sp>
          <p:nvSpPr>
            <p:cNvPr name="Freeform 13" id="13"/>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4" id="14"/>
          <p:cNvSpPr txBox="true"/>
          <p:nvPr/>
        </p:nvSpPr>
        <p:spPr>
          <a:xfrm rot="0">
            <a:off x="357188" y="4442069"/>
            <a:ext cx="17573625" cy="1325832"/>
          </a:xfrm>
          <a:prstGeom prst="rect">
            <a:avLst/>
          </a:prstGeom>
        </p:spPr>
        <p:txBody>
          <a:bodyPr anchor="t" rtlCol="false" tIns="0" lIns="0" bIns="0" rIns="0">
            <a:spAutoFit/>
          </a:bodyPr>
          <a:lstStyle/>
          <a:p>
            <a:pPr algn="ctr">
              <a:lnSpc>
                <a:spcPts val="10366"/>
              </a:lnSpc>
            </a:pPr>
            <a:r>
              <a:rPr lang="en-US" b="true" sz="7200">
                <a:solidFill>
                  <a:srgbClr val="FFFFFF"/>
                </a:solidFill>
                <a:latin typeface="Poppins Bold"/>
                <a:ea typeface="Poppins Bold"/>
                <a:cs typeface="Poppins Bold"/>
                <a:sym typeface="Poppins Bold"/>
              </a:rPr>
              <a:t>Key Insights</a:t>
            </a:r>
          </a:p>
        </p:txBody>
      </p:sp>
      <p:sp>
        <p:nvSpPr>
          <p:cNvPr name="TextBox 15" id="15"/>
          <p:cNvSpPr txBox="true"/>
          <p:nvPr/>
        </p:nvSpPr>
        <p:spPr>
          <a:xfrm rot="0">
            <a:off x="357188" y="5767911"/>
            <a:ext cx="17573625" cy="642938"/>
          </a:xfrm>
          <a:prstGeom prst="rect">
            <a:avLst/>
          </a:prstGeom>
        </p:spPr>
        <p:txBody>
          <a:bodyPr anchor="t" rtlCol="false" tIns="0" lIns="0" bIns="0" rIns="0">
            <a:spAutoFit/>
          </a:bodyPr>
          <a:lstStyle/>
          <a:p>
            <a:pPr algn="ctr">
              <a:lnSpc>
                <a:spcPts val="3240"/>
              </a:lnSpc>
            </a:pPr>
            <a:r>
              <a:rPr lang="ar-EG" sz="2700">
                <a:solidFill>
                  <a:srgbClr val="03B3C3"/>
                </a:solidFill>
                <a:latin typeface="Cairo"/>
                <a:ea typeface="Cairo"/>
                <a:cs typeface="Cairo"/>
                <a:sym typeface="Cairo"/>
                <a:rtl val="true"/>
              </a:rPr>
              <a:t>النتائج والتوصيات الاستراتيجية للمشروع</a:t>
            </a:r>
          </a:p>
        </p:txBody>
      </p:sp>
      <p:grpSp>
        <p:nvGrpSpPr>
          <p:cNvPr name="Group 16" id="16"/>
          <p:cNvGrpSpPr/>
          <p:nvPr/>
        </p:nvGrpSpPr>
        <p:grpSpPr>
          <a:xfrm rot="0">
            <a:off x="8286750" y="6839474"/>
            <a:ext cx="1714500" cy="57150"/>
            <a:chOff x="0" y="0"/>
            <a:chExt cx="2286000" cy="76200"/>
          </a:xfrm>
        </p:grpSpPr>
        <p:sp>
          <p:nvSpPr>
            <p:cNvPr name="Freeform 17" id="17"/>
            <p:cNvSpPr/>
            <p:nvPr/>
          </p:nvSpPr>
          <p:spPr>
            <a:xfrm flipH="false" flipV="false" rot="0">
              <a:off x="0" y="0"/>
              <a:ext cx="2286000" cy="76200"/>
            </a:xfrm>
            <a:custGeom>
              <a:avLst/>
              <a:gdLst/>
              <a:ahLst/>
              <a:cxnLst/>
              <a:rect r="r" b="b" t="t" l="l"/>
              <a:pathLst>
                <a:path h="76200" w="2286000">
                  <a:moveTo>
                    <a:pt x="0" y="0"/>
                  </a:moveTo>
                  <a:lnTo>
                    <a:pt x="2286000" y="0"/>
                  </a:lnTo>
                  <a:lnTo>
                    <a:pt x="2286000" y="76200"/>
                  </a:lnTo>
                  <a:lnTo>
                    <a:pt x="0" y="76200"/>
                  </a:lnTo>
                  <a:close/>
                </a:path>
              </a:pathLst>
            </a:custGeom>
            <a:solidFill>
              <a:srgbClr val="D0AD51"/>
            </a:solidFill>
          </p:spPr>
        </p:sp>
      </p:grpSp>
      <p:sp>
        <p:nvSpPr>
          <p:cNvPr name="TextBox 18" id="18"/>
          <p:cNvSpPr txBox="true"/>
          <p:nvPr/>
        </p:nvSpPr>
        <p:spPr>
          <a:xfrm rot="0">
            <a:off x="4857750" y="7191899"/>
            <a:ext cx="8572500" cy="873101"/>
          </a:xfrm>
          <a:prstGeom prst="rect">
            <a:avLst/>
          </a:prstGeom>
        </p:spPr>
        <p:txBody>
          <a:bodyPr anchor="t" rtlCol="false" tIns="0" lIns="0" bIns="0" rIns="0">
            <a:spAutoFit/>
          </a:bodyPr>
          <a:lstStyle/>
          <a:p>
            <a:pPr algn="ctr">
              <a:lnSpc>
                <a:spcPts val="3670"/>
              </a:lnSpc>
            </a:pPr>
            <a:r>
              <a:rPr lang="en-US" sz="1912">
                <a:solidFill>
                  <a:srgbClr val="4085B4"/>
                </a:solidFill>
                <a:latin typeface="Aptos"/>
                <a:ea typeface="Aptos"/>
                <a:cs typeface="Aptos"/>
                <a:sym typeface="Aptos"/>
              </a:rPr>
              <a:t>Translating transactional outputs into metrics to guide practical stakeholder decisions.</a:t>
            </a:r>
          </a:p>
        </p:txBody>
      </p:sp>
      <p:sp>
        <p:nvSpPr>
          <p:cNvPr name="TextBox 19" id="19"/>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Phase 05</a:t>
            </a:r>
          </a:p>
        </p:txBody>
      </p:sp>
      <p:sp>
        <p:nvSpPr>
          <p:cNvPr name="TextBox 20" id="20"/>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Analytical Takeaways</a:t>
            </a:r>
          </a:p>
        </p:txBody>
      </p:sp>
      <p:grpSp>
        <p:nvGrpSpPr>
          <p:cNvPr name="Group 21" id="21"/>
          <p:cNvGrpSpPr/>
          <p:nvPr/>
        </p:nvGrpSpPr>
        <p:grpSpPr>
          <a:xfrm rot="0">
            <a:off x="16216312" y="802110"/>
            <a:ext cx="928688" cy="924449"/>
            <a:chOff x="0" y="0"/>
            <a:chExt cx="1238250" cy="1232598"/>
          </a:xfrm>
        </p:grpSpPr>
        <p:sp>
          <p:nvSpPr>
            <p:cNvPr name="Freeform 22" id="22"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6"/>
              <a:stretch>
                <a:fillRect l="0" t="0" r="0" b="-2009"/>
              </a:stretch>
            </a:blipFill>
          </p:spPr>
        </p:sp>
      </p:grpSp>
      <p:grpSp>
        <p:nvGrpSpPr>
          <p:cNvPr name="Group 23" id="23"/>
          <p:cNvGrpSpPr/>
          <p:nvPr/>
        </p:nvGrpSpPr>
        <p:grpSpPr>
          <a:xfrm rot="0">
            <a:off x="1071562" y="628650"/>
            <a:ext cx="1148274" cy="1103376"/>
            <a:chOff x="0" y="0"/>
            <a:chExt cx="1238250" cy="1189834"/>
          </a:xfrm>
        </p:grpSpPr>
        <p:sp>
          <p:nvSpPr>
            <p:cNvPr name="Freeform 24" id="24"/>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984081" y="2790825"/>
            <a:ext cx="5381701" cy="2900362"/>
            <a:chOff x="0" y="0"/>
            <a:chExt cx="7175602" cy="3867150"/>
          </a:xfrm>
        </p:grpSpPr>
        <p:sp>
          <p:nvSpPr>
            <p:cNvPr name="Freeform 9" id="9" descr="image.png"/>
            <p:cNvSpPr/>
            <p:nvPr/>
          </p:nvSpPr>
          <p:spPr>
            <a:xfrm flipH="false" flipV="false" rot="0">
              <a:off x="0" y="0"/>
              <a:ext cx="7175627" cy="3867150"/>
            </a:xfrm>
            <a:custGeom>
              <a:avLst/>
              <a:gdLst/>
              <a:ahLst/>
              <a:cxnLst/>
              <a:rect r="r" b="b" t="t" l="l"/>
              <a:pathLst>
                <a:path h="3867150" w="7175627">
                  <a:moveTo>
                    <a:pt x="0" y="0"/>
                  </a:moveTo>
                  <a:lnTo>
                    <a:pt x="7175627" y="0"/>
                  </a:lnTo>
                  <a:lnTo>
                    <a:pt x="7175627" y="3867150"/>
                  </a:lnTo>
                  <a:lnTo>
                    <a:pt x="0" y="3867150"/>
                  </a:lnTo>
                  <a:lnTo>
                    <a:pt x="0" y="0"/>
                  </a:lnTo>
                  <a:close/>
                </a:path>
              </a:pathLst>
            </a:custGeom>
            <a:blipFill>
              <a:blip r:embed="rId4"/>
              <a:stretch>
                <a:fillRect l="0" t="0" r="-86" b="0"/>
              </a:stretch>
            </a:blipFill>
          </p:spPr>
        </p:sp>
      </p:grpSp>
      <p:grpSp>
        <p:nvGrpSpPr>
          <p:cNvPr name="Group 10" id="10"/>
          <p:cNvGrpSpPr/>
          <p:nvPr/>
        </p:nvGrpSpPr>
        <p:grpSpPr>
          <a:xfrm rot="0">
            <a:off x="6564944" y="2790825"/>
            <a:ext cx="5381701" cy="2900362"/>
            <a:chOff x="0" y="0"/>
            <a:chExt cx="7175602" cy="3867150"/>
          </a:xfrm>
        </p:grpSpPr>
        <p:sp>
          <p:nvSpPr>
            <p:cNvPr name="Freeform 11" id="11" descr="image.png"/>
            <p:cNvSpPr/>
            <p:nvPr/>
          </p:nvSpPr>
          <p:spPr>
            <a:xfrm flipH="false" flipV="false" rot="0">
              <a:off x="0" y="0"/>
              <a:ext cx="7175627" cy="3867150"/>
            </a:xfrm>
            <a:custGeom>
              <a:avLst/>
              <a:gdLst/>
              <a:ahLst/>
              <a:cxnLst/>
              <a:rect r="r" b="b" t="t" l="l"/>
              <a:pathLst>
                <a:path h="3867150" w="7175627">
                  <a:moveTo>
                    <a:pt x="0" y="0"/>
                  </a:moveTo>
                  <a:lnTo>
                    <a:pt x="7175627" y="0"/>
                  </a:lnTo>
                  <a:lnTo>
                    <a:pt x="7175627" y="3867150"/>
                  </a:lnTo>
                  <a:lnTo>
                    <a:pt x="0" y="3867150"/>
                  </a:lnTo>
                  <a:lnTo>
                    <a:pt x="0" y="0"/>
                  </a:lnTo>
                  <a:close/>
                </a:path>
              </a:pathLst>
            </a:custGeom>
            <a:blipFill>
              <a:blip r:embed="rId5"/>
              <a:stretch>
                <a:fillRect l="0" t="0" r="-352" b="0"/>
              </a:stretch>
            </a:blipFill>
          </p:spPr>
        </p:sp>
      </p:grpSp>
      <p:grpSp>
        <p:nvGrpSpPr>
          <p:cNvPr name="Group 12" id="12"/>
          <p:cNvGrpSpPr/>
          <p:nvPr/>
        </p:nvGrpSpPr>
        <p:grpSpPr>
          <a:xfrm rot="0">
            <a:off x="12137326" y="2790825"/>
            <a:ext cx="5381701" cy="2900362"/>
            <a:chOff x="0" y="0"/>
            <a:chExt cx="7175602" cy="3867150"/>
          </a:xfrm>
        </p:grpSpPr>
        <p:sp>
          <p:nvSpPr>
            <p:cNvPr name="Freeform 13" id="13" descr="image.png"/>
            <p:cNvSpPr/>
            <p:nvPr/>
          </p:nvSpPr>
          <p:spPr>
            <a:xfrm flipH="false" flipV="false" rot="0">
              <a:off x="0" y="0"/>
              <a:ext cx="7175627" cy="3867150"/>
            </a:xfrm>
            <a:custGeom>
              <a:avLst/>
              <a:gdLst/>
              <a:ahLst/>
              <a:cxnLst/>
              <a:rect r="r" b="b" t="t" l="l"/>
              <a:pathLst>
                <a:path h="3867150" w="7175627">
                  <a:moveTo>
                    <a:pt x="0" y="0"/>
                  </a:moveTo>
                  <a:lnTo>
                    <a:pt x="7175627" y="0"/>
                  </a:lnTo>
                  <a:lnTo>
                    <a:pt x="7175627" y="3867150"/>
                  </a:lnTo>
                  <a:lnTo>
                    <a:pt x="0" y="3867150"/>
                  </a:lnTo>
                  <a:lnTo>
                    <a:pt x="0" y="0"/>
                  </a:lnTo>
                  <a:close/>
                </a:path>
              </a:pathLst>
            </a:custGeom>
            <a:blipFill>
              <a:blip r:embed="rId6"/>
              <a:stretch>
                <a:fillRect l="0" t="0" r="-352" b="0"/>
              </a:stretch>
            </a:blipFill>
          </p:spPr>
        </p:sp>
      </p:grpSp>
      <p:grpSp>
        <p:nvGrpSpPr>
          <p:cNvPr name="Group 14" id="14"/>
          <p:cNvGrpSpPr/>
          <p:nvPr/>
        </p:nvGrpSpPr>
        <p:grpSpPr>
          <a:xfrm rot="0">
            <a:off x="714375" y="628650"/>
            <a:ext cx="16859250" cy="1285875"/>
            <a:chOff x="0" y="0"/>
            <a:chExt cx="22479000" cy="1714500"/>
          </a:xfrm>
        </p:grpSpPr>
        <p:sp>
          <p:nvSpPr>
            <p:cNvPr name="Freeform 15" id="15"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7"/>
              <a:stretch>
                <a:fillRect l="0" t="0" r="0" b="0"/>
              </a:stretch>
            </a:blipFill>
          </p:spPr>
        </p:sp>
      </p:grpSp>
      <p:grpSp>
        <p:nvGrpSpPr>
          <p:cNvPr name="Group 16" id="16"/>
          <p:cNvGrpSpPr/>
          <p:nvPr/>
        </p:nvGrpSpPr>
        <p:grpSpPr>
          <a:xfrm rot="0">
            <a:off x="0" y="0"/>
            <a:ext cx="18288000" cy="57150"/>
            <a:chOff x="0" y="0"/>
            <a:chExt cx="24384000" cy="76200"/>
          </a:xfrm>
        </p:grpSpPr>
        <p:sp>
          <p:nvSpPr>
            <p:cNvPr name="Freeform 17" id="17"/>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8" id="18"/>
          <p:cNvSpPr txBox="true"/>
          <p:nvPr/>
        </p:nvSpPr>
        <p:spPr>
          <a:xfrm rot="0">
            <a:off x="2571750" y="764086"/>
            <a:ext cx="13801725" cy="619125"/>
          </a:xfrm>
          <a:prstGeom prst="rect">
            <a:avLst/>
          </a:prstGeom>
        </p:spPr>
        <p:txBody>
          <a:bodyPr anchor="t" rtlCol="false" tIns="0" lIns="0" bIns="0" rIns="0">
            <a:spAutoFit/>
          </a:bodyPr>
          <a:lstStyle/>
          <a:p>
            <a:pPr algn="l">
              <a:lnSpc>
                <a:spcPts val="3779"/>
              </a:lnSpc>
            </a:pPr>
            <a:r>
              <a:rPr lang="en-US" b="true" sz="3150">
                <a:solidFill>
                  <a:srgbClr val="FFFFFF"/>
                </a:solidFill>
                <a:latin typeface="Poppins Bold"/>
                <a:ea typeface="Poppins Bold"/>
                <a:cs typeface="Poppins Bold"/>
                <a:sym typeface="Poppins Bold"/>
              </a:rPr>
              <a:t>Key Findings &amp; Outcomes</a:t>
            </a:r>
          </a:p>
        </p:txBody>
      </p:sp>
      <p:sp>
        <p:nvSpPr>
          <p:cNvPr name="TextBox 19" id="19"/>
          <p:cNvSpPr txBox="true"/>
          <p:nvPr/>
        </p:nvSpPr>
        <p:spPr>
          <a:xfrm rot="0">
            <a:off x="2571750" y="1311773"/>
            <a:ext cx="13144500" cy="351512"/>
          </a:xfrm>
          <a:prstGeom prst="rect">
            <a:avLst/>
          </a:prstGeom>
        </p:spPr>
        <p:txBody>
          <a:bodyPr anchor="t" rtlCol="false" tIns="0" lIns="0" bIns="0" rIns="0">
            <a:spAutoFit/>
          </a:bodyPr>
          <a:lstStyle/>
          <a:p>
            <a:pPr algn="l">
              <a:lnSpc>
                <a:spcPts val="3022"/>
              </a:lnSpc>
            </a:pPr>
            <a:r>
              <a:rPr lang="en-US" sz="1575">
                <a:solidFill>
                  <a:srgbClr val="03B3C3"/>
                </a:solidFill>
                <a:latin typeface="Aptos"/>
                <a:ea typeface="Aptos"/>
                <a:cs typeface="Aptos"/>
                <a:sym typeface="Aptos"/>
              </a:rPr>
              <a:t>Data-Backed Business Recommendations</a:t>
            </a:r>
          </a:p>
        </p:txBody>
      </p:sp>
      <p:grpSp>
        <p:nvGrpSpPr>
          <p:cNvPr name="Group 20" id="20"/>
          <p:cNvGrpSpPr/>
          <p:nvPr/>
        </p:nvGrpSpPr>
        <p:grpSpPr>
          <a:xfrm rot="0">
            <a:off x="16216312" y="802110"/>
            <a:ext cx="928688" cy="924449"/>
            <a:chOff x="0" y="0"/>
            <a:chExt cx="1238250" cy="1232598"/>
          </a:xfrm>
        </p:grpSpPr>
        <p:sp>
          <p:nvSpPr>
            <p:cNvPr name="Freeform 21" id="21"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8"/>
              <a:stretch>
                <a:fillRect l="0" t="0" r="0" b="-2009"/>
              </a:stretch>
            </a:blipFill>
          </p:spPr>
        </p:sp>
      </p:grpSp>
      <p:sp>
        <p:nvSpPr>
          <p:cNvPr name="TextBox 22" id="22"/>
          <p:cNvSpPr txBox="true"/>
          <p:nvPr/>
        </p:nvSpPr>
        <p:spPr>
          <a:xfrm rot="0">
            <a:off x="1441281" y="3683020"/>
            <a:ext cx="4758439" cy="322242"/>
          </a:xfrm>
          <a:prstGeom prst="rect">
            <a:avLst/>
          </a:prstGeom>
        </p:spPr>
        <p:txBody>
          <a:bodyPr anchor="t" rtlCol="false" tIns="0" lIns="0" bIns="0" rIns="0">
            <a:spAutoFit/>
          </a:bodyPr>
          <a:lstStyle/>
          <a:p>
            <a:pPr algn="l">
              <a:lnSpc>
                <a:spcPts val="2437"/>
              </a:lnSpc>
            </a:pPr>
            <a:r>
              <a:rPr lang="en-US" b="true" sz="2031">
                <a:solidFill>
                  <a:srgbClr val="364149"/>
                </a:solidFill>
                <a:latin typeface="Poppins Bold"/>
                <a:ea typeface="Poppins Bold"/>
                <a:cs typeface="Poppins Bold"/>
                <a:sym typeface="Poppins Bold"/>
              </a:rPr>
              <a:t>Key Finding 1</a:t>
            </a:r>
          </a:p>
        </p:txBody>
      </p:sp>
      <p:sp>
        <p:nvSpPr>
          <p:cNvPr name="TextBox 23" id="23"/>
          <p:cNvSpPr txBox="true"/>
          <p:nvPr/>
        </p:nvSpPr>
        <p:spPr>
          <a:xfrm rot="0">
            <a:off x="1347286" y="3898583"/>
            <a:ext cx="4946429" cy="1737360"/>
          </a:xfrm>
          <a:prstGeom prst="rect">
            <a:avLst/>
          </a:prstGeom>
        </p:spPr>
        <p:txBody>
          <a:bodyPr anchor="t" rtlCol="false" tIns="0" lIns="0" bIns="0" rIns="0">
            <a:spAutoFit/>
          </a:bodyPr>
          <a:lstStyle/>
          <a:p>
            <a:pPr algn="l">
              <a:lnSpc>
                <a:spcPts val="2835"/>
              </a:lnSpc>
            </a:pPr>
            <a:r>
              <a:rPr lang="en-US" sz="1575">
                <a:solidFill>
                  <a:srgbClr val="364149"/>
                </a:solidFill>
                <a:latin typeface="Aptos"/>
                <a:ea typeface="Aptos"/>
                <a:cs typeface="Aptos"/>
                <a:sym typeface="Aptos"/>
              </a:rPr>
              <a:t>Regions experienci</a:t>
            </a:r>
            <a:r>
              <a:rPr lang="en-US" sz="1575">
                <a:solidFill>
                  <a:srgbClr val="364149"/>
                </a:solidFill>
                <a:latin typeface="Aptos"/>
                <a:ea typeface="Aptos"/>
                <a:cs typeface="Aptos"/>
                <a:sym typeface="Aptos"/>
              </a:rPr>
              <a:t>ng elevated temperatures frequently face significantly higher levels of water stress. This pattern directly underscores the intensifying connection between shifting climate patterns and global water scarcity.</a:t>
            </a:r>
          </a:p>
        </p:txBody>
      </p:sp>
      <p:sp>
        <p:nvSpPr>
          <p:cNvPr name="TextBox 24" id="24"/>
          <p:cNvSpPr txBox="true"/>
          <p:nvPr/>
        </p:nvSpPr>
        <p:spPr>
          <a:xfrm rot="0">
            <a:off x="6910464" y="3671888"/>
            <a:ext cx="4690662"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Key Finding 2</a:t>
            </a:r>
          </a:p>
        </p:txBody>
      </p:sp>
      <p:sp>
        <p:nvSpPr>
          <p:cNvPr name="TextBox 25" id="25"/>
          <p:cNvSpPr txBox="true"/>
          <p:nvPr/>
        </p:nvSpPr>
        <p:spPr>
          <a:xfrm rot="0">
            <a:off x="6910349" y="4155281"/>
            <a:ext cx="5036296" cy="1384935"/>
          </a:xfrm>
          <a:prstGeom prst="rect">
            <a:avLst/>
          </a:prstGeom>
        </p:spPr>
        <p:txBody>
          <a:bodyPr anchor="t" rtlCol="false" tIns="0" lIns="0" bIns="0" rIns="0">
            <a:spAutoFit/>
          </a:bodyPr>
          <a:lstStyle/>
          <a:p>
            <a:pPr algn="l">
              <a:lnSpc>
                <a:spcPts val="2835"/>
              </a:lnSpc>
            </a:pPr>
            <a:r>
              <a:rPr lang="en-US" sz="1575">
                <a:solidFill>
                  <a:srgbClr val="364149"/>
                </a:solidFill>
                <a:latin typeface="Aptos"/>
                <a:ea typeface="Aptos"/>
                <a:cs typeface="Aptos"/>
                <a:sym typeface="Aptos"/>
              </a:rPr>
              <a:t>Th</a:t>
            </a:r>
            <a:r>
              <a:rPr lang="en-US" sz="1575">
                <a:solidFill>
                  <a:srgbClr val="364149"/>
                </a:solidFill>
                <a:latin typeface="Aptos"/>
                <a:ea typeface="Aptos"/>
                <a:cs typeface="Aptos"/>
                <a:sym typeface="Aptos"/>
              </a:rPr>
              <a:t>e data reinforces the strong relationship between greenhouse gas emissions and global warming trends. Consequently, prioritizing emission reduction has become a critical environmental necessity.</a:t>
            </a:r>
          </a:p>
        </p:txBody>
      </p:sp>
      <p:sp>
        <p:nvSpPr>
          <p:cNvPr name="TextBox 26" id="26"/>
          <p:cNvSpPr txBox="true"/>
          <p:nvPr/>
        </p:nvSpPr>
        <p:spPr>
          <a:xfrm rot="0">
            <a:off x="12649352" y="3671888"/>
            <a:ext cx="4690662"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Key Finding 3</a:t>
            </a:r>
          </a:p>
        </p:txBody>
      </p:sp>
      <p:sp>
        <p:nvSpPr>
          <p:cNvPr name="TextBox 27" id="27"/>
          <p:cNvSpPr txBox="true"/>
          <p:nvPr/>
        </p:nvSpPr>
        <p:spPr>
          <a:xfrm rot="0">
            <a:off x="12649352" y="4110990"/>
            <a:ext cx="4869675" cy="1384935"/>
          </a:xfrm>
          <a:prstGeom prst="rect">
            <a:avLst/>
          </a:prstGeom>
        </p:spPr>
        <p:txBody>
          <a:bodyPr anchor="t" rtlCol="false" tIns="0" lIns="0" bIns="0" rIns="0">
            <a:spAutoFit/>
          </a:bodyPr>
          <a:lstStyle/>
          <a:p>
            <a:pPr algn="l">
              <a:lnSpc>
                <a:spcPts val="2835"/>
              </a:lnSpc>
            </a:pPr>
            <a:r>
              <a:rPr lang="en-US" sz="1575">
                <a:solidFill>
                  <a:srgbClr val="364149"/>
                </a:solidFill>
                <a:latin typeface="Aptos"/>
                <a:ea typeface="Aptos"/>
                <a:cs typeface="Aptos"/>
                <a:sym typeface="Aptos"/>
              </a:rPr>
              <a:t>The f</a:t>
            </a:r>
            <a:r>
              <a:rPr lang="en-US" sz="1575">
                <a:solidFill>
                  <a:srgbClr val="364149"/>
                </a:solidFill>
                <a:latin typeface="Aptos"/>
                <a:ea typeface="Aptos"/>
                <a:cs typeface="Aptos"/>
                <a:sym typeface="Aptos"/>
              </a:rPr>
              <a:t>indings suggest that climate change and environmental risks continue to amplify the frequency and severity of natural disasters, increasing the need for disaster preparedness and resilience planning.</a:t>
            </a:r>
          </a:p>
        </p:txBody>
      </p:sp>
      <p:grpSp>
        <p:nvGrpSpPr>
          <p:cNvPr name="Group 28" id="28"/>
          <p:cNvGrpSpPr/>
          <p:nvPr/>
        </p:nvGrpSpPr>
        <p:grpSpPr>
          <a:xfrm rot="0">
            <a:off x="1441281" y="3148012"/>
            <a:ext cx="400050" cy="400050"/>
            <a:chOff x="0" y="0"/>
            <a:chExt cx="533400" cy="533400"/>
          </a:xfrm>
        </p:grpSpPr>
        <p:sp>
          <p:nvSpPr>
            <p:cNvPr name="Freeform 29" id="29"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9"/>
              <a:stretch>
                <a:fillRect l="0" t="0" r="0" b="0"/>
              </a:stretch>
            </a:blipFill>
          </p:spPr>
        </p:sp>
      </p:grpSp>
      <p:grpSp>
        <p:nvGrpSpPr>
          <p:cNvPr name="Group 30" id="30"/>
          <p:cNvGrpSpPr/>
          <p:nvPr/>
        </p:nvGrpSpPr>
        <p:grpSpPr>
          <a:xfrm rot="0">
            <a:off x="7004959" y="3148012"/>
            <a:ext cx="400050" cy="400050"/>
            <a:chOff x="0" y="0"/>
            <a:chExt cx="533400" cy="533400"/>
          </a:xfrm>
        </p:grpSpPr>
        <p:sp>
          <p:nvSpPr>
            <p:cNvPr name="Freeform 31" id="31" descr="image.png"/>
            <p:cNvSpPr/>
            <p:nvPr/>
          </p:nvSpPr>
          <p:spPr>
            <a:xfrm flipH="false" flipV="false" rot="0">
              <a:off x="0" y="0"/>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10"/>
              <a:stretch>
                <a:fillRect l="0" t="0" r="0" b="0"/>
              </a:stretch>
            </a:blipFill>
          </p:spPr>
        </p:sp>
      </p:grpSp>
      <p:grpSp>
        <p:nvGrpSpPr>
          <p:cNvPr name="Group 32" id="32"/>
          <p:cNvGrpSpPr/>
          <p:nvPr/>
        </p:nvGrpSpPr>
        <p:grpSpPr>
          <a:xfrm rot="0">
            <a:off x="12649352" y="3029168"/>
            <a:ext cx="500062" cy="400050"/>
            <a:chOff x="0" y="0"/>
            <a:chExt cx="666750" cy="533400"/>
          </a:xfrm>
        </p:grpSpPr>
        <p:sp>
          <p:nvSpPr>
            <p:cNvPr name="Freeform 33" id="33" descr="image.png"/>
            <p:cNvSpPr/>
            <p:nvPr/>
          </p:nvSpPr>
          <p:spPr>
            <a:xfrm flipH="false" flipV="false" rot="0">
              <a:off x="0" y="0"/>
              <a:ext cx="666750" cy="533400"/>
            </a:xfrm>
            <a:custGeom>
              <a:avLst/>
              <a:gdLst/>
              <a:ahLst/>
              <a:cxnLst/>
              <a:rect r="r" b="b" t="t" l="l"/>
              <a:pathLst>
                <a:path h="533400" w="666750">
                  <a:moveTo>
                    <a:pt x="0" y="0"/>
                  </a:moveTo>
                  <a:lnTo>
                    <a:pt x="666750" y="0"/>
                  </a:lnTo>
                  <a:lnTo>
                    <a:pt x="666750" y="533400"/>
                  </a:lnTo>
                  <a:lnTo>
                    <a:pt x="0" y="533400"/>
                  </a:lnTo>
                  <a:lnTo>
                    <a:pt x="0" y="0"/>
                  </a:lnTo>
                  <a:close/>
                </a:path>
              </a:pathLst>
            </a:custGeom>
            <a:blipFill>
              <a:blip r:embed="rId11"/>
              <a:stretch>
                <a:fillRect l="0" t="0" r="0" b="0"/>
              </a:stretch>
            </a:blipFill>
          </p:spPr>
        </p:sp>
      </p:grpSp>
      <p:grpSp>
        <p:nvGrpSpPr>
          <p:cNvPr name="Group 34" id="34"/>
          <p:cNvGrpSpPr/>
          <p:nvPr/>
        </p:nvGrpSpPr>
        <p:grpSpPr>
          <a:xfrm rot="0">
            <a:off x="984081" y="6081712"/>
            <a:ext cx="16534946" cy="2900362"/>
            <a:chOff x="0" y="0"/>
            <a:chExt cx="22046595" cy="3867150"/>
          </a:xfrm>
        </p:grpSpPr>
        <p:sp>
          <p:nvSpPr>
            <p:cNvPr name="Freeform 35" id="35" descr="image.png"/>
            <p:cNvSpPr/>
            <p:nvPr/>
          </p:nvSpPr>
          <p:spPr>
            <a:xfrm flipH="false" flipV="false" rot="0">
              <a:off x="0" y="0"/>
              <a:ext cx="22046620" cy="3867150"/>
            </a:xfrm>
            <a:custGeom>
              <a:avLst/>
              <a:gdLst/>
              <a:ahLst/>
              <a:cxnLst/>
              <a:rect r="r" b="b" t="t" l="l"/>
              <a:pathLst>
                <a:path h="3867150" w="22046620">
                  <a:moveTo>
                    <a:pt x="177742" y="0"/>
                  </a:moveTo>
                  <a:lnTo>
                    <a:pt x="21868879" y="0"/>
                  </a:lnTo>
                  <a:cubicBezTo>
                    <a:pt x="21916019" y="0"/>
                    <a:pt x="21961229" y="18726"/>
                    <a:pt x="21994561" y="52059"/>
                  </a:cubicBezTo>
                  <a:cubicBezTo>
                    <a:pt x="22027894" y="85392"/>
                    <a:pt x="22046620" y="130602"/>
                    <a:pt x="22046620" y="177742"/>
                  </a:cubicBezTo>
                  <a:lnTo>
                    <a:pt x="22046620" y="3689409"/>
                  </a:lnTo>
                  <a:cubicBezTo>
                    <a:pt x="22046620" y="3736548"/>
                    <a:pt x="22027894" y="3781758"/>
                    <a:pt x="21994561" y="3815091"/>
                  </a:cubicBezTo>
                  <a:cubicBezTo>
                    <a:pt x="21961229" y="3848424"/>
                    <a:pt x="21916019" y="3867150"/>
                    <a:pt x="21868879" y="3867150"/>
                  </a:cubicBezTo>
                  <a:lnTo>
                    <a:pt x="177742" y="3867150"/>
                  </a:lnTo>
                  <a:cubicBezTo>
                    <a:pt x="130602" y="3867150"/>
                    <a:pt x="85392" y="3848424"/>
                    <a:pt x="52059" y="3815091"/>
                  </a:cubicBezTo>
                  <a:cubicBezTo>
                    <a:pt x="18726" y="3781758"/>
                    <a:pt x="0" y="3736548"/>
                    <a:pt x="0" y="3689409"/>
                  </a:cubicBezTo>
                  <a:lnTo>
                    <a:pt x="0" y="177742"/>
                  </a:lnTo>
                  <a:cubicBezTo>
                    <a:pt x="0" y="130602"/>
                    <a:pt x="18726" y="85392"/>
                    <a:pt x="52059" y="52059"/>
                  </a:cubicBezTo>
                  <a:cubicBezTo>
                    <a:pt x="85392" y="18726"/>
                    <a:pt x="130602" y="0"/>
                    <a:pt x="177742" y="0"/>
                  </a:cubicBezTo>
                  <a:close/>
                </a:path>
              </a:pathLst>
            </a:custGeom>
            <a:blipFill>
              <a:blip r:embed="rId5"/>
              <a:stretch>
                <a:fillRect l="-352" t="-103621" r="0" b="-103621"/>
              </a:stretch>
            </a:blipFill>
          </p:spPr>
        </p:sp>
      </p:grpSp>
      <p:sp>
        <p:nvSpPr>
          <p:cNvPr name="TextBox 36" id="36"/>
          <p:cNvSpPr txBox="true"/>
          <p:nvPr/>
        </p:nvSpPr>
        <p:spPr>
          <a:xfrm rot="0">
            <a:off x="1441281" y="6396038"/>
            <a:ext cx="4690662" cy="333375"/>
          </a:xfrm>
          <a:prstGeom prst="rect">
            <a:avLst/>
          </a:prstGeom>
        </p:spPr>
        <p:txBody>
          <a:bodyPr anchor="t" rtlCol="false" tIns="0" lIns="0" bIns="0" rIns="0">
            <a:spAutoFit/>
          </a:bodyPr>
          <a:lstStyle/>
          <a:p>
            <a:pPr algn="l">
              <a:lnSpc>
                <a:spcPts val="2527"/>
              </a:lnSpc>
            </a:pPr>
            <a:r>
              <a:rPr lang="en-US" b="true" sz="2106">
                <a:solidFill>
                  <a:srgbClr val="364149"/>
                </a:solidFill>
                <a:latin typeface="Poppins Bold"/>
                <a:ea typeface="Poppins Bold"/>
                <a:cs typeface="Poppins Bold"/>
                <a:sym typeface="Poppins Bold"/>
              </a:rPr>
              <a:t>Overall Conclusion</a:t>
            </a:r>
          </a:p>
        </p:txBody>
      </p:sp>
      <p:sp>
        <p:nvSpPr>
          <p:cNvPr name="TextBox 37" id="37"/>
          <p:cNvSpPr txBox="true"/>
          <p:nvPr/>
        </p:nvSpPr>
        <p:spPr>
          <a:xfrm rot="0">
            <a:off x="1368010" y="6687445"/>
            <a:ext cx="15972005" cy="2148931"/>
          </a:xfrm>
          <a:prstGeom prst="rect">
            <a:avLst/>
          </a:prstGeom>
        </p:spPr>
        <p:txBody>
          <a:bodyPr anchor="t" rtlCol="false" tIns="0" lIns="0" bIns="0" rIns="0">
            <a:spAutoFit/>
          </a:bodyPr>
          <a:lstStyle/>
          <a:p>
            <a:pPr algn="l" marL="415349" indent="-207674" lvl="1">
              <a:lnSpc>
                <a:spcPts val="3462"/>
              </a:lnSpc>
              <a:buFont typeface="Arial"/>
              <a:buChar char="•"/>
            </a:pPr>
            <a:r>
              <a:rPr lang="en-US" sz="1923">
                <a:solidFill>
                  <a:srgbClr val="364149"/>
                </a:solidFill>
                <a:latin typeface="Aptos"/>
                <a:ea typeface="Aptos"/>
                <a:cs typeface="Aptos"/>
                <a:sym typeface="Aptos"/>
              </a:rPr>
              <a:t>Global temperatures are </a:t>
            </a:r>
            <a:r>
              <a:rPr lang="en-US" sz="1923">
                <a:solidFill>
                  <a:srgbClr val="364149"/>
                </a:solidFill>
                <a:latin typeface="Aptos"/>
                <a:ea typeface="Aptos"/>
                <a:cs typeface="Aptos"/>
                <a:sym typeface="Aptos"/>
              </a:rPr>
              <a:t>increasing while water resources show a declining trend.</a:t>
            </a:r>
          </a:p>
          <a:p>
            <a:pPr algn="l" marL="415349" indent="-207674" lvl="1">
              <a:lnSpc>
                <a:spcPts val="3462"/>
              </a:lnSpc>
              <a:buFont typeface="Arial"/>
              <a:buChar char="•"/>
            </a:pPr>
            <a:r>
              <a:rPr lang="en-US" sz="1923">
                <a:solidFill>
                  <a:srgbClr val="364149"/>
                </a:solidFill>
                <a:latin typeface="Aptos"/>
                <a:ea typeface="Aptos"/>
                <a:cs typeface="Aptos"/>
                <a:sym typeface="Aptos"/>
              </a:rPr>
              <a:t>Greenhouse gas emissions, particularly CO₂, remain a major contributor to climate change.</a:t>
            </a:r>
          </a:p>
          <a:p>
            <a:pPr algn="l" marL="415349" indent="-207674" lvl="1">
              <a:lnSpc>
                <a:spcPts val="3462"/>
              </a:lnSpc>
              <a:buFont typeface="Arial"/>
              <a:buChar char="•"/>
            </a:pPr>
            <a:r>
              <a:rPr lang="en-US" sz="1923">
                <a:solidFill>
                  <a:srgbClr val="364149"/>
                </a:solidFill>
                <a:latin typeface="Aptos"/>
                <a:ea typeface="Aptos"/>
                <a:cs typeface="Aptos"/>
                <a:sym typeface="Aptos"/>
              </a:rPr>
              <a:t>Climate-related risks are disproportionately affecting certain regions, especially developing countries.</a:t>
            </a:r>
          </a:p>
          <a:p>
            <a:pPr algn="l" marL="415349" indent="-207674" lvl="1">
              <a:lnSpc>
                <a:spcPts val="3462"/>
              </a:lnSpc>
              <a:buFont typeface="Arial"/>
              <a:buChar char="•"/>
            </a:pPr>
            <a:r>
              <a:rPr lang="en-US" sz="1923">
                <a:solidFill>
                  <a:srgbClr val="364149"/>
                </a:solidFill>
                <a:latin typeface="Aptos"/>
                <a:ea typeface="Aptos"/>
                <a:cs typeface="Aptos"/>
                <a:sym typeface="Aptos"/>
              </a:rPr>
              <a:t>The analysis highlights the urgent need for sustainable environmental policies, emission reduction strategies, and improved resource management to mitigate future climate impacts.</a:t>
            </a:r>
          </a:p>
        </p:txBody>
      </p:sp>
      <p:grpSp>
        <p:nvGrpSpPr>
          <p:cNvPr name="Group 38" id="38"/>
          <p:cNvGrpSpPr/>
          <p:nvPr/>
        </p:nvGrpSpPr>
        <p:grpSpPr>
          <a:xfrm rot="0">
            <a:off x="1071562" y="628650"/>
            <a:ext cx="1148274" cy="1103376"/>
            <a:chOff x="0" y="0"/>
            <a:chExt cx="1238250" cy="1189834"/>
          </a:xfrm>
        </p:grpSpPr>
        <p:sp>
          <p:nvSpPr>
            <p:cNvPr name="Freeform 39" id="39"/>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12"/>
              <a:stretch>
                <a:fillRect l="0" t="-2034" r="0" b="-2034"/>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B0F19"/>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71562" y="728662"/>
            <a:ext cx="1071562" cy="1071562"/>
            <a:chOff x="0" y="0"/>
            <a:chExt cx="1428750" cy="1428750"/>
          </a:xfrm>
        </p:grpSpPr>
        <p:sp>
          <p:nvSpPr>
            <p:cNvPr name="Freeform 5" id="5"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6" id="6"/>
          <p:cNvGrpSpPr/>
          <p:nvPr/>
        </p:nvGrpSpPr>
        <p:grpSpPr>
          <a:xfrm rot="0">
            <a:off x="16144875" y="728662"/>
            <a:ext cx="1071562" cy="1071562"/>
            <a:chOff x="0" y="0"/>
            <a:chExt cx="1428750" cy="1428750"/>
          </a:xfrm>
        </p:grpSpPr>
        <p:sp>
          <p:nvSpPr>
            <p:cNvPr name="Freeform 7" id="7" descr="image.png"/>
            <p:cNvSpPr/>
            <p:nvPr/>
          </p:nvSpPr>
          <p:spPr>
            <a:xfrm flipH="false" flipV="false" rot="0">
              <a:off x="0" y="0"/>
              <a:ext cx="1428750" cy="1428750"/>
            </a:xfrm>
            <a:custGeom>
              <a:avLst/>
              <a:gdLst/>
              <a:ahLst/>
              <a:cxnLst/>
              <a:rect r="r" b="b" t="t" l="l"/>
              <a:pathLst>
                <a:path h="1428750" w="1428750">
                  <a:moveTo>
                    <a:pt x="0" y="0"/>
                  </a:moveTo>
                  <a:lnTo>
                    <a:pt x="1428750" y="0"/>
                  </a:lnTo>
                  <a:lnTo>
                    <a:pt x="1428750" y="1428750"/>
                  </a:lnTo>
                  <a:lnTo>
                    <a:pt x="0" y="1428750"/>
                  </a:lnTo>
                  <a:lnTo>
                    <a:pt x="0" y="0"/>
                  </a:lnTo>
                  <a:close/>
                </a:path>
              </a:pathLst>
            </a:custGeom>
            <a:blipFill>
              <a:blip r:embed="rId3"/>
              <a:stretch>
                <a:fillRect l="0" t="0" r="0" b="-1333"/>
              </a:stretch>
            </a:blipFill>
          </p:spPr>
        </p:sp>
      </p:grpSp>
      <p:grpSp>
        <p:nvGrpSpPr>
          <p:cNvPr name="Group 8" id="8"/>
          <p:cNvGrpSpPr/>
          <p:nvPr/>
        </p:nvGrpSpPr>
        <p:grpSpPr>
          <a:xfrm rot="0">
            <a:off x="714375" y="3626120"/>
            <a:ext cx="16859250" cy="428625"/>
            <a:chOff x="0" y="0"/>
            <a:chExt cx="22479000" cy="571500"/>
          </a:xfrm>
        </p:grpSpPr>
        <p:sp>
          <p:nvSpPr>
            <p:cNvPr name="Freeform 9" id="9" descr="image.png"/>
            <p:cNvSpPr/>
            <p:nvPr/>
          </p:nvSpPr>
          <p:spPr>
            <a:xfrm flipH="false" flipV="false" rot="0">
              <a:off x="0" y="0"/>
              <a:ext cx="22479000" cy="571500"/>
            </a:xfrm>
            <a:custGeom>
              <a:avLst/>
              <a:gdLst/>
              <a:ahLst/>
              <a:cxnLst/>
              <a:rect r="r" b="b" t="t" l="l"/>
              <a:pathLst>
                <a:path h="571500" w="22479000">
                  <a:moveTo>
                    <a:pt x="0" y="0"/>
                  </a:moveTo>
                  <a:lnTo>
                    <a:pt x="22479000" y="0"/>
                  </a:lnTo>
                  <a:lnTo>
                    <a:pt x="22479000" y="571500"/>
                  </a:lnTo>
                  <a:lnTo>
                    <a:pt x="0" y="571500"/>
                  </a:lnTo>
                  <a:lnTo>
                    <a:pt x="0" y="0"/>
                  </a:lnTo>
                  <a:close/>
                </a:path>
              </a:pathLst>
            </a:custGeom>
            <a:blipFill>
              <a:blip r:embed="rId4"/>
              <a:stretch>
                <a:fillRect l="0" t="0" r="0" b="-3333"/>
              </a:stretch>
            </a:blipFill>
          </p:spPr>
        </p:sp>
      </p:grpSp>
      <p:grpSp>
        <p:nvGrpSpPr>
          <p:cNvPr name="Group 10" id="10"/>
          <p:cNvGrpSpPr/>
          <p:nvPr/>
        </p:nvGrpSpPr>
        <p:grpSpPr>
          <a:xfrm rot="0">
            <a:off x="714375" y="628650"/>
            <a:ext cx="16859250" cy="1285875"/>
            <a:chOff x="0" y="0"/>
            <a:chExt cx="22479000" cy="1714500"/>
          </a:xfrm>
        </p:grpSpPr>
        <p:sp>
          <p:nvSpPr>
            <p:cNvPr name="Freeform 11" id="11" descr="image.png"/>
            <p:cNvSpPr/>
            <p:nvPr/>
          </p:nvSpPr>
          <p:spPr>
            <a:xfrm flipH="false" flipV="false" rot="0">
              <a:off x="0" y="0"/>
              <a:ext cx="22479000" cy="1714500"/>
            </a:xfrm>
            <a:custGeom>
              <a:avLst/>
              <a:gdLst/>
              <a:ahLst/>
              <a:cxnLst/>
              <a:rect r="r" b="b" t="t" l="l"/>
              <a:pathLst>
                <a:path h="1714500" w="22479000">
                  <a:moveTo>
                    <a:pt x="0" y="0"/>
                  </a:moveTo>
                  <a:lnTo>
                    <a:pt x="22479000" y="0"/>
                  </a:lnTo>
                  <a:lnTo>
                    <a:pt x="22479000" y="1714500"/>
                  </a:lnTo>
                  <a:lnTo>
                    <a:pt x="0" y="1714500"/>
                  </a:lnTo>
                  <a:lnTo>
                    <a:pt x="0" y="0"/>
                  </a:lnTo>
                  <a:close/>
                </a:path>
              </a:pathLst>
            </a:custGeom>
            <a:blipFill>
              <a:blip r:embed="rId5"/>
              <a:stretch>
                <a:fillRect l="0" t="0" r="0" b="0"/>
              </a:stretch>
            </a:blipFill>
          </p:spPr>
        </p:sp>
      </p:grpSp>
      <p:grpSp>
        <p:nvGrpSpPr>
          <p:cNvPr name="Group 12" id="12"/>
          <p:cNvGrpSpPr/>
          <p:nvPr/>
        </p:nvGrpSpPr>
        <p:grpSpPr>
          <a:xfrm rot="0">
            <a:off x="0" y="0"/>
            <a:ext cx="18288000" cy="57150"/>
            <a:chOff x="0" y="0"/>
            <a:chExt cx="24384000" cy="76200"/>
          </a:xfrm>
        </p:grpSpPr>
        <p:sp>
          <p:nvSpPr>
            <p:cNvPr name="Freeform 13" id="13"/>
            <p:cNvSpPr/>
            <p:nvPr/>
          </p:nvSpPr>
          <p:spPr>
            <a:xfrm flipH="false" flipV="false" rot="0">
              <a:off x="0" y="0"/>
              <a:ext cx="24384000" cy="76200"/>
            </a:xfrm>
            <a:custGeom>
              <a:avLst/>
              <a:gdLst/>
              <a:ahLst/>
              <a:cxnLst/>
              <a:rect r="r" b="b" t="t" l="l"/>
              <a:pathLst>
                <a:path h="76200" w="24384000">
                  <a:moveTo>
                    <a:pt x="0" y="0"/>
                  </a:moveTo>
                  <a:lnTo>
                    <a:pt x="24384000" y="0"/>
                  </a:lnTo>
                  <a:lnTo>
                    <a:pt x="24384000" y="76200"/>
                  </a:lnTo>
                  <a:lnTo>
                    <a:pt x="0" y="76200"/>
                  </a:lnTo>
                  <a:close/>
                </a:path>
              </a:pathLst>
            </a:custGeom>
            <a:solidFill>
              <a:srgbClr val="5856D6"/>
            </a:solidFill>
          </p:spPr>
        </p:sp>
      </p:grpSp>
      <p:sp>
        <p:nvSpPr>
          <p:cNvPr name="TextBox 14" id="14"/>
          <p:cNvSpPr txBox="true"/>
          <p:nvPr/>
        </p:nvSpPr>
        <p:spPr>
          <a:xfrm rot="0">
            <a:off x="357188" y="4183332"/>
            <a:ext cx="17573625" cy="1325832"/>
          </a:xfrm>
          <a:prstGeom prst="rect">
            <a:avLst/>
          </a:prstGeom>
        </p:spPr>
        <p:txBody>
          <a:bodyPr anchor="t" rtlCol="false" tIns="0" lIns="0" bIns="0" rIns="0">
            <a:spAutoFit/>
          </a:bodyPr>
          <a:lstStyle/>
          <a:p>
            <a:pPr algn="ctr">
              <a:lnSpc>
                <a:spcPts val="10366"/>
              </a:lnSpc>
            </a:pPr>
            <a:r>
              <a:rPr lang="en-US" b="true" sz="7200">
                <a:solidFill>
                  <a:srgbClr val="FFFFFF"/>
                </a:solidFill>
                <a:latin typeface="Poppins Bold"/>
                <a:ea typeface="Poppins Bold"/>
                <a:cs typeface="Poppins Bold"/>
                <a:sym typeface="Poppins Bold"/>
              </a:rPr>
              <a:t>Any Questions?</a:t>
            </a:r>
          </a:p>
        </p:txBody>
      </p:sp>
      <p:sp>
        <p:nvSpPr>
          <p:cNvPr name="TextBox 15" id="15"/>
          <p:cNvSpPr txBox="true"/>
          <p:nvPr/>
        </p:nvSpPr>
        <p:spPr>
          <a:xfrm rot="0">
            <a:off x="357188" y="5723487"/>
            <a:ext cx="17573625" cy="900112"/>
          </a:xfrm>
          <a:prstGeom prst="rect">
            <a:avLst/>
          </a:prstGeom>
        </p:spPr>
        <p:txBody>
          <a:bodyPr anchor="t" rtlCol="false" tIns="0" lIns="0" bIns="0" rIns="0">
            <a:spAutoFit/>
          </a:bodyPr>
          <a:lstStyle/>
          <a:p>
            <a:pPr algn="ctr">
              <a:lnSpc>
                <a:spcPts val="4590"/>
              </a:lnSpc>
            </a:pPr>
            <a:r>
              <a:rPr lang="ar-EG" sz="3825">
                <a:solidFill>
                  <a:srgbClr val="03B3C3"/>
                </a:solidFill>
                <a:latin typeface="Cairo"/>
                <a:ea typeface="Cairo"/>
                <a:cs typeface="Cairo"/>
                <a:sym typeface="Cairo"/>
                <a:rtl val="true"/>
              </a:rPr>
              <a:t>شكراً لحسن استماعكم</a:t>
            </a:r>
          </a:p>
        </p:txBody>
      </p:sp>
      <p:grpSp>
        <p:nvGrpSpPr>
          <p:cNvPr name="Group 16" id="16"/>
          <p:cNvGrpSpPr/>
          <p:nvPr/>
        </p:nvGrpSpPr>
        <p:grpSpPr>
          <a:xfrm rot="0">
            <a:off x="8286750" y="7052224"/>
            <a:ext cx="1714500" cy="57150"/>
            <a:chOff x="0" y="0"/>
            <a:chExt cx="2286000" cy="76200"/>
          </a:xfrm>
        </p:grpSpPr>
        <p:sp>
          <p:nvSpPr>
            <p:cNvPr name="Freeform 17" id="17"/>
            <p:cNvSpPr/>
            <p:nvPr/>
          </p:nvSpPr>
          <p:spPr>
            <a:xfrm flipH="false" flipV="false" rot="0">
              <a:off x="0" y="0"/>
              <a:ext cx="2286000" cy="76200"/>
            </a:xfrm>
            <a:custGeom>
              <a:avLst/>
              <a:gdLst/>
              <a:ahLst/>
              <a:cxnLst/>
              <a:rect r="r" b="b" t="t" l="l"/>
              <a:pathLst>
                <a:path h="76200" w="2286000">
                  <a:moveTo>
                    <a:pt x="0" y="0"/>
                  </a:moveTo>
                  <a:lnTo>
                    <a:pt x="2286000" y="0"/>
                  </a:lnTo>
                  <a:lnTo>
                    <a:pt x="2286000" y="76200"/>
                  </a:lnTo>
                  <a:lnTo>
                    <a:pt x="0" y="76200"/>
                  </a:lnTo>
                  <a:close/>
                </a:path>
              </a:pathLst>
            </a:custGeom>
            <a:solidFill>
              <a:srgbClr val="E37600"/>
            </a:solidFill>
          </p:spPr>
        </p:sp>
      </p:grpSp>
      <p:sp>
        <p:nvSpPr>
          <p:cNvPr name="TextBox 18" id="18"/>
          <p:cNvSpPr txBox="true"/>
          <p:nvPr/>
        </p:nvSpPr>
        <p:spPr>
          <a:xfrm rot="0">
            <a:off x="714375" y="7918999"/>
            <a:ext cx="16859250" cy="709803"/>
          </a:xfrm>
          <a:prstGeom prst="rect">
            <a:avLst/>
          </a:prstGeom>
        </p:spPr>
        <p:txBody>
          <a:bodyPr anchor="t" rtlCol="false" tIns="0" lIns="0" bIns="0" rIns="0">
            <a:spAutoFit/>
          </a:bodyPr>
          <a:lstStyle/>
          <a:p>
            <a:pPr algn="ctr">
              <a:lnSpc>
                <a:spcPts val="2916"/>
              </a:lnSpc>
            </a:pPr>
            <a:r>
              <a:rPr lang="en-US" b="true" sz="2025">
                <a:solidFill>
                  <a:srgbClr val="D9EBF5"/>
                </a:solidFill>
                <a:latin typeface="Aptos Bold"/>
                <a:ea typeface="Aptos Bold"/>
                <a:cs typeface="Aptos Bold"/>
                <a:sym typeface="Aptos Bold"/>
              </a:rPr>
              <a:t>DEPI Graduation Project Framework</a:t>
            </a:r>
          </a:p>
          <a:p>
            <a:pPr algn="ctr">
              <a:lnSpc>
                <a:spcPts val="2916"/>
              </a:lnSpc>
            </a:pPr>
          </a:p>
        </p:txBody>
      </p:sp>
      <p:sp>
        <p:nvSpPr>
          <p:cNvPr name="TextBox 19" id="19"/>
          <p:cNvSpPr txBox="true"/>
          <p:nvPr/>
        </p:nvSpPr>
        <p:spPr>
          <a:xfrm rot="0">
            <a:off x="2243138" y="764086"/>
            <a:ext cx="13801725" cy="619125"/>
          </a:xfrm>
          <a:prstGeom prst="rect">
            <a:avLst/>
          </a:prstGeom>
        </p:spPr>
        <p:txBody>
          <a:bodyPr anchor="t" rtlCol="false" tIns="0" lIns="0" bIns="0" rIns="0">
            <a:spAutoFit/>
          </a:bodyPr>
          <a:lstStyle/>
          <a:p>
            <a:pPr algn="ctr">
              <a:lnSpc>
                <a:spcPts val="3779"/>
              </a:lnSpc>
            </a:pPr>
            <a:r>
              <a:rPr lang="en-US" b="true" sz="3150">
                <a:solidFill>
                  <a:srgbClr val="FFFFFF"/>
                </a:solidFill>
                <a:latin typeface="Poppins Bold"/>
                <a:ea typeface="Poppins Bold"/>
                <a:cs typeface="Poppins Bold"/>
                <a:sym typeface="Poppins Bold"/>
              </a:rPr>
              <a:t>QUESTIONS &amp; ANSWERS</a:t>
            </a:r>
          </a:p>
        </p:txBody>
      </p:sp>
      <p:sp>
        <p:nvSpPr>
          <p:cNvPr name="TextBox 20" id="20"/>
          <p:cNvSpPr txBox="true"/>
          <p:nvPr/>
        </p:nvSpPr>
        <p:spPr>
          <a:xfrm rot="0">
            <a:off x="2571750" y="1311773"/>
            <a:ext cx="13144500" cy="351512"/>
          </a:xfrm>
          <a:prstGeom prst="rect">
            <a:avLst/>
          </a:prstGeom>
        </p:spPr>
        <p:txBody>
          <a:bodyPr anchor="t" rtlCol="false" tIns="0" lIns="0" bIns="0" rIns="0">
            <a:spAutoFit/>
          </a:bodyPr>
          <a:lstStyle/>
          <a:p>
            <a:pPr algn="ctr">
              <a:lnSpc>
                <a:spcPts val="3022"/>
              </a:lnSpc>
            </a:pPr>
            <a:r>
              <a:rPr lang="en-US" sz="1575">
                <a:solidFill>
                  <a:srgbClr val="03B3C3"/>
                </a:solidFill>
                <a:latin typeface="Aptos"/>
                <a:ea typeface="Aptos"/>
                <a:cs typeface="Aptos"/>
                <a:sym typeface="Aptos"/>
              </a:rPr>
              <a:t>Closing Session</a:t>
            </a:r>
          </a:p>
        </p:txBody>
      </p:sp>
      <p:grpSp>
        <p:nvGrpSpPr>
          <p:cNvPr name="Group 21" id="21"/>
          <p:cNvGrpSpPr/>
          <p:nvPr/>
        </p:nvGrpSpPr>
        <p:grpSpPr>
          <a:xfrm rot="0">
            <a:off x="16216312" y="802110"/>
            <a:ext cx="928688" cy="924449"/>
            <a:chOff x="0" y="0"/>
            <a:chExt cx="1238250" cy="1232598"/>
          </a:xfrm>
        </p:grpSpPr>
        <p:sp>
          <p:nvSpPr>
            <p:cNvPr name="Freeform 22" id="22" descr="image.png"/>
            <p:cNvSpPr/>
            <p:nvPr/>
          </p:nvSpPr>
          <p:spPr>
            <a:xfrm flipH="false" flipV="false" rot="0">
              <a:off x="0" y="0"/>
              <a:ext cx="1238250" cy="1232535"/>
            </a:xfrm>
            <a:custGeom>
              <a:avLst/>
              <a:gdLst/>
              <a:ahLst/>
              <a:cxnLst/>
              <a:rect r="r" b="b" t="t" l="l"/>
              <a:pathLst>
                <a:path h="1232535" w="1238250">
                  <a:moveTo>
                    <a:pt x="0" y="0"/>
                  </a:moveTo>
                  <a:lnTo>
                    <a:pt x="1238250" y="0"/>
                  </a:lnTo>
                  <a:lnTo>
                    <a:pt x="1238250" y="1232535"/>
                  </a:lnTo>
                  <a:lnTo>
                    <a:pt x="0" y="1232535"/>
                  </a:lnTo>
                  <a:lnTo>
                    <a:pt x="0" y="0"/>
                  </a:lnTo>
                  <a:close/>
                </a:path>
              </a:pathLst>
            </a:custGeom>
            <a:blipFill>
              <a:blip r:embed="rId6"/>
              <a:stretch>
                <a:fillRect l="0" t="0" r="0" b="-2009"/>
              </a:stretch>
            </a:blipFill>
          </p:spPr>
        </p:sp>
      </p:grpSp>
      <p:grpSp>
        <p:nvGrpSpPr>
          <p:cNvPr name="Group 23" id="23"/>
          <p:cNvGrpSpPr/>
          <p:nvPr/>
        </p:nvGrpSpPr>
        <p:grpSpPr>
          <a:xfrm rot="0">
            <a:off x="1071562" y="628650"/>
            <a:ext cx="1148274" cy="1103376"/>
            <a:chOff x="0" y="0"/>
            <a:chExt cx="1238250" cy="1189834"/>
          </a:xfrm>
        </p:grpSpPr>
        <p:sp>
          <p:nvSpPr>
            <p:cNvPr name="Freeform 24" id="24"/>
            <p:cNvSpPr/>
            <p:nvPr/>
          </p:nvSpPr>
          <p:spPr>
            <a:xfrm flipH="false" flipV="false" rot="0">
              <a:off x="0" y="0"/>
              <a:ext cx="1238250" cy="1189847"/>
            </a:xfrm>
            <a:custGeom>
              <a:avLst/>
              <a:gdLst/>
              <a:ahLst/>
              <a:cxnLst/>
              <a:rect r="r" b="b" t="t" l="l"/>
              <a:pathLst>
                <a:path h="1189847" w="1238250">
                  <a:moveTo>
                    <a:pt x="0" y="0"/>
                  </a:moveTo>
                  <a:lnTo>
                    <a:pt x="1238250" y="0"/>
                  </a:lnTo>
                  <a:lnTo>
                    <a:pt x="1238250" y="1189847"/>
                  </a:lnTo>
                  <a:lnTo>
                    <a:pt x="0" y="1189847"/>
                  </a:lnTo>
                  <a:lnTo>
                    <a:pt x="0" y="0"/>
                  </a:lnTo>
                  <a:close/>
                </a:path>
              </a:pathLst>
            </a:custGeom>
            <a:blipFill>
              <a:blip r:embed="rId7"/>
              <a:stretch>
                <a:fillRect l="0" t="-2034" r="0" b="-2034"/>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DAHN9CjwWFg</dc:identifier>
  <dcterms:modified xsi:type="dcterms:W3CDTF">2011-08-01T06:04:30Z</dcterms:modified>
  <cp:revision>1</cp:revision>
  <dc:title>Library Selection and Data Loading For library selection and data loading, I imported the core analytical and visualization libraries, including Pandas, NumPy, Matplotlib, and Seaborn. I then loaded the normalized climate change emissions indicators</dc:title>
</cp:coreProperties>
</file>