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webextensions/webextension1.xml" ContentType="application/vnd.ms-office.webextension+xml"/>
  <Override PartName="/ppt/notesSlides/notesSlide13.xml" ContentType="application/vnd.openxmlformats-officedocument.presentationml.notesSlide+xml"/>
  <Override PartName="/ppt/webextensions/webextension2.xml" ContentType="application/vnd.ms-office.webextension+xml"/>
  <Override PartName="/ppt/notesSlides/notesSlide14.xml" ContentType="application/vnd.openxmlformats-officedocument.presentationml.notesSlide+xml"/>
  <Override PartName="/ppt/webextensions/webextension3.xml" ContentType="application/vnd.ms-office.webextension+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5" r:id="rId7"/>
    <p:sldId id="266" r:id="rId8"/>
    <p:sldId id="267" r:id="rId9"/>
    <p:sldId id="268" r:id="rId10"/>
    <p:sldId id="296" r:id="rId11"/>
    <p:sldId id="297" r:id="rId12"/>
    <p:sldId id="298" r:id="rId13"/>
    <p:sldId id="269" r:id="rId14"/>
    <p:sldId id="299" r:id="rId15"/>
    <p:sldId id="301" r:id="rId16"/>
    <p:sldId id="300" r:id="rId17"/>
    <p:sldId id="270" r:id="rId18"/>
    <p:sldId id="302" r:id="rId19"/>
    <p:sldId id="303" r:id="rId20"/>
    <p:sldId id="304" r:id="rId21"/>
    <p:sldId id="305" r:id="rId22"/>
    <p:sldId id="310" r:id="rId23"/>
    <p:sldId id="311" r:id="rId24"/>
    <p:sldId id="312" r:id="rId25"/>
    <p:sldId id="279" r:id="rId26"/>
    <p:sldId id="308" r:id="rId27"/>
    <p:sldId id="288" r:id="rId28"/>
    <p:sldId id="309" r:id="rId29"/>
    <p:sldId id="313" r:id="rId30"/>
    <p:sldId id="307" r:id="rId31"/>
    <p:sldId id="314" r:id="rId32"/>
    <p:sldId id="290" r:id="rId33"/>
    <p:sldId id="291" r:id="rId34"/>
    <p:sldId id="295"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A6C6"/>
    <a:srgbClr val="DCEAF8"/>
    <a:srgbClr val="161B22"/>
    <a:srgbClr val="4A7BA4"/>
    <a:srgbClr val="BAC6D2"/>
    <a:srgbClr val="A9C2F5"/>
    <a:srgbClr val="588AB4"/>
    <a:srgbClr val="6D9BE5"/>
    <a:srgbClr val="1F57B1"/>
    <a:srgbClr val="1336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9"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0457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3E11E-A5D0-D6B5-CD2E-13CB51AF3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00315-3FED-87A8-0B91-B03E7EC8F3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135CF-05CA-29F2-A04C-203C0DBC9B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5FE1-B99E-0F30-2DE0-FE39D77C64C1}"/>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9417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E425-920B-D4F7-2941-B7C195888B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EBE1C-B558-6F27-CD4F-B81D3FCFB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02894B-214D-9378-3B85-3E9CD96BD1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23C2A9-748A-83B5-F327-EA2BEE47F42A}"/>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603827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microsoft.com/office/2011/relationships/webextension" Target="../webextensions/webextension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microsoft.com/office/2011/relationships/webextension" Target="../webextensions/webextension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microsoft.com/office/2011/relationships/webextension" Target="../webextensions/webextension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DCEAF8"/>
          </a:solidFill>
          <a:ln w="12700">
            <a:solidFill>
              <a:srgbClr val="DCEAF8"/>
            </a:solidFill>
            <a:prstDash val="solid"/>
          </a:ln>
        </p:spPr>
        <p:txBody>
          <a:bodyPr/>
          <a:lstStyle/>
          <a:p>
            <a:endParaRPr lang="en-US" dirty="0"/>
          </a:p>
        </p:txBody>
      </p:sp>
      <p:sp>
        <p:nvSpPr>
          <p:cNvPr id="3" name="Shape 1"/>
          <p:cNvSpPr/>
          <p:nvPr/>
        </p:nvSpPr>
        <p:spPr>
          <a:xfrm>
            <a:off x="6309360" y="0"/>
            <a:ext cx="73152" cy="5143500"/>
          </a:xfrm>
          <a:prstGeom prst="rect">
            <a:avLst/>
          </a:prstGeom>
          <a:solidFill>
            <a:srgbClr val="DCEAF8"/>
          </a:solidFill>
          <a:ln w="12700">
            <a:solidFill>
              <a:srgbClr val="DCEAF8"/>
            </a:solidFill>
            <a:prstDash val="solid"/>
          </a:ln>
        </p:spPr>
        <p:txBody>
          <a:bodyPr/>
          <a:lstStyle/>
          <a:p>
            <a:endParaRPr lang="en-US" dirty="0"/>
          </a:p>
        </p:txBody>
      </p:sp>
      <p:sp>
        <p:nvSpPr>
          <p:cNvPr id="6" name="Text 4"/>
          <p:cNvSpPr/>
          <p:nvPr/>
        </p:nvSpPr>
        <p:spPr>
          <a:xfrm>
            <a:off x="457200" y="822960"/>
            <a:ext cx="5669280" cy="640080"/>
          </a:xfrm>
          <a:prstGeom prst="rect">
            <a:avLst/>
          </a:prstGeom>
          <a:noFill/>
          <a:ln/>
        </p:spPr>
        <p:txBody>
          <a:bodyPr wrap="square" lIns="0" tIns="0" rIns="0" bIns="0" rtlCol="0" anchor="ctr"/>
          <a:lstStyle/>
          <a:p>
            <a:pPr marL="0" indent="0">
              <a:buNone/>
            </a:pPr>
            <a:r>
              <a:rPr lang="en-US" sz="4200" b="1" kern="0" spc="400" dirty="0">
                <a:solidFill>
                  <a:srgbClr val="FFFFFF"/>
                </a:solidFill>
                <a:latin typeface="Calibri" pitchFamily="34" charset="0"/>
                <a:ea typeface="Calibri" pitchFamily="34" charset="-122"/>
                <a:cs typeface="Calibri" pitchFamily="34" charset="-120"/>
              </a:rPr>
              <a:t>DATA ANALYSIS</a:t>
            </a:r>
            <a:endParaRPr lang="en-US" sz="4200" dirty="0"/>
          </a:p>
        </p:txBody>
      </p:sp>
      <p:sp>
        <p:nvSpPr>
          <p:cNvPr id="7" name="Text 5"/>
          <p:cNvSpPr/>
          <p:nvPr/>
        </p:nvSpPr>
        <p:spPr>
          <a:xfrm>
            <a:off x="457200" y="1508760"/>
            <a:ext cx="5669280" cy="685800"/>
          </a:xfrm>
          <a:prstGeom prst="rect">
            <a:avLst/>
          </a:prstGeom>
          <a:noFill/>
          <a:ln/>
        </p:spPr>
        <p:txBody>
          <a:bodyPr wrap="square" lIns="0" tIns="0" rIns="0" bIns="0" rtlCol="0" anchor="ctr"/>
          <a:lstStyle/>
          <a:p>
            <a:pPr marL="0" indent="0">
              <a:buNone/>
            </a:pPr>
            <a:r>
              <a:rPr lang="en-US" sz="4000" b="1" dirty="0">
                <a:solidFill>
                  <a:srgbClr val="DCEAF8"/>
                </a:solidFill>
                <a:latin typeface="Calibri" pitchFamily="34" charset="0"/>
                <a:ea typeface="Calibri" pitchFamily="34" charset="-122"/>
                <a:cs typeface="Calibri" pitchFamily="34" charset="-120"/>
              </a:rPr>
              <a:t>Project Report</a:t>
            </a:r>
            <a:endParaRPr lang="en-US" sz="4000" dirty="0">
              <a:solidFill>
                <a:srgbClr val="DCEAF8"/>
              </a:solidFill>
            </a:endParaRPr>
          </a:p>
        </p:txBody>
      </p:sp>
      <p:sp>
        <p:nvSpPr>
          <p:cNvPr id="8" name="Shape 6"/>
          <p:cNvSpPr/>
          <p:nvPr/>
        </p:nvSpPr>
        <p:spPr>
          <a:xfrm>
            <a:off x="457200" y="2331720"/>
            <a:ext cx="5029200" cy="45720"/>
          </a:xfrm>
          <a:prstGeom prst="rect">
            <a:avLst/>
          </a:prstGeom>
          <a:solidFill>
            <a:srgbClr val="AED6F1"/>
          </a:solidFill>
          <a:ln w="12700">
            <a:solidFill>
              <a:srgbClr val="AED6F1"/>
            </a:solidFill>
            <a:prstDash val="solid"/>
          </a:ln>
        </p:spPr>
        <p:txBody>
          <a:bodyPr/>
          <a:lstStyle/>
          <a:p>
            <a:endParaRPr lang="en-US"/>
          </a:p>
        </p:txBody>
      </p:sp>
      <p:sp>
        <p:nvSpPr>
          <p:cNvPr id="9" name="Text 7"/>
          <p:cNvSpPr/>
          <p:nvPr/>
        </p:nvSpPr>
        <p:spPr>
          <a:xfrm>
            <a:off x="457200" y="2514600"/>
            <a:ext cx="5669280" cy="457200"/>
          </a:xfrm>
          <a:prstGeom prst="rect">
            <a:avLst/>
          </a:prstGeom>
          <a:noFill/>
          <a:ln/>
        </p:spPr>
        <p:txBody>
          <a:bodyPr wrap="square" lIns="0" tIns="0" rIns="0" bIns="0" rtlCol="0" anchor="ctr"/>
          <a:lstStyle/>
          <a:p>
            <a:r>
              <a:rPr lang="en-US" sz="1600" i="1" dirty="0">
                <a:solidFill>
                  <a:srgbClr val="AED6F1"/>
                </a:solidFill>
                <a:latin typeface="Calibri" pitchFamily="34" charset="0"/>
                <a:ea typeface="Calibri" pitchFamily="34" charset="-122"/>
                <a:cs typeface="Calibri" pitchFamily="34" charset="-120"/>
              </a:rPr>
              <a:t>Smartphone Usage and User Behavior Analysis</a:t>
            </a:r>
          </a:p>
        </p:txBody>
      </p:sp>
      <p:sp>
        <p:nvSpPr>
          <p:cNvPr id="10" name="Text 8"/>
          <p:cNvSpPr/>
          <p:nvPr/>
        </p:nvSpPr>
        <p:spPr>
          <a:xfrm>
            <a:off x="457200" y="3063240"/>
            <a:ext cx="5669280" cy="365760"/>
          </a:xfrm>
          <a:prstGeom prst="rect">
            <a:avLst/>
          </a:prstGeom>
          <a:noFill/>
          <a:ln/>
        </p:spPr>
        <p:txBody>
          <a:bodyPr wrap="square" lIns="0" tIns="0" rIns="0" bIns="0" rtlCol="0" anchor="ctr"/>
          <a:lstStyle/>
          <a:p>
            <a:pPr marL="0" indent="0">
              <a:buNone/>
            </a:pPr>
            <a:r>
              <a:rPr lang="en-US" sz="1200" dirty="0">
                <a:solidFill>
                  <a:srgbClr val="ABB2B9"/>
                </a:solidFill>
                <a:latin typeface="Calibri" pitchFamily="34" charset="0"/>
                <a:ea typeface="Calibri" pitchFamily="34" charset="-122"/>
                <a:cs typeface="Calibri" pitchFamily="34" charset="-120"/>
              </a:rPr>
              <a:t>Hager , Sulaf , Basmala , Ahmed , Mohamed</a:t>
            </a:r>
            <a:endParaRPr lang="en-US" sz="1200" dirty="0"/>
          </a:p>
        </p:txBody>
      </p:sp>
      <p:sp>
        <p:nvSpPr>
          <p:cNvPr id="11" name="Shape 9"/>
          <p:cNvSpPr/>
          <p:nvPr/>
        </p:nvSpPr>
        <p:spPr>
          <a:xfrm>
            <a:off x="0" y="4773168"/>
            <a:ext cx="9144000" cy="370332"/>
          </a:xfrm>
          <a:prstGeom prst="rect">
            <a:avLst/>
          </a:prstGeom>
          <a:solidFill>
            <a:srgbClr val="81A6C6"/>
          </a:solidFill>
          <a:ln w="12700">
            <a:solidFill>
              <a:srgbClr val="81A6C6"/>
            </a:solidFill>
            <a:prstDash val="solid"/>
          </a:ln>
        </p:spPr>
        <p:txBody>
          <a:bodyPr/>
          <a:lstStyle/>
          <a:p>
            <a:endParaRPr lang="en-US" dirty="0"/>
          </a:p>
        </p:txBody>
      </p:sp>
      <p:sp>
        <p:nvSpPr>
          <p:cNvPr id="12" name="Text 10"/>
          <p:cNvSpPr/>
          <p:nvPr/>
        </p:nvSpPr>
        <p:spPr>
          <a:xfrm>
            <a:off x="457200" y="4773168"/>
            <a:ext cx="8229600" cy="370332"/>
          </a:xfrm>
          <a:prstGeom prst="rect">
            <a:avLst/>
          </a:prstGeom>
          <a:noFill/>
          <a:ln/>
        </p:spPr>
        <p:txBody>
          <a:bodyPr wrap="square" lIns="0" tIns="0" rIns="0" bIns="0" rtlCol="0" anchor="ctr"/>
          <a:lstStyle/>
          <a:p>
            <a:pPr marL="0" indent="0" algn="ctr">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81A6C6"/>
          </a:solidFill>
          <a:ln w="12700">
            <a:solidFill>
              <a:srgbClr val="81A6C6"/>
            </a:solidFill>
            <a:prstDash val="solid"/>
          </a:ln>
        </p:spPr>
        <p:txBody>
          <a:bodyPr/>
          <a:lstStyle/>
          <a:p>
            <a:endParaRPr lang="en-US"/>
          </a:p>
        </p:txBody>
      </p:sp>
      <p:sp>
        <p:nvSpPr>
          <p:cNvPr id="3" name="Text 1"/>
          <p:cNvSpPr/>
          <p:nvPr/>
        </p:nvSpPr>
        <p:spPr>
          <a:xfrm>
            <a:off x="182880" y="1371600"/>
            <a:ext cx="2560320" cy="16459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TABLE OF</a:t>
            </a:r>
            <a:endParaRPr lang="en-US" sz="2800" dirty="0"/>
          </a:p>
          <a:p>
            <a:pPr marL="0" indent="0" algn="ctr">
              <a:buNone/>
            </a:pPr>
            <a:r>
              <a:rPr lang="en-US" sz="2800" b="1" dirty="0">
                <a:solidFill>
                  <a:srgbClr val="FFFFFF"/>
                </a:solidFill>
                <a:latin typeface="Calibri" pitchFamily="34" charset="0"/>
                <a:ea typeface="Calibri" pitchFamily="34" charset="-122"/>
                <a:cs typeface="Calibri" pitchFamily="34" charset="-120"/>
              </a:rPr>
              <a:t>CONTENTS</a:t>
            </a:r>
            <a:endParaRPr lang="en-US" sz="2800" dirty="0"/>
          </a:p>
        </p:txBody>
      </p:sp>
      <p:sp>
        <p:nvSpPr>
          <p:cNvPr id="4" name="Shape 2"/>
          <p:cNvSpPr/>
          <p:nvPr/>
        </p:nvSpPr>
        <p:spPr>
          <a:xfrm>
            <a:off x="457200" y="3108960"/>
            <a:ext cx="2011680" cy="54864"/>
          </a:xfrm>
          <a:prstGeom prst="rect">
            <a:avLst/>
          </a:prstGeom>
          <a:solidFill>
            <a:srgbClr val="4A7BA4"/>
          </a:solidFill>
          <a:ln w="12700">
            <a:solidFill>
              <a:srgbClr val="4A7BA4"/>
            </a:solidFill>
            <a:prstDash val="solid"/>
          </a:ln>
        </p:spPr>
        <p:txBody>
          <a:bodyPr/>
          <a:lstStyle/>
          <a:p>
            <a:endParaRPr lang="en-US">
              <a:solidFill>
                <a:srgbClr val="4A7BA4"/>
              </a:solidFill>
            </a:endParaRPr>
          </a:p>
        </p:txBody>
      </p:sp>
      <p:sp>
        <p:nvSpPr>
          <p:cNvPr id="5" name="Text 3"/>
          <p:cNvSpPr/>
          <p:nvPr/>
        </p:nvSpPr>
        <p:spPr>
          <a:xfrm>
            <a:off x="182880" y="3291840"/>
            <a:ext cx="2560320" cy="365760"/>
          </a:xfrm>
          <a:prstGeom prst="rect">
            <a:avLst/>
          </a:prstGeom>
          <a:noFill/>
          <a:ln/>
        </p:spPr>
        <p:txBody>
          <a:bodyPr wrap="square" lIns="0" tIns="0" rIns="0" bIns="0" rtlCol="0" anchor="ctr"/>
          <a:lstStyle/>
          <a:p>
            <a:pPr marL="0" indent="0" algn="ctr">
              <a:buNone/>
            </a:pPr>
            <a:endParaRPr lang="en-US" sz="1100" dirty="0"/>
          </a:p>
        </p:txBody>
      </p:sp>
      <p:grpSp>
        <p:nvGrpSpPr>
          <p:cNvPr id="50" name="Group 49">
            <a:extLst>
              <a:ext uri="{FF2B5EF4-FFF2-40B4-BE49-F238E27FC236}">
                <a16:creationId xmlns:a16="http://schemas.microsoft.com/office/drawing/2014/main" id="{28A8FAE9-8F25-60AD-228F-A5ED5A8163A5}"/>
              </a:ext>
            </a:extLst>
          </p:cNvPr>
          <p:cNvGrpSpPr/>
          <p:nvPr/>
        </p:nvGrpSpPr>
        <p:grpSpPr>
          <a:xfrm>
            <a:off x="3063240" y="112880"/>
            <a:ext cx="5669280" cy="1147494"/>
            <a:chOff x="3108960" y="365760"/>
            <a:chExt cx="5669280" cy="475488"/>
          </a:xfrm>
          <a:solidFill>
            <a:srgbClr val="161B22"/>
          </a:solidFill>
        </p:grpSpPr>
        <p:sp>
          <p:nvSpPr>
            <p:cNvPr id="6" name="Shape 4"/>
            <p:cNvSpPr/>
            <p:nvPr/>
          </p:nvSpPr>
          <p:spPr>
            <a:xfrm>
              <a:off x="3108960" y="365760"/>
              <a:ext cx="5669280" cy="475488"/>
            </a:xfrm>
            <a:prstGeom prst="rect">
              <a:avLst/>
            </a:prstGeom>
            <a:grpFill/>
            <a:ln w="12700">
              <a:solidFill>
                <a:srgbClr val="D0DFF0"/>
              </a:solidFill>
              <a:prstDash val="solid"/>
            </a:ln>
          </p:spPr>
          <p:txBody>
            <a:bodyPr/>
            <a:lstStyle/>
            <a:p>
              <a:endParaRPr lang="en-US"/>
            </a:p>
          </p:txBody>
        </p:sp>
        <p:sp>
          <p:nvSpPr>
            <p:cNvPr id="7" name="Shape 5"/>
            <p:cNvSpPr/>
            <p:nvPr/>
          </p:nvSpPr>
          <p:spPr>
            <a:xfrm>
              <a:off x="3108960" y="365760"/>
              <a:ext cx="54864" cy="475488"/>
            </a:xfrm>
            <a:prstGeom prst="rect">
              <a:avLst/>
            </a:prstGeom>
            <a:solidFill>
              <a:srgbClr val="81A6C6"/>
            </a:solidFill>
            <a:ln w="12700">
              <a:solidFill>
                <a:srgbClr val="588AB4"/>
              </a:solidFill>
              <a:prstDash val="solid"/>
            </a:ln>
          </p:spPr>
          <p:txBody>
            <a:bodyPr/>
            <a:lstStyle/>
            <a:p>
              <a:endParaRPr lang="en-US" dirty="0"/>
            </a:p>
          </p:txBody>
        </p:sp>
        <p:sp>
          <p:nvSpPr>
            <p:cNvPr id="8" name="Text 6"/>
            <p:cNvSpPr/>
            <p:nvPr/>
          </p:nvSpPr>
          <p:spPr>
            <a:xfrm>
              <a:off x="3246120" y="365760"/>
              <a:ext cx="502920" cy="475488"/>
            </a:xfrm>
            <a:prstGeom prst="rect">
              <a:avLst/>
            </a:prstGeom>
            <a:grpFill/>
            <a:ln/>
          </p:spPr>
          <p:txBody>
            <a:bodyPr wrap="square" lIns="0" tIns="0" rIns="0" bIns="0" rtlCol="0" anchor="ctr"/>
            <a:lstStyle/>
            <a:p>
              <a:pPr marL="0" indent="0">
                <a:buNone/>
              </a:pPr>
              <a:r>
                <a:rPr lang="en-US" sz="1400" b="1" dirty="0">
                  <a:solidFill>
                    <a:srgbClr val="A9C2F5"/>
                  </a:solidFill>
                  <a:latin typeface="Calibri" pitchFamily="34" charset="0"/>
                  <a:ea typeface="Calibri" pitchFamily="34" charset="-122"/>
                  <a:cs typeface="Calibri" pitchFamily="34" charset="-120"/>
                </a:rPr>
                <a:t>01</a:t>
              </a:r>
              <a:endParaRPr lang="en-US" sz="1400" dirty="0">
                <a:solidFill>
                  <a:srgbClr val="A9C2F5"/>
                </a:solidFill>
              </a:endParaRPr>
            </a:p>
          </p:txBody>
        </p:sp>
        <p:sp>
          <p:nvSpPr>
            <p:cNvPr id="9" name="Text 7"/>
            <p:cNvSpPr/>
            <p:nvPr/>
          </p:nvSpPr>
          <p:spPr>
            <a:xfrm>
              <a:off x="3794760" y="365760"/>
              <a:ext cx="4389120" cy="475488"/>
            </a:xfrm>
            <a:prstGeom prst="rect">
              <a:avLst/>
            </a:prstGeom>
            <a:grpFill/>
            <a:ln/>
          </p:spPr>
          <p:txBody>
            <a:bodyPr wrap="square" lIns="0" tIns="0" rIns="0" bIns="0" rtlCol="0" anchor="ctr"/>
            <a:lstStyle/>
            <a:p>
              <a:pPr marL="0" indent="0">
                <a:buNone/>
              </a:pPr>
              <a:r>
                <a:rPr lang="en-US" sz="1300" dirty="0">
                  <a:solidFill>
                    <a:srgbClr val="A9C2F5"/>
                  </a:solidFill>
                  <a:latin typeface="Calibri" pitchFamily="34" charset="0"/>
                  <a:ea typeface="Calibri" pitchFamily="34" charset="-122"/>
                  <a:cs typeface="Calibri" pitchFamily="34" charset="-120"/>
                </a:rPr>
                <a:t>Executive Summary</a:t>
              </a:r>
              <a:endParaRPr lang="en-US" sz="1300" dirty="0">
                <a:solidFill>
                  <a:srgbClr val="A9C2F5"/>
                </a:solidFill>
              </a:endParaRPr>
            </a:p>
          </p:txBody>
        </p:sp>
        <p:sp>
          <p:nvSpPr>
            <p:cNvPr id="10" name="Text 8"/>
            <p:cNvSpPr/>
            <p:nvPr/>
          </p:nvSpPr>
          <p:spPr>
            <a:xfrm>
              <a:off x="8229600" y="365760"/>
              <a:ext cx="502920" cy="475488"/>
            </a:xfrm>
            <a:prstGeom prst="rect">
              <a:avLst/>
            </a:prstGeom>
            <a:grpFill/>
            <a:ln/>
          </p:spPr>
          <p:txBody>
            <a:bodyPr wrap="square" lIns="0" tIns="0" rIns="0" bIns="0" rtlCol="0" anchor="ctr"/>
            <a:lstStyle/>
            <a:p>
              <a:pPr marL="0" indent="0" algn="r">
                <a:buNone/>
              </a:pPr>
              <a:r>
                <a:rPr lang="en-US" sz="1200" dirty="0">
                  <a:solidFill>
                    <a:srgbClr val="5D6D7E"/>
                  </a:solidFill>
                  <a:latin typeface="Calibri" pitchFamily="34" charset="0"/>
                  <a:ea typeface="Calibri" pitchFamily="34" charset="-122"/>
                  <a:cs typeface="Calibri" pitchFamily="34" charset="-120"/>
                </a:rPr>
                <a:t>03</a:t>
              </a:r>
              <a:endParaRPr lang="en-US" sz="1200" dirty="0"/>
            </a:p>
          </p:txBody>
        </p:sp>
      </p:grpSp>
      <p:grpSp>
        <p:nvGrpSpPr>
          <p:cNvPr id="49" name="Group 48">
            <a:extLst>
              <a:ext uri="{FF2B5EF4-FFF2-40B4-BE49-F238E27FC236}">
                <a16:creationId xmlns:a16="http://schemas.microsoft.com/office/drawing/2014/main" id="{8247A467-573A-5ABF-4F8A-F0B73AC8E479}"/>
              </a:ext>
            </a:extLst>
          </p:cNvPr>
          <p:cNvGrpSpPr/>
          <p:nvPr/>
        </p:nvGrpSpPr>
        <p:grpSpPr>
          <a:xfrm>
            <a:off x="3063240" y="1310824"/>
            <a:ext cx="5669280" cy="1147494"/>
            <a:chOff x="3108960" y="923544"/>
            <a:chExt cx="5669280" cy="475488"/>
          </a:xfrm>
        </p:grpSpPr>
        <p:sp>
          <p:nvSpPr>
            <p:cNvPr id="11" name="Shape 9"/>
            <p:cNvSpPr/>
            <p:nvPr/>
          </p:nvSpPr>
          <p:spPr>
            <a:xfrm>
              <a:off x="3108960" y="923544"/>
              <a:ext cx="5669280" cy="475488"/>
            </a:xfrm>
            <a:prstGeom prst="rect">
              <a:avLst/>
            </a:prstGeom>
            <a:solidFill>
              <a:srgbClr val="161B22"/>
            </a:solidFill>
            <a:ln w="12700">
              <a:solidFill>
                <a:srgbClr val="D0DFF0"/>
              </a:solidFill>
              <a:prstDash val="solid"/>
            </a:ln>
          </p:spPr>
          <p:txBody>
            <a:bodyPr/>
            <a:lstStyle/>
            <a:p>
              <a:endParaRPr lang="en-US" dirty="0"/>
            </a:p>
          </p:txBody>
        </p:sp>
        <p:sp>
          <p:nvSpPr>
            <p:cNvPr id="12" name="Shape 10"/>
            <p:cNvSpPr/>
            <p:nvPr/>
          </p:nvSpPr>
          <p:spPr>
            <a:xfrm>
              <a:off x="3108960" y="923544"/>
              <a:ext cx="54864" cy="475488"/>
            </a:xfrm>
            <a:prstGeom prst="rect">
              <a:avLst/>
            </a:prstGeom>
            <a:solidFill>
              <a:srgbClr val="81A6C6"/>
            </a:solidFill>
            <a:ln w="12700">
              <a:solidFill>
                <a:srgbClr val="81A6C6"/>
              </a:solidFill>
              <a:prstDash val="solid"/>
            </a:ln>
          </p:spPr>
          <p:txBody>
            <a:bodyPr/>
            <a:lstStyle/>
            <a:p>
              <a:endParaRPr lang="en-US" dirty="0"/>
            </a:p>
          </p:txBody>
        </p:sp>
        <p:sp>
          <p:nvSpPr>
            <p:cNvPr id="13" name="Text 11"/>
            <p:cNvSpPr/>
            <p:nvPr/>
          </p:nvSpPr>
          <p:spPr>
            <a:xfrm>
              <a:off x="3246120" y="923544"/>
              <a:ext cx="502920" cy="475488"/>
            </a:xfrm>
            <a:prstGeom prst="rect">
              <a:avLst/>
            </a:prstGeom>
            <a:noFill/>
            <a:ln/>
          </p:spPr>
          <p:txBody>
            <a:bodyPr wrap="square" lIns="0" tIns="0" rIns="0" bIns="0" rtlCol="0" anchor="ctr"/>
            <a:lstStyle/>
            <a:p>
              <a:pPr marL="0" indent="0">
                <a:buNone/>
              </a:pPr>
              <a:r>
                <a:rPr lang="en-US" sz="1400" b="1" dirty="0">
                  <a:solidFill>
                    <a:srgbClr val="A9C2F5"/>
                  </a:solidFill>
                  <a:latin typeface="Calibri" pitchFamily="34" charset="0"/>
                  <a:ea typeface="Calibri" pitchFamily="34" charset="-122"/>
                  <a:cs typeface="Calibri" pitchFamily="34" charset="-120"/>
                </a:rPr>
                <a:t>02</a:t>
              </a:r>
              <a:endParaRPr lang="en-US" sz="1400" dirty="0">
                <a:solidFill>
                  <a:srgbClr val="A9C2F5"/>
                </a:solidFill>
              </a:endParaRPr>
            </a:p>
          </p:txBody>
        </p:sp>
        <p:sp>
          <p:nvSpPr>
            <p:cNvPr id="14" name="Text 12"/>
            <p:cNvSpPr/>
            <p:nvPr/>
          </p:nvSpPr>
          <p:spPr>
            <a:xfrm>
              <a:off x="3794760" y="923544"/>
              <a:ext cx="4389120" cy="475488"/>
            </a:xfrm>
            <a:prstGeom prst="rect">
              <a:avLst/>
            </a:prstGeom>
            <a:noFill/>
            <a:ln/>
          </p:spPr>
          <p:txBody>
            <a:bodyPr wrap="square" lIns="0" tIns="0" rIns="0" bIns="0" rtlCol="0" anchor="ctr"/>
            <a:lstStyle/>
            <a:p>
              <a:pPr marL="0" indent="0">
                <a:buNone/>
              </a:pPr>
              <a:r>
                <a:rPr lang="en-US" sz="1300" dirty="0">
                  <a:solidFill>
                    <a:srgbClr val="A9C2F5"/>
                  </a:solidFill>
                  <a:latin typeface="Calibri" pitchFamily="34" charset="0"/>
                  <a:ea typeface="Calibri" pitchFamily="34" charset="-122"/>
                  <a:cs typeface="Calibri" pitchFamily="34" charset="-120"/>
                </a:rPr>
                <a:t>Data Cleaning &amp; Processing</a:t>
              </a:r>
              <a:endParaRPr lang="en-US" sz="1300" dirty="0">
                <a:solidFill>
                  <a:srgbClr val="A9C2F5"/>
                </a:solidFill>
              </a:endParaRPr>
            </a:p>
          </p:txBody>
        </p:sp>
        <p:sp>
          <p:nvSpPr>
            <p:cNvPr id="15" name="Text 13"/>
            <p:cNvSpPr/>
            <p:nvPr/>
          </p:nvSpPr>
          <p:spPr>
            <a:xfrm>
              <a:off x="8229600" y="923544"/>
              <a:ext cx="502920" cy="475488"/>
            </a:xfrm>
            <a:prstGeom prst="rect">
              <a:avLst/>
            </a:prstGeom>
            <a:noFill/>
            <a:ln/>
          </p:spPr>
          <p:txBody>
            <a:bodyPr wrap="square" lIns="0" tIns="0" rIns="0" bIns="0" rtlCol="0" anchor="ctr"/>
            <a:lstStyle/>
            <a:p>
              <a:pPr marL="0" indent="0" algn="r">
                <a:buNone/>
              </a:pPr>
              <a:r>
                <a:rPr lang="en-US" sz="1200" dirty="0">
                  <a:solidFill>
                    <a:srgbClr val="5D6D7E"/>
                  </a:solidFill>
                  <a:latin typeface="Calibri" pitchFamily="34" charset="0"/>
                  <a:ea typeface="Calibri" pitchFamily="34" charset="-122"/>
                  <a:cs typeface="Calibri" pitchFamily="34" charset="-120"/>
                </a:rPr>
                <a:t>06</a:t>
              </a:r>
              <a:endParaRPr lang="en-US" sz="1200" dirty="0"/>
            </a:p>
          </p:txBody>
        </p:sp>
      </p:grpSp>
      <p:grpSp>
        <p:nvGrpSpPr>
          <p:cNvPr id="46" name="Group 45">
            <a:extLst>
              <a:ext uri="{FF2B5EF4-FFF2-40B4-BE49-F238E27FC236}">
                <a16:creationId xmlns:a16="http://schemas.microsoft.com/office/drawing/2014/main" id="{F4717B63-B53B-2E28-3CB8-A8C31D46FD5D}"/>
              </a:ext>
            </a:extLst>
          </p:cNvPr>
          <p:cNvGrpSpPr/>
          <p:nvPr/>
        </p:nvGrpSpPr>
        <p:grpSpPr>
          <a:xfrm>
            <a:off x="3057564" y="2515546"/>
            <a:ext cx="5669280" cy="1142054"/>
            <a:chOff x="3108960" y="1481328"/>
            <a:chExt cx="5669280" cy="475488"/>
          </a:xfrm>
          <a:solidFill>
            <a:srgbClr val="161B22"/>
          </a:solidFill>
        </p:grpSpPr>
        <p:sp>
          <p:nvSpPr>
            <p:cNvPr id="16" name="Shape 14"/>
            <p:cNvSpPr/>
            <p:nvPr/>
          </p:nvSpPr>
          <p:spPr>
            <a:xfrm>
              <a:off x="3108960" y="1481328"/>
              <a:ext cx="5669280" cy="475488"/>
            </a:xfrm>
            <a:prstGeom prst="rect">
              <a:avLst/>
            </a:prstGeom>
            <a:grpFill/>
            <a:ln w="12700">
              <a:solidFill>
                <a:srgbClr val="D0DFF0"/>
              </a:solidFill>
              <a:prstDash val="solid"/>
            </a:ln>
          </p:spPr>
          <p:txBody>
            <a:bodyPr/>
            <a:lstStyle/>
            <a:p>
              <a:endParaRPr lang="en-US"/>
            </a:p>
          </p:txBody>
        </p:sp>
        <p:sp>
          <p:nvSpPr>
            <p:cNvPr id="17" name="Shape 15"/>
            <p:cNvSpPr/>
            <p:nvPr/>
          </p:nvSpPr>
          <p:spPr>
            <a:xfrm>
              <a:off x="3108960" y="1481328"/>
              <a:ext cx="54864" cy="475488"/>
            </a:xfrm>
            <a:prstGeom prst="rect">
              <a:avLst/>
            </a:prstGeom>
            <a:solidFill>
              <a:srgbClr val="81A6C6"/>
            </a:solidFill>
            <a:ln w="12700">
              <a:solidFill>
                <a:srgbClr val="81A6C6"/>
              </a:solidFill>
              <a:prstDash val="solid"/>
            </a:ln>
          </p:spPr>
          <p:txBody>
            <a:bodyPr/>
            <a:lstStyle/>
            <a:p>
              <a:endParaRPr lang="en-US" dirty="0"/>
            </a:p>
          </p:txBody>
        </p:sp>
        <p:sp>
          <p:nvSpPr>
            <p:cNvPr id="18" name="Text 16"/>
            <p:cNvSpPr/>
            <p:nvPr/>
          </p:nvSpPr>
          <p:spPr>
            <a:xfrm>
              <a:off x="3246120" y="1481328"/>
              <a:ext cx="502920" cy="475488"/>
            </a:xfrm>
            <a:prstGeom prst="rect">
              <a:avLst/>
            </a:prstGeom>
            <a:grpFill/>
            <a:ln/>
          </p:spPr>
          <p:txBody>
            <a:bodyPr wrap="square" lIns="0" tIns="0" rIns="0" bIns="0" rtlCol="0" anchor="ctr"/>
            <a:lstStyle/>
            <a:p>
              <a:pPr marL="0" indent="0">
                <a:buNone/>
              </a:pPr>
              <a:r>
                <a:rPr lang="en-US" sz="1400" b="1" dirty="0">
                  <a:solidFill>
                    <a:srgbClr val="A9C2F5"/>
                  </a:solidFill>
                  <a:latin typeface="Calibri" pitchFamily="34" charset="0"/>
                  <a:ea typeface="Calibri" pitchFamily="34" charset="-122"/>
                  <a:cs typeface="Calibri" pitchFamily="34" charset="-120"/>
                </a:rPr>
                <a:t>03</a:t>
              </a:r>
              <a:endParaRPr lang="en-US" sz="1400" dirty="0">
                <a:solidFill>
                  <a:srgbClr val="A9C2F5"/>
                </a:solidFill>
              </a:endParaRPr>
            </a:p>
          </p:txBody>
        </p:sp>
        <p:sp>
          <p:nvSpPr>
            <p:cNvPr id="19" name="Text 17"/>
            <p:cNvSpPr/>
            <p:nvPr/>
          </p:nvSpPr>
          <p:spPr>
            <a:xfrm>
              <a:off x="3794760" y="1481328"/>
              <a:ext cx="4389120" cy="475488"/>
            </a:xfrm>
            <a:prstGeom prst="rect">
              <a:avLst/>
            </a:prstGeom>
            <a:grpFill/>
            <a:ln/>
          </p:spPr>
          <p:txBody>
            <a:bodyPr wrap="square" lIns="0" tIns="0" rIns="0" bIns="0" rtlCol="0" anchor="ctr"/>
            <a:lstStyle/>
            <a:p>
              <a:pPr marL="0" indent="0">
                <a:buNone/>
              </a:pPr>
              <a:r>
                <a:rPr lang="en-US" sz="1300" dirty="0">
                  <a:solidFill>
                    <a:srgbClr val="A9C2F5"/>
                  </a:solidFill>
                  <a:latin typeface="Calibri" pitchFamily="34" charset="0"/>
                  <a:ea typeface="Calibri" pitchFamily="34" charset="-122"/>
                  <a:cs typeface="Calibri" pitchFamily="34" charset="-120"/>
                </a:rPr>
                <a:t>Dashboard &amp; Insights</a:t>
              </a:r>
              <a:endParaRPr lang="en-US" sz="1300" dirty="0">
                <a:solidFill>
                  <a:srgbClr val="A9C2F5"/>
                </a:solidFill>
              </a:endParaRPr>
            </a:p>
          </p:txBody>
        </p:sp>
        <p:sp>
          <p:nvSpPr>
            <p:cNvPr id="20" name="Text 18"/>
            <p:cNvSpPr/>
            <p:nvPr/>
          </p:nvSpPr>
          <p:spPr>
            <a:xfrm>
              <a:off x="8229600" y="1481328"/>
              <a:ext cx="502920" cy="475488"/>
            </a:xfrm>
            <a:prstGeom prst="rect">
              <a:avLst/>
            </a:prstGeom>
            <a:grpFill/>
            <a:ln/>
          </p:spPr>
          <p:txBody>
            <a:bodyPr wrap="square" lIns="0" tIns="0" rIns="0" bIns="0" rtlCol="0" anchor="ctr"/>
            <a:lstStyle/>
            <a:p>
              <a:pPr marL="0" indent="0" algn="r">
                <a:buNone/>
              </a:pPr>
              <a:r>
                <a:rPr lang="en-US" sz="1200" dirty="0">
                  <a:solidFill>
                    <a:srgbClr val="5D6D7E"/>
                  </a:solidFill>
                  <a:latin typeface="Calibri" pitchFamily="34" charset="0"/>
                  <a:ea typeface="Calibri" pitchFamily="34" charset="-122"/>
                  <a:cs typeface="Calibri" pitchFamily="34" charset="-120"/>
                </a:rPr>
                <a:t>10</a:t>
              </a:r>
              <a:endParaRPr lang="en-US" sz="1200" dirty="0"/>
            </a:p>
          </p:txBody>
        </p:sp>
      </p:grpSp>
      <p:grpSp>
        <p:nvGrpSpPr>
          <p:cNvPr id="48" name="Group 47">
            <a:extLst>
              <a:ext uri="{FF2B5EF4-FFF2-40B4-BE49-F238E27FC236}">
                <a16:creationId xmlns:a16="http://schemas.microsoft.com/office/drawing/2014/main" id="{51C16A32-B233-9704-1253-E07A8E3099BF}"/>
              </a:ext>
            </a:extLst>
          </p:cNvPr>
          <p:cNvGrpSpPr/>
          <p:nvPr/>
        </p:nvGrpSpPr>
        <p:grpSpPr>
          <a:xfrm>
            <a:off x="3063240" y="3713490"/>
            <a:ext cx="5669280" cy="1142054"/>
            <a:chOff x="3108960" y="2039112"/>
            <a:chExt cx="5669280" cy="760844"/>
          </a:xfrm>
        </p:grpSpPr>
        <p:sp>
          <p:nvSpPr>
            <p:cNvPr id="21" name="Shape 19"/>
            <p:cNvSpPr/>
            <p:nvPr/>
          </p:nvSpPr>
          <p:spPr>
            <a:xfrm>
              <a:off x="3108960" y="2039112"/>
              <a:ext cx="5669280" cy="760844"/>
            </a:xfrm>
            <a:prstGeom prst="rect">
              <a:avLst/>
            </a:prstGeom>
            <a:solidFill>
              <a:srgbClr val="161B22"/>
            </a:solidFill>
            <a:ln w="12700">
              <a:solidFill>
                <a:srgbClr val="D0DFF0"/>
              </a:solidFill>
              <a:prstDash val="solid"/>
            </a:ln>
          </p:spPr>
          <p:txBody>
            <a:bodyPr/>
            <a:lstStyle/>
            <a:p>
              <a:endParaRPr lang="en-US" dirty="0"/>
            </a:p>
          </p:txBody>
        </p:sp>
        <p:sp>
          <p:nvSpPr>
            <p:cNvPr id="22" name="Shape 20"/>
            <p:cNvSpPr/>
            <p:nvPr/>
          </p:nvSpPr>
          <p:spPr>
            <a:xfrm>
              <a:off x="3108960" y="2039112"/>
              <a:ext cx="54864" cy="760844"/>
            </a:xfrm>
            <a:prstGeom prst="rect">
              <a:avLst/>
            </a:prstGeom>
            <a:solidFill>
              <a:srgbClr val="81A6C6"/>
            </a:solidFill>
            <a:ln w="12700">
              <a:solidFill>
                <a:srgbClr val="81A6C6"/>
              </a:solidFill>
              <a:prstDash val="solid"/>
            </a:ln>
          </p:spPr>
          <p:txBody>
            <a:bodyPr/>
            <a:lstStyle/>
            <a:p>
              <a:endParaRPr lang="en-US" dirty="0"/>
            </a:p>
          </p:txBody>
        </p:sp>
        <p:sp>
          <p:nvSpPr>
            <p:cNvPr id="23" name="Text 21"/>
            <p:cNvSpPr/>
            <p:nvPr/>
          </p:nvSpPr>
          <p:spPr>
            <a:xfrm>
              <a:off x="3246120" y="2039112"/>
              <a:ext cx="502920" cy="760844"/>
            </a:xfrm>
            <a:prstGeom prst="rect">
              <a:avLst/>
            </a:prstGeom>
            <a:noFill/>
            <a:ln/>
          </p:spPr>
          <p:txBody>
            <a:bodyPr wrap="square" lIns="0" tIns="0" rIns="0" bIns="0" rtlCol="0" anchor="ctr"/>
            <a:lstStyle/>
            <a:p>
              <a:pPr marL="0" indent="0">
                <a:buNone/>
              </a:pPr>
              <a:r>
                <a:rPr lang="en-US" sz="1400" b="1" dirty="0">
                  <a:solidFill>
                    <a:srgbClr val="A9C2F5"/>
                  </a:solidFill>
                  <a:latin typeface="Calibri" pitchFamily="34" charset="0"/>
                  <a:ea typeface="Calibri" pitchFamily="34" charset="-122"/>
                  <a:cs typeface="Calibri" pitchFamily="34" charset="-120"/>
                </a:rPr>
                <a:t>04</a:t>
              </a:r>
              <a:endParaRPr lang="en-US" sz="1400" dirty="0">
                <a:solidFill>
                  <a:srgbClr val="A9C2F5"/>
                </a:solidFill>
              </a:endParaRPr>
            </a:p>
          </p:txBody>
        </p:sp>
        <p:sp>
          <p:nvSpPr>
            <p:cNvPr id="24" name="Text 22"/>
            <p:cNvSpPr/>
            <p:nvPr/>
          </p:nvSpPr>
          <p:spPr>
            <a:xfrm>
              <a:off x="3794760" y="2039112"/>
              <a:ext cx="4389120" cy="760844"/>
            </a:xfrm>
            <a:prstGeom prst="rect">
              <a:avLst/>
            </a:prstGeom>
            <a:noFill/>
            <a:ln/>
          </p:spPr>
          <p:txBody>
            <a:bodyPr wrap="square" lIns="0" tIns="0" rIns="0" bIns="0" rtlCol="0" anchor="ctr"/>
            <a:lstStyle/>
            <a:p>
              <a:pPr marL="0" indent="0">
                <a:buNone/>
              </a:pPr>
              <a:r>
                <a:rPr lang="en-US" sz="1300" dirty="0">
                  <a:solidFill>
                    <a:srgbClr val="A9C2F5"/>
                  </a:solidFill>
                  <a:latin typeface="Calibri" pitchFamily="34" charset="0"/>
                  <a:ea typeface="Calibri" pitchFamily="34" charset="-122"/>
                  <a:cs typeface="Calibri" pitchFamily="34" charset="-120"/>
                </a:rPr>
                <a:t>Recommendations</a:t>
              </a:r>
              <a:endParaRPr lang="en-US" sz="1300" dirty="0">
                <a:solidFill>
                  <a:srgbClr val="A9C2F5"/>
                </a:solidFill>
              </a:endParaRPr>
            </a:p>
          </p:txBody>
        </p:sp>
        <p:sp>
          <p:nvSpPr>
            <p:cNvPr id="25" name="Text 23"/>
            <p:cNvSpPr/>
            <p:nvPr/>
          </p:nvSpPr>
          <p:spPr>
            <a:xfrm>
              <a:off x="8229600" y="2039112"/>
              <a:ext cx="502920" cy="760844"/>
            </a:xfrm>
            <a:prstGeom prst="rect">
              <a:avLst/>
            </a:prstGeom>
            <a:noFill/>
            <a:ln/>
          </p:spPr>
          <p:txBody>
            <a:bodyPr wrap="square" lIns="0" tIns="0" rIns="0" bIns="0" rtlCol="0" anchor="ctr"/>
            <a:lstStyle/>
            <a:p>
              <a:pPr marL="0" indent="0" algn="r">
                <a:buNone/>
              </a:pPr>
              <a:r>
                <a:rPr lang="en-US" sz="1200" dirty="0">
                  <a:solidFill>
                    <a:srgbClr val="5D6D7E"/>
                  </a:solidFill>
                  <a:latin typeface="Calibri" pitchFamily="34" charset="0"/>
                  <a:ea typeface="Calibri" pitchFamily="34" charset="-122"/>
                  <a:cs typeface="Calibri" pitchFamily="34" charset="-120"/>
                </a:rPr>
                <a:t>16</a:t>
              </a:r>
              <a:endParaRPr lang="en-US" sz="1200" dirty="0"/>
            </a:p>
          </p:txBody>
        </p:sp>
      </p:grpSp>
      <p:sp>
        <p:nvSpPr>
          <p:cNvPr id="28" name="Text 26"/>
          <p:cNvSpPr/>
          <p:nvPr/>
        </p:nvSpPr>
        <p:spPr>
          <a:xfrm>
            <a:off x="3246120" y="2596896"/>
            <a:ext cx="502920" cy="475488"/>
          </a:xfrm>
          <a:prstGeom prst="rect">
            <a:avLst/>
          </a:prstGeom>
          <a:noFill/>
          <a:ln/>
        </p:spPr>
        <p:txBody>
          <a:bodyPr wrap="square" lIns="0" tIns="0" rIns="0" bIns="0" rtlCol="0" anchor="ctr"/>
          <a:lstStyle/>
          <a:p>
            <a:pPr marL="0" indent="0">
              <a:buNone/>
            </a:pPr>
            <a:endParaRPr lang="en-US" sz="1400" dirty="0"/>
          </a:p>
        </p:txBody>
      </p:sp>
      <p:sp>
        <p:nvSpPr>
          <p:cNvPr id="29" name="Text 27"/>
          <p:cNvSpPr/>
          <p:nvPr/>
        </p:nvSpPr>
        <p:spPr>
          <a:xfrm>
            <a:off x="3794760" y="2596896"/>
            <a:ext cx="4389120" cy="475488"/>
          </a:xfrm>
          <a:prstGeom prst="rect">
            <a:avLst/>
          </a:prstGeom>
          <a:noFill/>
          <a:ln/>
        </p:spPr>
        <p:txBody>
          <a:bodyPr wrap="square" lIns="0" tIns="0" rIns="0" bIns="0" rtlCol="0" anchor="ctr"/>
          <a:lstStyle/>
          <a:p>
            <a:pPr marL="0" indent="0">
              <a:buNone/>
            </a:pPr>
            <a:endParaRPr lang="en-US" sz="1300" dirty="0"/>
          </a:p>
        </p:txBody>
      </p:sp>
      <p:sp>
        <p:nvSpPr>
          <p:cNvPr id="30" name="Text 28"/>
          <p:cNvSpPr/>
          <p:nvPr/>
        </p:nvSpPr>
        <p:spPr>
          <a:xfrm>
            <a:off x="8229600" y="2596896"/>
            <a:ext cx="502920" cy="475488"/>
          </a:xfrm>
          <a:prstGeom prst="rect">
            <a:avLst/>
          </a:prstGeom>
          <a:noFill/>
          <a:ln/>
        </p:spPr>
        <p:txBody>
          <a:bodyPr wrap="square" lIns="0" tIns="0" rIns="0" bIns="0" rtlCol="0" anchor="ctr"/>
          <a:lstStyle/>
          <a:p>
            <a:pPr marL="0" indent="0" algn="r">
              <a:buNone/>
            </a:pP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81A6C6"/>
          </a:solidFill>
          <a:ln w="12700">
            <a:solidFill>
              <a:srgbClr val="161B22"/>
            </a:solidFill>
            <a:prstDash val="solid"/>
          </a:ln>
        </p:spPr>
        <p:txBody>
          <a:bodyPr/>
          <a:lstStyle/>
          <a:p>
            <a:endParaRPr lang="en-US" dirty="0"/>
          </a:p>
        </p:txBody>
      </p:sp>
      <p:sp>
        <p:nvSpPr>
          <p:cNvPr id="3" name="Text 1"/>
          <p:cNvSpPr/>
          <p:nvPr/>
        </p:nvSpPr>
        <p:spPr>
          <a:xfrm>
            <a:off x="0" y="1097280"/>
            <a:ext cx="3200400" cy="1828800"/>
          </a:xfrm>
          <a:prstGeom prst="rect">
            <a:avLst/>
          </a:prstGeom>
          <a:noFill/>
          <a:ln/>
        </p:spPr>
        <p:txBody>
          <a:bodyPr wrap="square" lIns="0" tIns="0" rIns="0" bIns="0" rtlCol="0" anchor="ctr"/>
          <a:lstStyle/>
          <a:p>
            <a:pPr marL="0" indent="0" algn="ctr">
              <a:buNone/>
            </a:pPr>
            <a:r>
              <a:rPr lang="en-US" sz="12000" b="1" dirty="0">
                <a:solidFill>
                  <a:srgbClr val="FFFFFF"/>
                </a:solidFill>
                <a:latin typeface="Calibri" pitchFamily="34" charset="0"/>
                <a:ea typeface="Calibri" pitchFamily="34" charset="-122"/>
                <a:cs typeface="Calibri" pitchFamily="34" charset="-120"/>
              </a:rPr>
              <a:t>01</a:t>
            </a:r>
            <a:endParaRPr lang="en-US" sz="12000" dirty="0"/>
          </a:p>
        </p:txBody>
      </p:sp>
      <p:sp>
        <p:nvSpPr>
          <p:cNvPr id="4" name="Text 2"/>
          <p:cNvSpPr/>
          <p:nvPr/>
        </p:nvSpPr>
        <p:spPr>
          <a:xfrm>
            <a:off x="3566160" y="1645920"/>
            <a:ext cx="5212080" cy="77724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Executive Summary</a:t>
            </a:r>
            <a:endParaRPr lang="en-US" sz="3400" dirty="0"/>
          </a:p>
        </p:txBody>
      </p:sp>
      <p:sp>
        <p:nvSpPr>
          <p:cNvPr id="5" name="Text 3"/>
          <p:cNvSpPr/>
          <p:nvPr/>
        </p:nvSpPr>
        <p:spPr>
          <a:xfrm>
            <a:off x="3566160" y="2514600"/>
            <a:ext cx="5212080" cy="548640"/>
          </a:xfrm>
          <a:prstGeom prst="rect">
            <a:avLst/>
          </a:prstGeom>
          <a:noFill/>
          <a:ln/>
        </p:spPr>
        <p:txBody>
          <a:bodyPr wrap="square" lIns="0" tIns="0" rIns="0" bIns="0" rtlCol="0" anchor="ctr"/>
          <a:lstStyle/>
          <a:p>
            <a:pPr marL="0" indent="0">
              <a:buNone/>
            </a:pPr>
            <a:r>
              <a:rPr lang="en-US" sz="1500" dirty="0">
                <a:solidFill>
                  <a:srgbClr val="AED6F1"/>
                </a:solidFill>
                <a:latin typeface="Calibri" pitchFamily="34" charset="0"/>
                <a:ea typeface="Calibri" pitchFamily="34" charset="-122"/>
                <a:cs typeface="Calibri" pitchFamily="34" charset="-120"/>
              </a:rPr>
              <a:t>High-level overview of findings and outcomes</a:t>
            </a:r>
            <a:endParaRPr lang="en-US" sz="1500" dirty="0"/>
          </a:p>
        </p:txBody>
      </p:sp>
      <p:sp>
        <p:nvSpPr>
          <p:cNvPr id="6" name="Shape 4"/>
          <p:cNvSpPr/>
          <p:nvPr/>
        </p:nvSpPr>
        <p:spPr>
          <a:xfrm>
            <a:off x="3566160" y="2450592"/>
            <a:ext cx="5029200" cy="45720"/>
          </a:xfrm>
          <a:prstGeom prst="rect">
            <a:avLst/>
          </a:prstGeom>
          <a:solidFill>
            <a:srgbClr val="81A6C6"/>
          </a:solidFill>
          <a:ln w="12700">
            <a:solidFill>
              <a:srgbClr val="81A6C6"/>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Shape 2"/>
          <p:cNvSpPr/>
          <p:nvPr/>
        </p:nvSpPr>
        <p:spPr>
          <a:xfrm>
            <a:off x="594360" y="948240"/>
            <a:ext cx="1874520" cy="1234440"/>
          </a:xfrm>
          <a:prstGeom prst="rect">
            <a:avLst/>
          </a:prstGeom>
          <a:solidFill>
            <a:srgbClr val="161B22"/>
          </a:solidFill>
          <a:ln w="12700">
            <a:solidFill>
              <a:srgbClr val="D0DFF0"/>
            </a:solidFill>
            <a:prstDash val="solid"/>
          </a:ln>
          <a:effectLst>
            <a:outerShdw blurRad="63500" dist="25400" dir="8100000" algn="bl" rotWithShape="0">
              <a:srgbClr val="000000">
                <a:alpha val="8000"/>
              </a:srgbClr>
            </a:outerShdw>
          </a:effectLst>
        </p:spPr>
        <p:txBody>
          <a:bodyPr/>
          <a:lstStyle/>
          <a:p>
            <a:endParaRPr lang="en-US" dirty="0"/>
          </a:p>
        </p:txBody>
      </p:sp>
      <p:sp>
        <p:nvSpPr>
          <p:cNvPr id="5" name="Shape 3"/>
          <p:cNvSpPr/>
          <p:nvPr/>
        </p:nvSpPr>
        <p:spPr>
          <a:xfrm>
            <a:off x="594360" y="948240"/>
            <a:ext cx="1874520" cy="64008"/>
          </a:xfrm>
          <a:prstGeom prst="rect">
            <a:avLst/>
          </a:prstGeom>
          <a:solidFill>
            <a:srgbClr val="81A6C6"/>
          </a:solidFill>
          <a:ln w="12700">
            <a:solidFill>
              <a:srgbClr val="81A6C6"/>
            </a:solidFill>
            <a:prstDash val="solid"/>
          </a:ln>
        </p:spPr>
        <p:txBody>
          <a:bodyPr/>
          <a:lstStyle/>
          <a:p>
            <a:endParaRPr lang="en-US" dirty="0"/>
          </a:p>
        </p:txBody>
      </p:sp>
      <p:sp>
        <p:nvSpPr>
          <p:cNvPr id="6" name="Text 4"/>
          <p:cNvSpPr/>
          <p:nvPr/>
        </p:nvSpPr>
        <p:spPr>
          <a:xfrm>
            <a:off x="594360" y="1085400"/>
            <a:ext cx="1874520" cy="640080"/>
          </a:xfrm>
          <a:prstGeom prst="rect">
            <a:avLst/>
          </a:prstGeom>
          <a:noFill/>
          <a:ln/>
        </p:spPr>
        <p:txBody>
          <a:bodyPr wrap="square" lIns="0" tIns="0" rIns="0" bIns="0" rtlCol="0" anchor="ctr"/>
          <a:lstStyle/>
          <a:p>
            <a:pPr marL="0" indent="0" algn="ctr">
              <a:buNone/>
            </a:pPr>
            <a:r>
              <a:rPr lang="ar-EG" sz="3000" b="1" dirty="0">
                <a:solidFill>
                  <a:srgbClr val="81A6C6"/>
                </a:solidFill>
                <a:latin typeface="Calibri" pitchFamily="34" charset="0"/>
                <a:ea typeface="Calibri" pitchFamily="34" charset="-122"/>
                <a:cs typeface="Calibri" pitchFamily="34" charset="-120"/>
              </a:rPr>
              <a:t>700</a:t>
            </a:r>
            <a:endParaRPr lang="en-US" sz="3000" dirty="0">
              <a:solidFill>
                <a:srgbClr val="81A6C6"/>
              </a:solidFill>
            </a:endParaRPr>
          </a:p>
        </p:txBody>
      </p:sp>
      <p:sp>
        <p:nvSpPr>
          <p:cNvPr id="7" name="Text 5"/>
          <p:cNvSpPr/>
          <p:nvPr/>
        </p:nvSpPr>
        <p:spPr>
          <a:xfrm>
            <a:off x="594360" y="1743768"/>
            <a:ext cx="1874520" cy="320040"/>
          </a:xfrm>
          <a:prstGeom prst="rect">
            <a:avLst/>
          </a:prstGeom>
          <a:noFill/>
          <a:ln/>
        </p:spPr>
        <p:txBody>
          <a:bodyPr wrap="square" lIns="0" tIns="0" rIns="0" bIns="0" rtlCol="0" anchor="ctr"/>
          <a:lstStyle/>
          <a:p>
            <a:pPr marL="0" indent="0" algn="ctr">
              <a:buNone/>
            </a:pPr>
            <a:r>
              <a:rPr lang="en-US" sz="1050" dirty="0">
                <a:solidFill>
                  <a:srgbClr val="5D6D7E"/>
                </a:solidFill>
                <a:latin typeface="Calibri" pitchFamily="34" charset="0"/>
                <a:ea typeface="Calibri" pitchFamily="34" charset="-122"/>
                <a:cs typeface="Calibri" pitchFamily="34" charset="-120"/>
              </a:rPr>
              <a:t>Total Records</a:t>
            </a:r>
            <a:endParaRPr lang="en-US" sz="1050" dirty="0"/>
          </a:p>
        </p:txBody>
      </p:sp>
      <p:grpSp>
        <p:nvGrpSpPr>
          <p:cNvPr id="30" name="Group 29">
            <a:extLst>
              <a:ext uri="{FF2B5EF4-FFF2-40B4-BE49-F238E27FC236}">
                <a16:creationId xmlns:a16="http://schemas.microsoft.com/office/drawing/2014/main" id="{277DC275-3CB8-9426-DB04-3D5AA00BED96}"/>
              </a:ext>
            </a:extLst>
          </p:cNvPr>
          <p:cNvGrpSpPr/>
          <p:nvPr/>
        </p:nvGrpSpPr>
        <p:grpSpPr>
          <a:xfrm>
            <a:off x="3520440" y="948240"/>
            <a:ext cx="1874520" cy="1234440"/>
            <a:chOff x="2606040" y="948240"/>
            <a:chExt cx="1874520" cy="1234440"/>
          </a:xfrm>
        </p:grpSpPr>
        <p:sp>
          <p:nvSpPr>
            <p:cNvPr id="8" name="Shape 6"/>
            <p:cNvSpPr/>
            <p:nvPr/>
          </p:nvSpPr>
          <p:spPr>
            <a:xfrm>
              <a:off x="2606040" y="948240"/>
              <a:ext cx="1874520" cy="1234440"/>
            </a:xfrm>
            <a:prstGeom prst="rect">
              <a:avLst/>
            </a:prstGeom>
            <a:solidFill>
              <a:srgbClr val="161B22"/>
            </a:solidFill>
            <a:ln w="12700">
              <a:solidFill>
                <a:srgbClr val="D0DFF0"/>
              </a:solidFill>
              <a:prstDash val="solid"/>
            </a:ln>
            <a:effectLst>
              <a:outerShdw blurRad="63500" dist="25400" dir="8100000" algn="bl" rotWithShape="0">
                <a:srgbClr val="000000">
                  <a:alpha val="8000"/>
                </a:srgbClr>
              </a:outerShdw>
            </a:effectLst>
          </p:spPr>
          <p:txBody>
            <a:bodyPr/>
            <a:lstStyle/>
            <a:p>
              <a:endParaRPr lang="en-US" dirty="0"/>
            </a:p>
          </p:txBody>
        </p:sp>
        <p:sp>
          <p:nvSpPr>
            <p:cNvPr id="9" name="Shape 7"/>
            <p:cNvSpPr/>
            <p:nvPr/>
          </p:nvSpPr>
          <p:spPr>
            <a:xfrm>
              <a:off x="2606040" y="948240"/>
              <a:ext cx="1874520" cy="64008"/>
            </a:xfrm>
            <a:prstGeom prst="rect">
              <a:avLst/>
            </a:prstGeom>
            <a:solidFill>
              <a:srgbClr val="81A6C6"/>
            </a:solidFill>
            <a:ln w="12700">
              <a:solidFill>
                <a:srgbClr val="81A6C6"/>
              </a:solidFill>
              <a:prstDash val="solid"/>
            </a:ln>
          </p:spPr>
          <p:txBody>
            <a:bodyPr/>
            <a:lstStyle/>
            <a:p>
              <a:endParaRPr lang="en-US"/>
            </a:p>
          </p:txBody>
        </p:sp>
        <p:sp>
          <p:nvSpPr>
            <p:cNvPr id="10" name="Text 8"/>
            <p:cNvSpPr/>
            <p:nvPr/>
          </p:nvSpPr>
          <p:spPr>
            <a:xfrm>
              <a:off x="2606040" y="1085400"/>
              <a:ext cx="1874520" cy="640080"/>
            </a:xfrm>
            <a:prstGeom prst="rect">
              <a:avLst/>
            </a:prstGeom>
            <a:noFill/>
            <a:ln/>
          </p:spPr>
          <p:txBody>
            <a:bodyPr wrap="square" lIns="0" tIns="0" rIns="0" bIns="0" rtlCol="0" anchor="ctr"/>
            <a:lstStyle/>
            <a:p>
              <a:pPr marL="0" indent="0" algn="ctr">
                <a:buNone/>
              </a:pPr>
              <a:r>
                <a:rPr lang="ar-EG" sz="3000" b="1" dirty="0">
                  <a:solidFill>
                    <a:srgbClr val="81A6C6"/>
                  </a:solidFill>
                  <a:latin typeface="Calibri" pitchFamily="34" charset="0"/>
                  <a:ea typeface="Calibri" pitchFamily="34" charset="-122"/>
                  <a:cs typeface="Calibri" pitchFamily="34" charset="-120"/>
                </a:rPr>
                <a:t>700</a:t>
              </a:r>
              <a:endParaRPr lang="en-US" sz="3000" dirty="0">
                <a:solidFill>
                  <a:srgbClr val="81A6C6"/>
                </a:solidFill>
              </a:endParaRPr>
            </a:p>
          </p:txBody>
        </p:sp>
        <p:sp>
          <p:nvSpPr>
            <p:cNvPr id="11" name="Text 9"/>
            <p:cNvSpPr/>
            <p:nvPr/>
          </p:nvSpPr>
          <p:spPr>
            <a:xfrm>
              <a:off x="2606040" y="1743768"/>
              <a:ext cx="1874520" cy="320040"/>
            </a:xfrm>
            <a:prstGeom prst="rect">
              <a:avLst/>
            </a:prstGeom>
            <a:noFill/>
            <a:ln/>
          </p:spPr>
          <p:txBody>
            <a:bodyPr wrap="square" lIns="0" tIns="0" rIns="0" bIns="0" rtlCol="0" anchor="ctr"/>
            <a:lstStyle/>
            <a:p>
              <a:pPr marL="0" indent="0" algn="ctr">
                <a:buNone/>
              </a:pPr>
              <a:r>
                <a:rPr lang="en-US" sz="1050" dirty="0">
                  <a:solidFill>
                    <a:srgbClr val="5D6D7E"/>
                  </a:solidFill>
                  <a:latin typeface="Calibri" pitchFamily="34" charset="0"/>
                  <a:ea typeface="Calibri" pitchFamily="34" charset="-122"/>
                  <a:cs typeface="Calibri" pitchFamily="34" charset="-120"/>
                </a:rPr>
                <a:t>Variables Cleaned</a:t>
              </a:r>
              <a:endParaRPr lang="en-US" sz="1050" dirty="0"/>
            </a:p>
          </p:txBody>
        </p:sp>
      </p:grpSp>
      <p:grpSp>
        <p:nvGrpSpPr>
          <p:cNvPr id="3" name="Group 2">
            <a:extLst>
              <a:ext uri="{FF2B5EF4-FFF2-40B4-BE49-F238E27FC236}">
                <a16:creationId xmlns:a16="http://schemas.microsoft.com/office/drawing/2014/main" id="{846C1F89-1817-2B41-9167-8EB0A6AE90F0}"/>
              </a:ext>
            </a:extLst>
          </p:cNvPr>
          <p:cNvGrpSpPr/>
          <p:nvPr/>
        </p:nvGrpSpPr>
        <p:grpSpPr>
          <a:xfrm>
            <a:off x="6256606" y="948240"/>
            <a:ext cx="1874520" cy="1234440"/>
            <a:chOff x="4617720" y="948240"/>
            <a:chExt cx="1874520" cy="1234440"/>
          </a:xfrm>
        </p:grpSpPr>
        <p:sp>
          <p:nvSpPr>
            <p:cNvPr id="12" name="Shape 10"/>
            <p:cNvSpPr/>
            <p:nvPr/>
          </p:nvSpPr>
          <p:spPr>
            <a:xfrm>
              <a:off x="4617720" y="948240"/>
              <a:ext cx="1874520" cy="1234440"/>
            </a:xfrm>
            <a:prstGeom prst="rect">
              <a:avLst/>
            </a:prstGeom>
            <a:solidFill>
              <a:srgbClr val="161B22"/>
            </a:solidFill>
            <a:ln w="12700">
              <a:solidFill>
                <a:srgbClr val="D0DFF0"/>
              </a:solidFill>
              <a:prstDash val="solid"/>
            </a:ln>
            <a:effectLst>
              <a:outerShdw blurRad="63500" dist="25400" dir="8100000" algn="bl" rotWithShape="0">
                <a:srgbClr val="000000">
                  <a:alpha val="8000"/>
                </a:srgbClr>
              </a:outerShdw>
            </a:effectLst>
          </p:spPr>
          <p:txBody>
            <a:bodyPr/>
            <a:lstStyle/>
            <a:p>
              <a:endParaRPr lang="en-US" dirty="0"/>
            </a:p>
          </p:txBody>
        </p:sp>
        <p:sp>
          <p:nvSpPr>
            <p:cNvPr id="13" name="Shape 11"/>
            <p:cNvSpPr/>
            <p:nvPr/>
          </p:nvSpPr>
          <p:spPr>
            <a:xfrm>
              <a:off x="4617720" y="948240"/>
              <a:ext cx="1874520" cy="64008"/>
            </a:xfrm>
            <a:prstGeom prst="rect">
              <a:avLst/>
            </a:prstGeom>
            <a:solidFill>
              <a:srgbClr val="81A6C6"/>
            </a:solidFill>
            <a:ln w="12700">
              <a:solidFill>
                <a:srgbClr val="81A6C6"/>
              </a:solidFill>
              <a:prstDash val="solid"/>
            </a:ln>
          </p:spPr>
          <p:txBody>
            <a:bodyPr/>
            <a:lstStyle/>
            <a:p>
              <a:endParaRPr lang="en-US"/>
            </a:p>
          </p:txBody>
        </p:sp>
        <p:sp>
          <p:nvSpPr>
            <p:cNvPr id="14" name="Text 12"/>
            <p:cNvSpPr/>
            <p:nvPr/>
          </p:nvSpPr>
          <p:spPr>
            <a:xfrm>
              <a:off x="4617720" y="1085400"/>
              <a:ext cx="1874520" cy="640080"/>
            </a:xfrm>
            <a:prstGeom prst="rect">
              <a:avLst/>
            </a:prstGeom>
            <a:noFill/>
            <a:ln/>
          </p:spPr>
          <p:txBody>
            <a:bodyPr wrap="square" lIns="0" tIns="0" rIns="0" bIns="0" rtlCol="0" anchor="ctr"/>
            <a:lstStyle/>
            <a:p>
              <a:pPr algn="ctr"/>
              <a:r>
                <a:rPr lang="en-US" sz="3000" b="1" dirty="0">
                  <a:solidFill>
                    <a:srgbClr val="81A6C6"/>
                  </a:solidFill>
                  <a:latin typeface="Calibri" pitchFamily="34" charset="0"/>
                  <a:ea typeface="Calibri" pitchFamily="34" charset="-122"/>
                  <a:cs typeface="Calibri" pitchFamily="34" charset="-120"/>
                </a:rPr>
                <a:t>99.2%</a:t>
              </a:r>
              <a:endParaRPr lang="en-US" sz="3000" dirty="0">
                <a:solidFill>
                  <a:srgbClr val="81A6C6"/>
                </a:solidFill>
              </a:endParaRPr>
            </a:p>
          </p:txBody>
        </p:sp>
        <p:sp>
          <p:nvSpPr>
            <p:cNvPr id="15" name="Text 13"/>
            <p:cNvSpPr/>
            <p:nvPr/>
          </p:nvSpPr>
          <p:spPr>
            <a:xfrm>
              <a:off x="4617720" y="1743768"/>
              <a:ext cx="1874520" cy="320040"/>
            </a:xfrm>
            <a:prstGeom prst="rect">
              <a:avLst/>
            </a:prstGeom>
            <a:noFill/>
            <a:ln/>
          </p:spPr>
          <p:txBody>
            <a:bodyPr wrap="square" lIns="0" tIns="0" rIns="0" bIns="0" rtlCol="0" anchor="ctr"/>
            <a:lstStyle/>
            <a:p>
              <a:pPr marL="0" indent="0" algn="ctr">
                <a:buNone/>
              </a:pPr>
              <a:r>
                <a:rPr lang="en-US" sz="1050" dirty="0">
                  <a:solidFill>
                    <a:srgbClr val="5D6D7E"/>
                  </a:solidFill>
                  <a:latin typeface="Calibri" pitchFamily="34" charset="0"/>
                  <a:ea typeface="Calibri" pitchFamily="34" charset="-122"/>
                  <a:cs typeface="Calibri" pitchFamily="34" charset="-120"/>
                </a:rPr>
                <a:t>Data Quality Score</a:t>
              </a:r>
              <a:endParaRPr lang="en-US" sz="1050" dirty="0"/>
            </a:p>
          </p:txBody>
        </p:sp>
      </p:grpSp>
      <p:sp>
        <p:nvSpPr>
          <p:cNvPr id="20" name="Shape 18"/>
          <p:cNvSpPr/>
          <p:nvPr/>
        </p:nvSpPr>
        <p:spPr>
          <a:xfrm>
            <a:off x="411480" y="2377440"/>
            <a:ext cx="8229600" cy="2264898"/>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endParaRPr lang="en-US" dirty="0"/>
          </a:p>
        </p:txBody>
      </p:sp>
      <p:sp>
        <p:nvSpPr>
          <p:cNvPr id="21" name="Shape 19"/>
          <p:cNvSpPr/>
          <p:nvPr/>
        </p:nvSpPr>
        <p:spPr>
          <a:xfrm>
            <a:off x="411480" y="2377440"/>
            <a:ext cx="45719" cy="2264898"/>
          </a:xfrm>
          <a:prstGeom prst="rect">
            <a:avLst/>
          </a:prstGeom>
          <a:solidFill>
            <a:srgbClr val="81A6C6"/>
          </a:solidFill>
          <a:ln w="12700">
            <a:solidFill>
              <a:srgbClr val="81A6C6"/>
            </a:solidFill>
            <a:prstDash val="solid"/>
          </a:ln>
        </p:spPr>
        <p:txBody>
          <a:bodyPr/>
          <a:lstStyle/>
          <a:p>
            <a:endParaRPr lang="en-US" dirty="0"/>
          </a:p>
        </p:txBody>
      </p:sp>
      <p:sp>
        <p:nvSpPr>
          <p:cNvPr id="22" name="Text 20"/>
          <p:cNvSpPr/>
          <p:nvPr/>
        </p:nvSpPr>
        <p:spPr>
          <a:xfrm>
            <a:off x="594360" y="2468880"/>
            <a:ext cx="8046720" cy="2011680"/>
          </a:xfrm>
          <a:prstGeom prst="rect">
            <a:avLst/>
          </a:prstGeom>
          <a:noFill/>
          <a:ln/>
        </p:spPr>
        <p:txBody>
          <a:bodyPr wrap="square" lIns="0" tIns="0" rIns="0" bIns="0" rtlCol="0" anchor="ctr"/>
          <a:lstStyle/>
          <a:p>
            <a:r>
              <a:rPr lang="en-US" dirty="0">
                <a:solidFill>
                  <a:srgbClr val="DCEAF8"/>
                </a:solidFill>
              </a:rPr>
              <a:t>Our analysis reveals that device hardware is secondary to user habits. Across all tested models, we identified four primary drivers (ranked by their Impact Significance):</a:t>
            </a:r>
            <a:endParaRPr lang="ar-EG" dirty="0">
              <a:solidFill>
                <a:srgbClr val="DCEAF8"/>
              </a:solidFill>
            </a:endParaRPr>
          </a:p>
          <a:p>
            <a:pPr marL="285750" indent="-285750">
              <a:buFont typeface="Arial" panose="020B0604020202020204" pitchFamily="34" charset="0"/>
              <a:buChar char="•"/>
            </a:pPr>
            <a:r>
              <a:rPr lang="en-US" dirty="0">
                <a:solidFill>
                  <a:srgbClr val="DCEAF8"/>
                </a:solidFill>
              </a:rPr>
              <a:t>High Drain (Battery Efficiency)</a:t>
            </a:r>
            <a:endParaRPr lang="ar-EG" dirty="0">
              <a:solidFill>
                <a:srgbClr val="DCEAF8"/>
              </a:solidFill>
            </a:endParaRPr>
          </a:p>
          <a:p>
            <a:pPr marL="285750" indent="-285750">
              <a:buFont typeface="Arial" panose="020B0604020202020204" pitchFamily="34" charset="0"/>
              <a:buChar char="•"/>
            </a:pPr>
            <a:r>
              <a:rPr lang="en-US" dirty="0">
                <a:solidFill>
                  <a:srgbClr val="DCEAF8"/>
                </a:solidFill>
              </a:rPr>
              <a:t>* High Usage (Usage Segments)</a:t>
            </a:r>
            <a:endParaRPr lang="ar-EG" dirty="0">
              <a:solidFill>
                <a:srgbClr val="DCEAF8"/>
              </a:solidFill>
            </a:endParaRPr>
          </a:p>
          <a:p>
            <a:pPr marL="285750" indent="-285750">
              <a:buFont typeface="Arial" panose="020B0604020202020204" pitchFamily="34" charset="0"/>
              <a:buChar char="•"/>
            </a:pPr>
            <a:r>
              <a:rPr lang="en-US" dirty="0">
                <a:solidFill>
                  <a:srgbClr val="DCEAF8"/>
                </a:solidFill>
              </a:rPr>
              <a:t> Medium Risk</a:t>
            </a:r>
            <a:endParaRPr lang="ar-EG" dirty="0">
              <a:solidFill>
                <a:srgbClr val="DCEAF8"/>
              </a:solidFill>
            </a:endParaRPr>
          </a:p>
          <a:p>
            <a:pPr marL="285750" indent="-285750">
              <a:buFont typeface="Arial" panose="020B0604020202020204" pitchFamily="34" charset="0"/>
              <a:buChar char="•"/>
            </a:pPr>
            <a:r>
              <a:rPr lang="en-US" dirty="0">
                <a:solidFill>
                  <a:srgbClr val="DCEAF8"/>
                </a:solidFill>
              </a:rPr>
              <a:t> Addicted (User Status)</a:t>
            </a:r>
            <a:endParaRPr lang="ar-EG" dirty="0">
              <a:solidFill>
                <a:srgbClr val="DCEAF8"/>
              </a:solidFill>
            </a:endParaRPr>
          </a:p>
          <a:p>
            <a:r>
              <a:rPr lang="en-US" dirty="0">
                <a:solidFill>
                  <a:srgbClr val="DCEAF8"/>
                </a:solidFill>
              </a:rPr>
              <a:t>Those are the main drivers that consistently dictate the four costs of mobile usage (Addiction), Battery Drain, Data Usage, and Mental Burnout</a:t>
            </a:r>
          </a:p>
        </p:txBody>
      </p:sp>
      <p:sp>
        <p:nvSpPr>
          <p:cNvPr id="23" name="Shape 21"/>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24" name="Text 22"/>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rgbClr val="AED6F1"/>
                </a:solidFill>
                <a:latin typeface="Calibri" pitchFamily="34" charset="0"/>
                <a:ea typeface="Calibri" pitchFamily="34" charset="-122"/>
                <a:cs typeface="Calibri" pitchFamily="34" charset="-120"/>
              </a:rPr>
              <a:t>Data Analysis Project</a:t>
            </a:r>
            <a:endParaRPr lang="en-US" sz="900" dirty="0"/>
          </a:p>
        </p:txBody>
      </p:sp>
      <p:sp>
        <p:nvSpPr>
          <p:cNvPr id="25" name="Text 23"/>
          <p:cNvSpPr/>
          <p:nvPr/>
        </p:nvSpPr>
        <p:spPr>
          <a:xfrm>
            <a:off x="8046720" y="4864608"/>
            <a:ext cx="914400" cy="278892"/>
          </a:xfrm>
          <a:prstGeom prst="rect">
            <a:avLst/>
          </a:prstGeom>
          <a:noFill/>
          <a:ln/>
        </p:spPr>
        <p:txBody>
          <a:bodyPr wrap="square" lIns="0" tIns="0" rIns="0" bIns="0" rtlCol="0" anchor="ctr"/>
          <a:lstStyle/>
          <a:p>
            <a:pPr marL="0" indent="0" algn="r">
              <a:buNone/>
            </a:pPr>
            <a:r>
              <a:rPr lang="en-US" sz="900" dirty="0">
                <a:solidFill>
                  <a:srgbClr val="161B22"/>
                </a:solidFill>
                <a:latin typeface="Calibri" pitchFamily="34" charset="0"/>
                <a:ea typeface="Calibri" pitchFamily="34" charset="-122"/>
                <a:cs typeface="Calibri" pitchFamily="34" charset="-120"/>
              </a:rPr>
              <a:t>4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sp>
        <p:nvSpPr>
          <p:cNvPr id="26" name="Shape 0">
            <a:extLst>
              <a:ext uri="{FF2B5EF4-FFF2-40B4-BE49-F238E27FC236}">
                <a16:creationId xmlns:a16="http://schemas.microsoft.com/office/drawing/2014/main" id="{709BDE52-BF87-0C69-95F1-E96567004304}"/>
              </a:ext>
            </a:extLst>
          </p:cNvPr>
          <p:cNvSpPr/>
          <p:nvPr/>
        </p:nvSpPr>
        <p:spPr>
          <a:xfrm>
            <a:off x="0" y="2174"/>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81A6C6"/>
                </a:solidFill>
                <a:latin typeface="Calibri" pitchFamily="34" charset="0"/>
                <a:ea typeface="Calibri" pitchFamily="34" charset="-122"/>
                <a:cs typeface="Calibri" pitchFamily="34" charset="-120"/>
              </a:rPr>
              <a:t>Executive Summary</a:t>
            </a:r>
          </a:p>
        </p:txBody>
      </p:sp>
      <p:sp>
        <p:nvSpPr>
          <p:cNvPr id="29" name="Shape 5">
            <a:extLst>
              <a:ext uri="{FF2B5EF4-FFF2-40B4-BE49-F238E27FC236}">
                <a16:creationId xmlns:a16="http://schemas.microsoft.com/office/drawing/2014/main" id="{857AE115-97AA-ACBA-413F-FC3B77C07CB9}"/>
              </a:ext>
            </a:extLst>
          </p:cNvPr>
          <p:cNvSpPr/>
          <p:nvPr/>
        </p:nvSpPr>
        <p:spPr>
          <a:xfrm>
            <a:off x="5113" y="0"/>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Shape 2"/>
          <p:cNvSpPr/>
          <p:nvPr/>
        </p:nvSpPr>
        <p:spPr>
          <a:xfrm>
            <a:off x="411480" y="960120"/>
            <a:ext cx="8321040" cy="777240"/>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endParaRPr lang="en-US" dirty="0"/>
          </a:p>
        </p:txBody>
      </p:sp>
      <p:sp>
        <p:nvSpPr>
          <p:cNvPr id="5" name="Shape 3"/>
          <p:cNvSpPr/>
          <p:nvPr/>
        </p:nvSpPr>
        <p:spPr>
          <a:xfrm>
            <a:off x="548640" y="1124712"/>
            <a:ext cx="457200" cy="457200"/>
          </a:xfrm>
          <a:prstGeom prst="ellipse">
            <a:avLst/>
          </a:prstGeom>
          <a:solidFill>
            <a:srgbClr val="81A6C6"/>
          </a:solidFill>
          <a:ln w="12700">
            <a:solidFill>
              <a:srgbClr val="81A6C6"/>
            </a:solidFill>
            <a:prstDash val="solid"/>
          </a:ln>
        </p:spPr>
        <p:txBody>
          <a:bodyPr/>
          <a:lstStyle/>
          <a:p>
            <a:endParaRPr lang="en-US"/>
          </a:p>
        </p:txBody>
      </p:sp>
      <p:sp>
        <p:nvSpPr>
          <p:cNvPr id="6" name="Text 4"/>
          <p:cNvSpPr/>
          <p:nvPr/>
        </p:nvSpPr>
        <p:spPr>
          <a:xfrm>
            <a:off x="548640" y="112471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43000" y="960120"/>
            <a:ext cx="7452359" cy="777240"/>
          </a:xfrm>
          <a:prstGeom prst="rect">
            <a:avLst/>
          </a:prstGeom>
          <a:noFill/>
          <a:ln/>
        </p:spPr>
        <p:txBody>
          <a:bodyPr wrap="square" lIns="0" tIns="0" rIns="0" bIns="0" rtlCol="0" anchor="ctr"/>
          <a:lstStyle/>
          <a:p>
            <a:r>
              <a:rPr lang="en-US" sz="1400" dirty="0">
                <a:solidFill>
                  <a:srgbClr val="81A6C6"/>
                </a:solidFill>
              </a:rPr>
              <a:t>Normalize Data for Bias</a:t>
            </a:r>
            <a:endParaRPr lang="ar-EG" sz="1400" dirty="0">
              <a:solidFill>
                <a:srgbClr val="81A6C6"/>
              </a:solidFill>
            </a:endParaRPr>
          </a:p>
          <a:p>
            <a:r>
              <a:rPr lang="en-US" sz="1300" dirty="0">
                <a:solidFill>
                  <a:srgbClr val="DCEAF8"/>
                </a:solidFill>
              </a:rPr>
              <a:t>To correct for population imbalances across generations and operating systems, ensuring performance comparisons are fair and </a:t>
            </a:r>
            <a:r>
              <a:rPr lang="en-US" sz="1300" dirty="0" err="1">
                <a:solidFill>
                  <a:srgbClr val="DCEAF8"/>
                </a:solidFill>
              </a:rPr>
              <a:t>accurat</a:t>
            </a:r>
            <a:endParaRPr lang="en-US" sz="1300" dirty="0">
              <a:solidFill>
                <a:srgbClr val="DCEAF8"/>
              </a:solidFill>
            </a:endParaRPr>
          </a:p>
        </p:txBody>
      </p:sp>
      <p:sp>
        <p:nvSpPr>
          <p:cNvPr id="8" name="Shape 6"/>
          <p:cNvSpPr/>
          <p:nvPr/>
        </p:nvSpPr>
        <p:spPr>
          <a:xfrm>
            <a:off x="411480" y="1911096"/>
            <a:ext cx="8321040" cy="777240"/>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7"/>
          <p:cNvSpPr/>
          <p:nvPr/>
        </p:nvSpPr>
        <p:spPr>
          <a:xfrm>
            <a:off x="548640" y="2075688"/>
            <a:ext cx="457200" cy="457200"/>
          </a:xfrm>
          <a:prstGeom prst="ellipse">
            <a:avLst/>
          </a:prstGeom>
          <a:solidFill>
            <a:srgbClr val="81A6C6"/>
          </a:solidFill>
          <a:ln w="12700">
            <a:solidFill>
              <a:srgbClr val="81A6C6"/>
            </a:solidFill>
            <a:prstDash val="solid"/>
          </a:ln>
        </p:spPr>
        <p:txBody>
          <a:bodyPr/>
          <a:lstStyle/>
          <a:p>
            <a:endParaRPr lang="en-US"/>
          </a:p>
        </p:txBody>
      </p:sp>
      <p:sp>
        <p:nvSpPr>
          <p:cNvPr id="10" name="Text 8"/>
          <p:cNvSpPr/>
          <p:nvPr/>
        </p:nvSpPr>
        <p:spPr>
          <a:xfrm>
            <a:off x="548640" y="207568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1911096"/>
            <a:ext cx="7452359" cy="777240"/>
          </a:xfrm>
          <a:prstGeom prst="rect">
            <a:avLst/>
          </a:prstGeom>
          <a:noFill/>
          <a:ln/>
        </p:spPr>
        <p:txBody>
          <a:bodyPr wrap="square" lIns="0" tIns="0" rIns="0" bIns="0" rtlCol="0" anchor="ctr"/>
          <a:lstStyle/>
          <a:p>
            <a:r>
              <a:rPr lang="en-US" sz="1400" dirty="0">
                <a:solidFill>
                  <a:srgbClr val="81A6C6"/>
                </a:solidFill>
              </a:rPr>
              <a:t>​Behavioral Patterns:</a:t>
            </a:r>
            <a:endParaRPr lang="ar-EG" sz="1400" dirty="0">
              <a:solidFill>
                <a:srgbClr val="81A6C6"/>
              </a:solidFill>
            </a:endParaRPr>
          </a:p>
          <a:p>
            <a:r>
              <a:rPr lang="en-US" sz="1400" dirty="0">
                <a:solidFill>
                  <a:srgbClr val="81A6C6"/>
                </a:solidFill>
              </a:rPr>
              <a:t> </a:t>
            </a:r>
            <a:r>
              <a:rPr lang="en-US" sz="1300" dirty="0">
                <a:solidFill>
                  <a:srgbClr val="DCEAF8"/>
                </a:solidFill>
              </a:rPr>
              <a:t>What are the primary correlations between app usage time, battery drain, and user demographics (Generation/OS)?</a:t>
            </a:r>
          </a:p>
        </p:txBody>
      </p:sp>
      <p:sp>
        <p:nvSpPr>
          <p:cNvPr id="12" name="Shape 10"/>
          <p:cNvSpPr/>
          <p:nvPr/>
        </p:nvSpPr>
        <p:spPr>
          <a:xfrm>
            <a:off x="411480" y="2862072"/>
            <a:ext cx="8321040" cy="777240"/>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1"/>
          <p:cNvSpPr/>
          <p:nvPr/>
        </p:nvSpPr>
        <p:spPr>
          <a:xfrm>
            <a:off x="548640" y="3026664"/>
            <a:ext cx="457200" cy="457200"/>
          </a:xfrm>
          <a:prstGeom prst="ellipse">
            <a:avLst/>
          </a:prstGeom>
          <a:solidFill>
            <a:srgbClr val="81A6C6"/>
          </a:solidFill>
          <a:ln w="12700">
            <a:solidFill>
              <a:srgbClr val="81A6C6"/>
            </a:solidFill>
            <a:prstDash val="solid"/>
          </a:ln>
        </p:spPr>
        <p:txBody>
          <a:bodyPr/>
          <a:lstStyle/>
          <a:p>
            <a:endParaRPr lang="en-US"/>
          </a:p>
        </p:txBody>
      </p:sp>
      <p:sp>
        <p:nvSpPr>
          <p:cNvPr id="14" name="Text 12"/>
          <p:cNvSpPr/>
          <p:nvPr/>
        </p:nvSpPr>
        <p:spPr>
          <a:xfrm>
            <a:off x="548640" y="302666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862072"/>
            <a:ext cx="7406640" cy="777240"/>
          </a:xfrm>
          <a:prstGeom prst="rect">
            <a:avLst/>
          </a:prstGeom>
          <a:noFill/>
          <a:ln/>
        </p:spPr>
        <p:txBody>
          <a:bodyPr wrap="square" lIns="0" tIns="0" rIns="0" bIns="0" rtlCol="0" anchor="ctr"/>
          <a:lstStyle/>
          <a:p>
            <a:r>
              <a:rPr lang="en-US" sz="1400" dirty="0">
                <a:solidFill>
                  <a:srgbClr val="81A6C6"/>
                </a:solidFill>
              </a:rPr>
              <a:t>​ML Predictive Insights:</a:t>
            </a:r>
          </a:p>
          <a:p>
            <a:r>
              <a:rPr lang="en-US" sz="1300" dirty="0">
                <a:solidFill>
                  <a:srgbClr val="DCEAF8"/>
                </a:solidFill>
              </a:rPr>
              <a:t>To what extent can the Random Forest model's 99.2% accuracy be used to segment users into risk categories within the interactive reports?</a:t>
            </a:r>
          </a:p>
        </p:txBody>
      </p:sp>
      <p:sp>
        <p:nvSpPr>
          <p:cNvPr id="16" name="Shape 14"/>
          <p:cNvSpPr/>
          <p:nvPr/>
        </p:nvSpPr>
        <p:spPr>
          <a:xfrm>
            <a:off x="411480" y="3813048"/>
            <a:ext cx="8321040" cy="777240"/>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endParaRPr lang="en-US" dirty="0"/>
          </a:p>
        </p:txBody>
      </p:sp>
      <p:sp>
        <p:nvSpPr>
          <p:cNvPr id="17" name="Shape 15"/>
          <p:cNvSpPr/>
          <p:nvPr/>
        </p:nvSpPr>
        <p:spPr>
          <a:xfrm>
            <a:off x="548640" y="3977640"/>
            <a:ext cx="457200" cy="457200"/>
          </a:xfrm>
          <a:prstGeom prst="ellipse">
            <a:avLst/>
          </a:prstGeom>
          <a:solidFill>
            <a:srgbClr val="81A6C6"/>
          </a:solidFill>
          <a:ln w="12700">
            <a:solidFill>
              <a:srgbClr val="81A6C6"/>
            </a:solidFill>
            <a:prstDash val="solid"/>
          </a:ln>
        </p:spPr>
        <p:txBody>
          <a:bodyPr/>
          <a:lstStyle/>
          <a:p>
            <a:endParaRPr lang="en-US"/>
          </a:p>
        </p:txBody>
      </p:sp>
      <p:sp>
        <p:nvSpPr>
          <p:cNvPr id="18" name="Text 16"/>
          <p:cNvSpPr/>
          <p:nvPr/>
        </p:nvSpPr>
        <p:spPr>
          <a:xfrm>
            <a:off x="548640" y="39776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813048"/>
            <a:ext cx="7406640" cy="777240"/>
          </a:xfrm>
          <a:prstGeom prst="rect">
            <a:avLst/>
          </a:prstGeom>
          <a:noFill/>
          <a:ln/>
        </p:spPr>
        <p:txBody>
          <a:bodyPr wrap="square" lIns="0" tIns="0" rIns="0" bIns="0" rtlCol="0" anchor="ctr"/>
          <a:lstStyle/>
          <a:p>
            <a:pPr marL="0" indent="0">
              <a:buNone/>
            </a:pPr>
            <a:endParaRPr lang="en-US" sz="1300" dirty="0"/>
          </a:p>
        </p:txBody>
      </p:sp>
      <p:sp>
        <p:nvSpPr>
          <p:cNvPr id="20" name="Shape 18"/>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21" name="Text 19"/>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solidFill>
                <a:latin typeface="Calibri" pitchFamily="34" charset="0"/>
                <a:ea typeface="Calibri" pitchFamily="34" charset="-122"/>
                <a:cs typeface="Calibri" pitchFamily="34" charset="-120"/>
              </a:rPr>
              <a:t>Data Analysis Project</a:t>
            </a:r>
            <a:endParaRPr lang="en-US" sz="900" dirty="0">
              <a:solidFill>
                <a:schemeClr val="bg1"/>
              </a:solidFill>
            </a:endParaRPr>
          </a:p>
        </p:txBody>
      </p:sp>
      <p:sp>
        <p:nvSpPr>
          <p:cNvPr id="22" name="Text 20"/>
          <p:cNvSpPr/>
          <p:nvPr/>
        </p:nvSpPr>
        <p:spPr>
          <a:xfrm>
            <a:off x="8046720" y="4864608"/>
            <a:ext cx="914400" cy="278892"/>
          </a:xfrm>
          <a:prstGeom prst="rect">
            <a:avLst/>
          </a:prstGeom>
          <a:noFill/>
          <a:ln/>
        </p:spPr>
        <p:txBody>
          <a:bodyPr wrap="square" lIns="0" tIns="0" rIns="0" bIns="0" rtlCol="0" anchor="ctr"/>
          <a:lstStyle/>
          <a:p>
            <a:pPr marL="0" indent="0" algn="r">
              <a:buNone/>
            </a:pPr>
            <a:r>
              <a:rPr lang="en-US" sz="900" dirty="0">
                <a:solidFill>
                  <a:srgbClr val="161B22"/>
                </a:solidFill>
                <a:latin typeface="Calibri" pitchFamily="34" charset="0"/>
                <a:ea typeface="Calibri" pitchFamily="34" charset="-122"/>
                <a:cs typeface="Calibri" pitchFamily="34" charset="-120"/>
              </a:rPr>
              <a:t>5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nvGrpSpPr>
          <p:cNvPr id="26" name="Group 25">
            <a:extLst>
              <a:ext uri="{FF2B5EF4-FFF2-40B4-BE49-F238E27FC236}">
                <a16:creationId xmlns:a16="http://schemas.microsoft.com/office/drawing/2014/main" id="{21F5106E-6D70-9D9F-D76F-DCB1D41BAF57}"/>
              </a:ext>
            </a:extLst>
          </p:cNvPr>
          <p:cNvGrpSpPr/>
          <p:nvPr/>
        </p:nvGrpSpPr>
        <p:grpSpPr>
          <a:xfrm>
            <a:off x="0" y="0"/>
            <a:ext cx="9144000" cy="425272"/>
            <a:chOff x="-125134" y="79955"/>
            <a:chExt cx="9173844" cy="425272"/>
          </a:xfrm>
        </p:grpSpPr>
        <p:sp>
          <p:nvSpPr>
            <p:cNvPr id="24" name="Shape 0">
              <a:extLst>
                <a:ext uri="{FF2B5EF4-FFF2-40B4-BE49-F238E27FC236}">
                  <a16:creationId xmlns:a16="http://schemas.microsoft.com/office/drawing/2014/main" id="{3EBA92EF-B7E4-6FC8-9FAB-97B1B10493A0}"/>
                </a:ext>
              </a:extLst>
            </p:cNvPr>
            <p:cNvSpPr/>
            <p:nvPr/>
          </p:nvSpPr>
          <p:spPr>
            <a:xfrm>
              <a:off x="-95290" y="7995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latin typeface="Calibri" pitchFamily="34" charset="0"/>
                  <a:ea typeface="Calibri" pitchFamily="34" charset="-122"/>
                  <a:cs typeface="Calibri" pitchFamily="34" charset="-120"/>
                </a:rPr>
                <a:t>  </a:t>
              </a:r>
              <a:r>
                <a:rPr lang="en-US" b="1" dirty="0">
                  <a:solidFill>
                    <a:srgbClr val="81A6C6"/>
                  </a:solidFill>
                  <a:latin typeface="Calibri" pitchFamily="34" charset="0"/>
                  <a:ea typeface="Calibri" pitchFamily="34" charset="-122"/>
                  <a:cs typeface="Calibri" pitchFamily="34" charset="-120"/>
                </a:rPr>
                <a:t>Project Objectives</a:t>
              </a:r>
            </a:p>
          </p:txBody>
        </p:sp>
        <p:sp>
          <p:nvSpPr>
            <p:cNvPr id="25" name="Shape 5">
              <a:extLst>
                <a:ext uri="{FF2B5EF4-FFF2-40B4-BE49-F238E27FC236}">
                  <a16:creationId xmlns:a16="http://schemas.microsoft.com/office/drawing/2014/main" id="{58B043DD-0E98-7897-0552-2EC16EDF4B46}"/>
                </a:ext>
              </a:extLst>
            </p:cNvPr>
            <p:cNvSpPr/>
            <p:nvPr/>
          </p:nvSpPr>
          <p:spPr>
            <a:xfrm>
              <a:off x="-125134" y="79956"/>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sp>
        <p:nvSpPr>
          <p:cNvPr id="2" name="TextBox 1">
            <a:extLst>
              <a:ext uri="{FF2B5EF4-FFF2-40B4-BE49-F238E27FC236}">
                <a16:creationId xmlns:a16="http://schemas.microsoft.com/office/drawing/2014/main" id="{1D898E0C-4A9B-2F47-ABF9-1609270D5E88}"/>
              </a:ext>
            </a:extLst>
          </p:cNvPr>
          <p:cNvSpPr txBox="1"/>
          <p:nvPr/>
        </p:nvSpPr>
        <p:spPr>
          <a:xfrm>
            <a:off x="1143000" y="3847725"/>
            <a:ext cx="5992837" cy="707886"/>
          </a:xfrm>
          <a:prstGeom prst="rect">
            <a:avLst/>
          </a:prstGeom>
          <a:noFill/>
        </p:spPr>
        <p:txBody>
          <a:bodyPr wrap="square" rtlCol="0">
            <a:spAutoFit/>
          </a:bodyPr>
          <a:lstStyle/>
          <a:p>
            <a:r>
              <a:rPr lang="en-US" sz="1400" dirty="0">
                <a:solidFill>
                  <a:srgbClr val="81A6C6"/>
                </a:solidFill>
              </a:rPr>
              <a:t>Identify Usage Drivers</a:t>
            </a:r>
            <a:r>
              <a:rPr lang="ar-EG" sz="1400" dirty="0">
                <a:solidFill>
                  <a:srgbClr val="81A6C6"/>
                </a:solidFill>
              </a:rPr>
              <a:t>:</a:t>
            </a:r>
          </a:p>
          <a:p>
            <a:r>
              <a:rPr lang="en-US" sz="1300" dirty="0">
                <a:solidFill>
                  <a:srgbClr val="DCEAF8"/>
                </a:solidFill>
              </a:rPr>
              <a:t>To pinpoint the specific behavioral habits—rather than hardware specs—that most significantly impact battery health and user well-being.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81A6C6"/>
          </a:solidFill>
          <a:ln w="12700">
            <a:solidFill>
              <a:srgbClr val="81A6C6"/>
            </a:solidFill>
            <a:prstDash val="solid"/>
          </a:ln>
        </p:spPr>
        <p:txBody>
          <a:bodyPr/>
          <a:lstStyle/>
          <a:p>
            <a:endParaRPr lang="en-US"/>
          </a:p>
        </p:txBody>
      </p:sp>
      <p:sp>
        <p:nvSpPr>
          <p:cNvPr id="3" name="Text 1"/>
          <p:cNvSpPr/>
          <p:nvPr/>
        </p:nvSpPr>
        <p:spPr>
          <a:xfrm>
            <a:off x="0" y="1097280"/>
            <a:ext cx="3200400" cy="1828800"/>
          </a:xfrm>
          <a:prstGeom prst="rect">
            <a:avLst/>
          </a:prstGeom>
          <a:noFill/>
          <a:ln/>
        </p:spPr>
        <p:txBody>
          <a:bodyPr wrap="square" lIns="0" tIns="0" rIns="0" bIns="0" rtlCol="0" anchor="ctr"/>
          <a:lstStyle/>
          <a:p>
            <a:pPr marL="0" indent="0" algn="ctr">
              <a:buNone/>
            </a:pPr>
            <a:r>
              <a:rPr lang="en-US" sz="12000" b="1" dirty="0">
                <a:solidFill>
                  <a:srgbClr val="DCEAF8"/>
                </a:solidFill>
                <a:latin typeface="Calibri" pitchFamily="34" charset="0"/>
                <a:ea typeface="Calibri" pitchFamily="34" charset="-122"/>
                <a:cs typeface="Calibri" pitchFamily="34" charset="-120"/>
              </a:rPr>
              <a:t>02</a:t>
            </a:r>
            <a:endParaRPr lang="en-US" sz="12000" dirty="0">
              <a:solidFill>
                <a:srgbClr val="DCEAF8"/>
              </a:solidFill>
            </a:endParaRPr>
          </a:p>
        </p:txBody>
      </p:sp>
      <p:sp>
        <p:nvSpPr>
          <p:cNvPr id="4" name="Text 2"/>
          <p:cNvSpPr/>
          <p:nvPr/>
        </p:nvSpPr>
        <p:spPr>
          <a:xfrm>
            <a:off x="3566160" y="1645920"/>
            <a:ext cx="5212080" cy="777240"/>
          </a:xfrm>
          <a:prstGeom prst="rect">
            <a:avLst/>
          </a:prstGeom>
          <a:noFill/>
          <a:ln/>
        </p:spPr>
        <p:txBody>
          <a:bodyPr wrap="square" lIns="0" tIns="0" rIns="0" bIns="0" rtlCol="0" anchor="ctr"/>
          <a:lstStyle/>
          <a:p>
            <a:pPr marL="0" indent="0">
              <a:buNone/>
            </a:pPr>
            <a:r>
              <a:rPr lang="en-US" sz="3400" b="1" dirty="0">
                <a:solidFill>
                  <a:srgbClr val="DCEAF8"/>
                </a:solidFill>
                <a:latin typeface="Calibri" pitchFamily="34" charset="0"/>
                <a:ea typeface="Calibri" pitchFamily="34" charset="-122"/>
                <a:cs typeface="Calibri" pitchFamily="34" charset="-120"/>
              </a:rPr>
              <a:t>Data Cleaning &amp; Processing</a:t>
            </a:r>
            <a:endParaRPr lang="en-US" sz="3400" dirty="0">
              <a:solidFill>
                <a:srgbClr val="DCEAF8"/>
              </a:solidFill>
            </a:endParaRPr>
          </a:p>
        </p:txBody>
      </p:sp>
      <p:sp>
        <p:nvSpPr>
          <p:cNvPr id="5" name="Text 3"/>
          <p:cNvSpPr/>
          <p:nvPr/>
        </p:nvSpPr>
        <p:spPr>
          <a:xfrm>
            <a:off x="3566160" y="2514600"/>
            <a:ext cx="5212080" cy="548640"/>
          </a:xfrm>
          <a:prstGeom prst="rect">
            <a:avLst/>
          </a:prstGeom>
          <a:noFill/>
          <a:ln/>
        </p:spPr>
        <p:txBody>
          <a:bodyPr wrap="square" lIns="0" tIns="0" rIns="0" bIns="0" rtlCol="0" anchor="ctr"/>
          <a:lstStyle/>
          <a:p>
            <a:pPr marL="0" indent="0">
              <a:buNone/>
            </a:pPr>
            <a:r>
              <a:rPr lang="en-US" sz="1500" dirty="0">
                <a:solidFill>
                  <a:srgbClr val="AED6F1"/>
                </a:solidFill>
                <a:latin typeface="Calibri" pitchFamily="34" charset="0"/>
                <a:ea typeface="Calibri" pitchFamily="34" charset="-122"/>
                <a:cs typeface="Calibri" pitchFamily="34" charset="-120"/>
              </a:rPr>
              <a:t>Raw data ingestion, quality checks, transformation &amp; validation</a:t>
            </a:r>
            <a:endParaRPr lang="en-US" sz="1500" dirty="0"/>
          </a:p>
        </p:txBody>
      </p:sp>
      <p:sp>
        <p:nvSpPr>
          <p:cNvPr id="6" name="Shape 4"/>
          <p:cNvSpPr/>
          <p:nvPr/>
        </p:nvSpPr>
        <p:spPr>
          <a:xfrm>
            <a:off x="3566160" y="2450592"/>
            <a:ext cx="5029200" cy="45720"/>
          </a:xfrm>
          <a:prstGeom prst="rect">
            <a:avLst/>
          </a:prstGeom>
          <a:solidFill>
            <a:srgbClr val="81A6C6"/>
          </a:solidFill>
          <a:ln w="12700">
            <a:solidFill>
              <a:srgbClr val="81A6C6"/>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7" name="Text 5"/>
          <p:cNvSpPr/>
          <p:nvPr/>
        </p:nvSpPr>
        <p:spPr>
          <a:xfrm>
            <a:off x="1417320" y="1078992"/>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5" name="Text 13"/>
          <p:cNvSpPr/>
          <p:nvPr/>
        </p:nvSpPr>
        <p:spPr>
          <a:xfrm>
            <a:off x="4343400" y="1078992"/>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3" name="Text 21"/>
          <p:cNvSpPr/>
          <p:nvPr/>
        </p:nvSpPr>
        <p:spPr>
          <a:xfrm>
            <a:off x="7269480" y="1078992"/>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8" name="Shape 26"/>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29" name="Text 27"/>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30" name="Text 28"/>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7</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nvGrpSpPr>
          <p:cNvPr id="31" name="Group 30">
            <a:extLst>
              <a:ext uri="{FF2B5EF4-FFF2-40B4-BE49-F238E27FC236}">
                <a16:creationId xmlns:a16="http://schemas.microsoft.com/office/drawing/2014/main" id="{5A533340-9942-CD23-1071-59B25590C11C}"/>
              </a:ext>
            </a:extLst>
          </p:cNvPr>
          <p:cNvGrpSpPr/>
          <p:nvPr/>
        </p:nvGrpSpPr>
        <p:grpSpPr>
          <a:xfrm>
            <a:off x="64800" y="526808"/>
            <a:ext cx="8896319" cy="1104368"/>
            <a:chOff x="411480" y="960120"/>
            <a:chExt cx="8321040" cy="3657600"/>
          </a:xfrm>
          <a:solidFill>
            <a:srgbClr val="161B22"/>
          </a:solidFill>
        </p:grpSpPr>
        <p:sp>
          <p:nvSpPr>
            <p:cNvPr id="32" name="Shape 2">
              <a:extLst>
                <a:ext uri="{FF2B5EF4-FFF2-40B4-BE49-F238E27FC236}">
                  <a16:creationId xmlns:a16="http://schemas.microsoft.com/office/drawing/2014/main" id="{63D1C574-6355-ABAE-D26E-5D58D3461216}"/>
                </a:ext>
              </a:extLst>
            </p:cNvPr>
            <p:cNvSpPr/>
            <p:nvPr/>
          </p:nvSpPr>
          <p:spPr>
            <a:xfrm>
              <a:off x="411480" y="960120"/>
              <a:ext cx="8321040" cy="3657600"/>
            </a:xfrm>
            <a:prstGeom prst="rect">
              <a:avLst/>
            </a:prstGeom>
            <a:grpFill/>
            <a:ln w="12700">
              <a:solidFill>
                <a:srgbClr val="81A6C6"/>
              </a:solidFill>
              <a:prstDash val="solid"/>
            </a:ln>
            <a:effectLst>
              <a:outerShdw blurRad="63500" dist="25400" dir="8100000" algn="bl" rotWithShape="0">
                <a:srgbClr val="000000">
                  <a:alpha val="8000"/>
                </a:srgbClr>
              </a:outerShdw>
            </a:effectLst>
          </p:spPr>
          <p:txBody>
            <a:bodyPr anchor="ctr"/>
            <a:lstStyle/>
            <a:p>
              <a:r>
                <a:rPr lang="en-US" sz="1600" b="1" dirty="0">
                  <a:solidFill>
                    <a:srgbClr val="81A6C6"/>
                  </a:solidFill>
                </a:rPr>
                <a:t>Library Imports &amp; Data Loading Implementation: </a:t>
              </a:r>
              <a:r>
                <a:rPr lang="en-US" sz="1600" dirty="0">
                  <a:solidFill>
                    <a:srgbClr val="DCEAF8"/>
                  </a:solidFill>
                </a:rPr>
                <a:t>Prepared the environment using Pandas/Seaborn and loaded the dataset via </a:t>
              </a:r>
              <a:r>
                <a:rPr lang="en-US" sz="1600" dirty="0" err="1">
                  <a:solidFill>
                    <a:srgbClr val="DCEAF8"/>
                  </a:solidFill>
                </a:rPr>
                <a:t>pd.read_csv</a:t>
              </a:r>
              <a:r>
                <a:rPr lang="en-US" sz="1600" dirty="0">
                  <a:solidFill>
                    <a:srgbClr val="DCEAF8"/>
                  </a:solidFill>
                </a:rPr>
                <a:t>().</a:t>
              </a:r>
            </a:p>
            <a:p>
              <a:r>
                <a:rPr lang="en-US" sz="1600" b="1" dirty="0">
                  <a:solidFill>
                    <a:srgbClr val="81A6C6"/>
                  </a:solidFill>
                </a:rPr>
                <a:t>Value:</a:t>
              </a:r>
              <a:r>
                <a:rPr lang="en-US" sz="1600" dirty="0">
                  <a:solidFill>
                    <a:srgbClr val="DCEAF8"/>
                  </a:solidFill>
                </a:rPr>
                <a:t> Verified data integrity with </a:t>
              </a:r>
              <a:r>
                <a:rPr lang="en-US" sz="1600" dirty="0" err="1">
                  <a:solidFill>
                    <a:srgbClr val="DCEAF8"/>
                  </a:solidFill>
                </a:rPr>
                <a:t>df.head</a:t>
              </a:r>
              <a:r>
                <a:rPr lang="en-US" sz="1600" dirty="0">
                  <a:solidFill>
                    <a:srgbClr val="DCEAF8"/>
                  </a:solidFill>
                </a:rPr>
                <a:t>() to ensure all features are ready for analysis.</a:t>
              </a:r>
            </a:p>
          </p:txBody>
        </p:sp>
        <p:sp>
          <p:nvSpPr>
            <p:cNvPr id="33" name="Shape 3">
              <a:extLst>
                <a:ext uri="{FF2B5EF4-FFF2-40B4-BE49-F238E27FC236}">
                  <a16:creationId xmlns:a16="http://schemas.microsoft.com/office/drawing/2014/main" id="{8E723268-AAF1-E6B2-FF35-798CE2AA79D2}"/>
                </a:ext>
              </a:extLst>
            </p:cNvPr>
            <p:cNvSpPr/>
            <p:nvPr/>
          </p:nvSpPr>
          <p:spPr>
            <a:xfrm>
              <a:off x="411480" y="960120"/>
              <a:ext cx="54864" cy="3657600"/>
            </a:xfrm>
            <a:prstGeom prst="rect">
              <a:avLst/>
            </a:prstGeom>
            <a:solidFill>
              <a:srgbClr val="81A6C6"/>
            </a:solidFill>
            <a:ln w="12700">
              <a:solidFill>
                <a:srgbClr val="81A6C6"/>
              </a:solidFill>
              <a:prstDash val="solid"/>
            </a:ln>
          </p:spPr>
          <p:txBody>
            <a:bodyPr anchor="ctr"/>
            <a:lstStyle/>
            <a:p>
              <a:endParaRPr lang="en-US" dirty="0"/>
            </a:p>
          </p:txBody>
        </p:sp>
      </p:grpSp>
      <p:pic>
        <p:nvPicPr>
          <p:cNvPr id="35" name="Picture 34">
            <a:extLst>
              <a:ext uri="{FF2B5EF4-FFF2-40B4-BE49-F238E27FC236}">
                <a16:creationId xmlns:a16="http://schemas.microsoft.com/office/drawing/2014/main" id="{097BA013-E363-6CAE-FBFA-4D1FA37767F1}"/>
              </a:ext>
            </a:extLst>
          </p:cNvPr>
          <p:cNvPicPr>
            <a:picLocks noChangeAspect="1"/>
          </p:cNvPicPr>
          <p:nvPr/>
        </p:nvPicPr>
        <p:blipFill>
          <a:blip r:embed="rId3"/>
          <a:stretch>
            <a:fillRect/>
          </a:stretch>
        </p:blipFill>
        <p:spPr>
          <a:xfrm>
            <a:off x="58294" y="1701093"/>
            <a:ext cx="8902826" cy="3004598"/>
          </a:xfrm>
          <a:prstGeom prst="rect">
            <a:avLst/>
          </a:prstGeom>
        </p:spPr>
      </p:pic>
      <p:grpSp>
        <p:nvGrpSpPr>
          <p:cNvPr id="5" name="Group 4">
            <a:extLst>
              <a:ext uri="{FF2B5EF4-FFF2-40B4-BE49-F238E27FC236}">
                <a16:creationId xmlns:a16="http://schemas.microsoft.com/office/drawing/2014/main" id="{70C30EDF-13D0-D099-129B-8F853201679D}"/>
              </a:ext>
            </a:extLst>
          </p:cNvPr>
          <p:cNvGrpSpPr/>
          <p:nvPr/>
        </p:nvGrpSpPr>
        <p:grpSpPr>
          <a:xfrm>
            <a:off x="0" y="0"/>
            <a:ext cx="9144000" cy="425271"/>
            <a:chOff x="0" y="-3545"/>
            <a:chExt cx="9144000" cy="425271"/>
          </a:xfrm>
        </p:grpSpPr>
        <p:sp>
          <p:nvSpPr>
            <p:cNvPr id="6" name="Shape 0">
              <a:extLst>
                <a:ext uri="{FF2B5EF4-FFF2-40B4-BE49-F238E27FC236}">
                  <a16:creationId xmlns:a16="http://schemas.microsoft.com/office/drawing/2014/main" id="{702C7E4A-8745-10B5-1B9A-8908A685E9EE}"/>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Library Imports &amp; Data Loading </a:t>
              </a:r>
            </a:p>
          </p:txBody>
        </p:sp>
        <p:sp>
          <p:nvSpPr>
            <p:cNvPr id="8" name="Shape 5">
              <a:extLst>
                <a:ext uri="{FF2B5EF4-FFF2-40B4-BE49-F238E27FC236}">
                  <a16:creationId xmlns:a16="http://schemas.microsoft.com/office/drawing/2014/main" id="{E979A43C-BB9D-0FEB-E12C-817F1B9D27EE}"/>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4" name="Shape 32"/>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35" name="Text 33"/>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36" name="Text 34"/>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8</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nvGrpSpPr>
          <p:cNvPr id="42" name="Group 41">
            <a:extLst>
              <a:ext uri="{FF2B5EF4-FFF2-40B4-BE49-F238E27FC236}">
                <a16:creationId xmlns:a16="http://schemas.microsoft.com/office/drawing/2014/main" id="{3EEF74B9-706B-8969-8113-2C9DE64126C9}"/>
              </a:ext>
            </a:extLst>
          </p:cNvPr>
          <p:cNvGrpSpPr/>
          <p:nvPr/>
        </p:nvGrpSpPr>
        <p:grpSpPr>
          <a:xfrm>
            <a:off x="95338" y="478955"/>
            <a:ext cx="8904364" cy="961045"/>
            <a:chOff x="119818" y="3348596"/>
            <a:chExt cx="8841302" cy="1292772"/>
          </a:xfrm>
        </p:grpSpPr>
        <p:sp>
          <p:nvSpPr>
            <p:cNvPr id="40" name="Shape 2">
              <a:extLst>
                <a:ext uri="{FF2B5EF4-FFF2-40B4-BE49-F238E27FC236}">
                  <a16:creationId xmlns:a16="http://schemas.microsoft.com/office/drawing/2014/main" id="{993448B0-4FCE-277F-A6BA-4D02C464C749}"/>
                </a:ext>
              </a:extLst>
            </p:cNvPr>
            <p:cNvSpPr/>
            <p:nvPr/>
          </p:nvSpPr>
          <p:spPr>
            <a:xfrm>
              <a:off x="119818" y="3348596"/>
              <a:ext cx="8841302" cy="1292772"/>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nchor="ctr"/>
            <a:lstStyle/>
            <a:p>
              <a:r>
                <a:rPr lang="en-US" b="1" dirty="0">
                  <a:solidFill>
                    <a:srgbClr val="81A6C6"/>
                  </a:solidFill>
                </a:rPr>
                <a:t>Implementation:</a:t>
              </a:r>
              <a:r>
                <a:rPr lang="en-US" dirty="0"/>
                <a:t> </a:t>
              </a:r>
              <a:r>
                <a:rPr lang="en-US" dirty="0">
                  <a:solidFill>
                    <a:srgbClr val="DCEAF8"/>
                  </a:solidFill>
                </a:rPr>
                <a:t>Cleaned column headers and applied automated logic to fill missing values using Mode and Mean.</a:t>
              </a:r>
            </a:p>
            <a:p>
              <a:r>
                <a:rPr lang="en-US" b="1" dirty="0">
                  <a:solidFill>
                    <a:srgbClr val="81A6C6"/>
                  </a:solidFill>
                </a:rPr>
                <a:t>Value:</a:t>
              </a:r>
              <a:r>
                <a:rPr lang="en-US" dirty="0"/>
                <a:t> </a:t>
              </a:r>
              <a:r>
                <a:rPr lang="en-US" dirty="0">
                  <a:solidFill>
                    <a:srgbClr val="DCEAF8"/>
                  </a:solidFill>
                </a:rPr>
                <a:t>Achieved "Zero Nulls," ensuring a consistent and error-free dataset for modeling.</a:t>
              </a:r>
            </a:p>
          </p:txBody>
        </p:sp>
        <p:sp>
          <p:nvSpPr>
            <p:cNvPr id="41" name="Shape 3">
              <a:extLst>
                <a:ext uri="{FF2B5EF4-FFF2-40B4-BE49-F238E27FC236}">
                  <a16:creationId xmlns:a16="http://schemas.microsoft.com/office/drawing/2014/main" id="{F5160731-62CB-ED1E-65E6-3099CF4AF7B7}"/>
                </a:ext>
              </a:extLst>
            </p:cNvPr>
            <p:cNvSpPr/>
            <p:nvPr/>
          </p:nvSpPr>
          <p:spPr>
            <a:xfrm>
              <a:off x="119818" y="3348596"/>
              <a:ext cx="45395" cy="1292772"/>
            </a:xfrm>
            <a:prstGeom prst="rect">
              <a:avLst/>
            </a:prstGeom>
            <a:solidFill>
              <a:srgbClr val="81A6C6"/>
            </a:solidFill>
            <a:ln w="12700">
              <a:solidFill>
                <a:srgbClr val="81A6C6"/>
              </a:solidFill>
              <a:prstDash val="solid"/>
            </a:ln>
          </p:spPr>
          <p:txBody>
            <a:bodyPr/>
            <a:lstStyle/>
            <a:p>
              <a:endParaRPr lang="en-US"/>
            </a:p>
          </p:txBody>
        </p:sp>
      </p:grpSp>
      <p:pic>
        <p:nvPicPr>
          <p:cNvPr id="44" name="Picture 43">
            <a:extLst>
              <a:ext uri="{FF2B5EF4-FFF2-40B4-BE49-F238E27FC236}">
                <a16:creationId xmlns:a16="http://schemas.microsoft.com/office/drawing/2014/main" id="{F2566AB0-A5A6-686C-6C98-FC1DA38FB27E}"/>
              </a:ext>
            </a:extLst>
          </p:cNvPr>
          <p:cNvPicPr>
            <a:picLocks noChangeAspect="1"/>
          </p:cNvPicPr>
          <p:nvPr/>
        </p:nvPicPr>
        <p:blipFill>
          <a:blip r:embed="rId3"/>
          <a:stretch>
            <a:fillRect/>
          </a:stretch>
        </p:blipFill>
        <p:spPr>
          <a:xfrm>
            <a:off x="95338" y="1497229"/>
            <a:ext cx="8933719" cy="3304800"/>
          </a:xfrm>
          <a:prstGeom prst="rect">
            <a:avLst/>
          </a:prstGeom>
        </p:spPr>
      </p:pic>
      <p:grpSp>
        <p:nvGrpSpPr>
          <p:cNvPr id="3" name="Group 2">
            <a:extLst>
              <a:ext uri="{FF2B5EF4-FFF2-40B4-BE49-F238E27FC236}">
                <a16:creationId xmlns:a16="http://schemas.microsoft.com/office/drawing/2014/main" id="{AA5CCD23-EF67-650E-A8D1-5927E8EF3267}"/>
              </a:ext>
            </a:extLst>
          </p:cNvPr>
          <p:cNvGrpSpPr/>
          <p:nvPr/>
        </p:nvGrpSpPr>
        <p:grpSpPr>
          <a:xfrm>
            <a:off x="0" y="-3545"/>
            <a:ext cx="9144000" cy="425271"/>
            <a:chOff x="0" y="-3545"/>
            <a:chExt cx="9144000" cy="425271"/>
          </a:xfrm>
        </p:grpSpPr>
        <p:sp>
          <p:nvSpPr>
            <p:cNvPr id="4" name="Shape 0">
              <a:extLst>
                <a:ext uri="{FF2B5EF4-FFF2-40B4-BE49-F238E27FC236}">
                  <a16:creationId xmlns:a16="http://schemas.microsoft.com/office/drawing/2014/main" id="{4361F099-00A7-BAC5-F1CF-B434316532EE}"/>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Cleaned</a:t>
              </a:r>
            </a:p>
          </p:txBody>
        </p:sp>
        <p:sp>
          <p:nvSpPr>
            <p:cNvPr id="5" name="Shape 5">
              <a:extLst>
                <a:ext uri="{FF2B5EF4-FFF2-40B4-BE49-F238E27FC236}">
                  <a16:creationId xmlns:a16="http://schemas.microsoft.com/office/drawing/2014/main" id="{2831B44A-B6AA-BC74-AF91-B14CDB0F06FD}"/>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8" name="Shape 26"/>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29" name="Text 27"/>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30" name="Text 28"/>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9</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nvGrpSpPr>
          <p:cNvPr id="32" name="Group 31">
            <a:extLst>
              <a:ext uri="{FF2B5EF4-FFF2-40B4-BE49-F238E27FC236}">
                <a16:creationId xmlns:a16="http://schemas.microsoft.com/office/drawing/2014/main" id="{8565BE81-B63B-E6F2-D15A-8CF803E33CA7}"/>
              </a:ext>
            </a:extLst>
          </p:cNvPr>
          <p:cNvGrpSpPr/>
          <p:nvPr/>
        </p:nvGrpSpPr>
        <p:grpSpPr>
          <a:xfrm>
            <a:off x="64800" y="463010"/>
            <a:ext cx="8935895" cy="991390"/>
            <a:chOff x="119818" y="3348596"/>
            <a:chExt cx="8841302" cy="1292772"/>
          </a:xfrm>
          <a:solidFill>
            <a:srgbClr val="161B22"/>
          </a:solidFill>
        </p:grpSpPr>
        <p:sp>
          <p:nvSpPr>
            <p:cNvPr id="33" name="Shape 2">
              <a:extLst>
                <a:ext uri="{FF2B5EF4-FFF2-40B4-BE49-F238E27FC236}">
                  <a16:creationId xmlns:a16="http://schemas.microsoft.com/office/drawing/2014/main" id="{A98327EA-6C3D-2368-7E79-5AAD2A4992CD}"/>
                </a:ext>
              </a:extLst>
            </p:cNvPr>
            <p:cNvSpPr/>
            <p:nvPr/>
          </p:nvSpPr>
          <p:spPr>
            <a:xfrm>
              <a:off x="119818" y="3348596"/>
              <a:ext cx="8841302" cy="1292772"/>
            </a:xfrm>
            <a:prstGeom prst="rect">
              <a:avLst/>
            </a:prstGeom>
            <a:grpFill/>
            <a:ln w="12700">
              <a:solidFill>
                <a:srgbClr val="81A6C6"/>
              </a:solidFill>
              <a:prstDash val="solid"/>
            </a:ln>
            <a:effectLst>
              <a:outerShdw blurRad="63500" dist="25400" dir="8100000" algn="bl" rotWithShape="0">
                <a:srgbClr val="000000">
                  <a:alpha val="8000"/>
                </a:srgbClr>
              </a:outerShdw>
            </a:effectLst>
          </p:spPr>
          <p:txBody>
            <a:bodyPr anchor="ctr"/>
            <a:lstStyle/>
            <a:p>
              <a:r>
                <a:rPr lang="en-US" sz="1600" b="1" dirty="0">
                  <a:solidFill>
                    <a:srgbClr val="81A6C6"/>
                  </a:solidFill>
                </a:rPr>
                <a:t>Advanced Feature Engineering </a:t>
              </a:r>
            </a:p>
            <a:p>
              <a:r>
                <a:rPr lang="en-US" sz="1600" b="1" dirty="0">
                  <a:solidFill>
                    <a:srgbClr val="81A6C6"/>
                  </a:solidFill>
                </a:rPr>
                <a:t>Implementation:</a:t>
              </a:r>
              <a:r>
                <a:rPr lang="en-US" sz="1600" dirty="0">
                  <a:solidFill>
                    <a:srgbClr val="DCEAF8"/>
                  </a:solidFill>
                </a:rPr>
                <a:t> Calculated '</a:t>
              </a:r>
              <a:r>
                <a:rPr lang="en-US" sz="1600" dirty="0" err="1">
                  <a:solidFill>
                    <a:srgbClr val="DCEAF8"/>
                  </a:solidFill>
                </a:rPr>
                <a:t>Battery_Intensity</a:t>
              </a:r>
              <a:r>
                <a:rPr lang="en-US" sz="1600" dirty="0">
                  <a:solidFill>
                    <a:srgbClr val="DCEAF8"/>
                  </a:solidFill>
                </a:rPr>
                <a:t>' and mapped numerical classes into descriptive labels (e.g., Heavy, Addicted).</a:t>
              </a:r>
            </a:p>
            <a:p>
              <a:r>
                <a:rPr lang="en-US" sz="1600" b="1" dirty="0">
                  <a:solidFill>
                    <a:srgbClr val="81A6C6"/>
                  </a:solidFill>
                </a:rPr>
                <a:t>Value:</a:t>
              </a:r>
              <a:r>
                <a:rPr lang="en-US" sz="1600" dirty="0">
                  <a:solidFill>
                    <a:srgbClr val="DCEAF8"/>
                  </a:solidFill>
                </a:rPr>
                <a:t> Transformed raw data into meaningful behavioral indicators for better prediction accuracy</a:t>
              </a:r>
              <a:r>
                <a:rPr lang="en-US" sz="1600" dirty="0"/>
                <a:t>.</a:t>
              </a:r>
            </a:p>
          </p:txBody>
        </p:sp>
        <p:sp>
          <p:nvSpPr>
            <p:cNvPr id="34" name="Shape 3">
              <a:extLst>
                <a:ext uri="{FF2B5EF4-FFF2-40B4-BE49-F238E27FC236}">
                  <a16:creationId xmlns:a16="http://schemas.microsoft.com/office/drawing/2014/main" id="{3A4AB528-C36D-F167-7D8B-7374189F5B4D}"/>
                </a:ext>
              </a:extLst>
            </p:cNvPr>
            <p:cNvSpPr/>
            <p:nvPr/>
          </p:nvSpPr>
          <p:spPr>
            <a:xfrm>
              <a:off x="119818" y="3348596"/>
              <a:ext cx="58294" cy="1292772"/>
            </a:xfrm>
            <a:prstGeom prst="rect">
              <a:avLst/>
            </a:prstGeom>
            <a:solidFill>
              <a:srgbClr val="81A6C6"/>
            </a:solidFill>
            <a:ln w="12700">
              <a:solidFill>
                <a:srgbClr val="81A6C6"/>
              </a:solidFill>
              <a:prstDash val="solid"/>
            </a:ln>
          </p:spPr>
          <p:txBody>
            <a:bodyPr anchor="ctr"/>
            <a:lstStyle/>
            <a:p>
              <a:endParaRPr lang="en-US"/>
            </a:p>
          </p:txBody>
        </p:sp>
      </p:grpSp>
      <p:pic>
        <p:nvPicPr>
          <p:cNvPr id="36" name="Picture 35">
            <a:extLst>
              <a:ext uri="{FF2B5EF4-FFF2-40B4-BE49-F238E27FC236}">
                <a16:creationId xmlns:a16="http://schemas.microsoft.com/office/drawing/2014/main" id="{266ACF2E-3D8C-7F15-32D1-077C30832DAC}"/>
              </a:ext>
            </a:extLst>
          </p:cNvPr>
          <p:cNvPicPr>
            <a:picLocks noChangeAspect="1"/>
          </p:cNvPicPr>
          <p:nvPr/>
        </p:nvPicPr>
        <p:blipFill>
          <a:blip r:embed="rId3"/>
          <a:stretch>
            <a:fillRect/>
          </a:stretch>
        </p:blipFill>
        <p:spPr>
          <a:xfrm>
            <a:off x="94259" y="1567101"/>
            <a:ext cx="8935894" cy="3184806"/>
          </a:xfrm>
          <a:prstGeom prst="rect">
            <a:avLst/>
          </a:prstGeom>
        </p:spPr>
      </p:pic>
      <p:grpSp>
        <p:nvGrpSpPr>
          <p:cNvPr id="3" name="Group 2">
            <a:extLst>
              <a:ext uri="{FF2B5EF4-FFF2-40B4-BE49-F238E27FC236}">
                <a16:creationId xmlns:a16="http://schemas.microsoft.com/office/drawing/2014/main" id="{51A7D4AE-B067-4AC6-8705-ABEAE2141146}"/>
              </a:ext>
            </a:extLst>
          </p:cNvPr>
          <p:cNvGrpSpPr/>
          <p:nvPr/>
        </p:nvGrpSpPr>
        <p:grpSpPr>
          <a:xfrm>
            <a:off x="0" y="-3545"/>
            <a:ext cx="9144000" cy="425271"/>
            <a:chOff x="0" y="-3545"/>
            <a:chExt cx="9144000" cy="425271"/>
          </a:xfrm>
        </p:grpSpPr>
        <p:sp>
          <p:nvSpPr>
            <p:cNvPr id="4" name="Shape 0">
              <a:extLst>
                <a:ext uri="{FF2B5EF4-FFF2-40B4-BE49-F238E27FC236}">
                  <a16:creationId xmlns:a16="http://schemas.microsoft.com/office/drawing/2014/main" id="{A1E44008-C57B-3FE0-3D97-AD7EBA5969CB}"/>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Advanced Feature Engineering </a:t>
              </a:r>
            </a:p>
          </p:txBody>
        </p:sp>
        <p:sp>
          <p:nvSpPr>
            <p:cNvPr id="5" name="Shape 5">
              <a:extLst>
                <a:ext uri="{FF2B5EF4-FFF2-40B4-BE49-F238E27FC236}">
                  <a16:creationId xmlns:a16="http://schemas.microsoft.com/office/drawing/2014/main" id="{11E2FFA9-D092-0C6D-CCE5-FA9A2C26EAA8}"/>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8" name="Shape 26"/>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dirty="0"/>
          </a:p>
        </p:txBody>
      </p:sp>
      <p:sp>
        <p:nvSpPr>
          <p:cNvPr id="29" name="Text 27"/>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solidFill>
                <a:latin typeface="Calibri" pitchFamily="34" charset="0"/>
                <a:ea typeface="Calibri" pitchFamily="34" charset="-122"/>
                <a:cs typeface="Calibri" pitchFamily="34" charset="-120"/>
              </a:rPr>
              <a:t>Data Analysis Project</a:t>
            </a:r>
            <a:endParaRPr lang="en-US" sz="900" dirty="0">
              <a:solidFill>
                <a:schemeClr val="bg1"/>
              </a:solidFill>
            </a:endParaRPr>
          </a:p>
        </p:txBody>
      </p:sp>
      <p:sp>
        <p:nvSpPr>
          <p:cNvPr id="30" name="Text 28"/>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10</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nvGrpSpPr>
          <p:cNvPr id="7" name="Group 6">
            <a:extLst>
              <a:ext uri="{FF2B5EF4-FFF2-40B4-BE49-F238E27FC236}">
                <a16:creationId xmlns:a16="http://schemas.microsoft.com/office/drawing/2014/main" id="{FD722A84-F9E1-B2B0-EF5C-7F03A6F4DA0D}"/>
              </a:ext>
            </a:extLst>
          </p:cNvPr>
          <p:cNvGrpSpPr/>
          <p:nvPr/>
        </p:nvGrpSpPr>
        <p:grpSpPr>
          <a:xfrm>
            <a:off x="4669049" y="513797"/>
            <a:ext cx="4355133" cy="1150092"/>
            <a:chOff x="4691818" y="643396"/>
            <a:chExt cx="4332366" cy="1150092"/>
          </a:xfrm>
        </p:grpSpPr>
        <p:sp>
          <p:nvSpPr>
            <p:cNvPr id="32" name="Shape 2">
              <a:extLst>
                <a:ext uri="{FF2B5EF4-FFF2-40B4-BE49-F238E27FC236}">
                  <a16:creationId xmlns:a16="http://schemas.microsoft.com/office/drawing/2014/main" id="{6A3A65C7-A62E-7636-9995-290EC1E2022A}"/>
                </a:ext>
              </a:extLst>
            </p:cNvPr>
            <p:cNvSpPr/>
            <p:nvPr/>
          </p:nvSpPr>
          <p:spPr>
            <a:xfrm>
              <a:off x="4691818" y="643397"/>
              <a:ext cx="4332366" cy="1150091"/>
            </a:xfrm>
            <a:prstGeom prst="rect">
              <a:avLst/>
            </a:prstGeom>
            <a:solidFill>
              <a:srgbClr val="161B22">
                <a:alpha val="80000"/>
              </a:srgbClr>
            </a:solidFill>
            <a:ln w="12700">
              <a:solidFill>
                <a:srgbClr val="81A6C6"/>
              </a:solidFill>
              <a:prstDash val="solid"/>
            </a:ln>
            <a:effectLst>
              <a:outerShdw blurRad="63500" dist="25400" dir="8100000" algn="bl" rotWithShape="0">
                <a:srgbClr val="000000">
                  <a:alpha val="8000"/>
                </a:srgbClr>
              </a:outerShdw>
            </a:effectLst>
          </p:spPr>
          <p:txBody>
            <a:bodyPr/>
            <a:lstStyle/>
            <a:p>
              <a:r>
                <a:rPr lang="en-US" sz="1400" b="1" dirty="0">
                  <a:solidFill>
                    <a:srgbClr val="81A6C6"/>
                  </a:solidFill>
                </a:rPr>
                <a:t>Data Visualization (EDA)</a:t>
              </a:r>
              <a:r>
                <a:rPr lang="ar-EG" sz="1400" b="1" dirty="0">
                  <a:solidFill>
                    <a:srgbClr val="81A6C6"/>
                  </a:solidFill>
                </a:rPr>
                <a:t> </a:t>
              </a:r>
              <a:endParaRPr lang="en-US" sz="1400" b="1" dirty="0">
                <a:solidFill>
                  <a:srgbClr val="81A6C6"/>
                </a:solidFill>
              </a:endParaRPr>
            </a:p>
            <a:p>
              <a:r>
                <a:rPr lang="en-US" sz="1400" b="1" dirty="0">
                  <a:solidFill>
                    <a:srgbClr val="81A6C6"/>
                  </a:solidFill>
                </a:rPr>
                <a:t>Implementation: </a:t>
              </a:r>
              <a:r>
                <a:rPr lang="en-US" sz="1400" dirty="0">
                  <a:solidFill>
                    <a:srgbClr val="F0F6FC"/>
                  </a:solidFill>
                </a:rPr>
                <a:t>Created a Scatter Plot to analyze the relationship between Screen Time and Battery Drain.</a:t>
              </a:r>
            </a:p>
            <a:p>
              <a:r>
                <a:rPr lang="en-US" sz="1400" b="1" dirty="0">
                  <a:solidFill>
                    <a:srgbClr val="81A6C6"/>
                  </a:solidFill>
                </a:rPr>
                <a:t>Value:</a:t>
              </a:r>
              <a:r>
                <a:rPr lang="en-US" sz="1400" dirty="0">
                  <a:solidFill>
                    <a:srgbClr val="F0F6FC"/>
                  </a:solidFill>
                </a:rPr>
                <a:t> Visually confirmed a strong positive correlation between usage and battery consumption.</a:t>
              </a:r>
            </a:p>
          </p:txBody>
        </p:sp>
        <p:sp>
          <p:nvSpPr>
            <p:cNvPr id="33" name="Shape 3">
              <a:extLst>
                <a:ext uri="{FF2B5EF4-FFF2-40B4-BE49-F238E27FC236}">
                  <a16:creationId xmlns:a16="http://schemas.microsoft.com/office/drawing/2014/main" id="{07DC5A92-88A4-F5F3-11EF-9203489CE143}"/>
                </a:ext>
              </a:extLst>
            </p:cNvPr>
            <p:cNvSpPr/>
            <p:nvPr/>
          </p:nvSpPr>
          <p:spPr>
            <a:xfrm>
              <a:off x="4691818" y="643396"/>
              <a:ext cx="45719" cy="1150091"/>
            </a:xfrm>
            <a:prstGeom prst="rect">
              <a:avLst/>
            </a:prstGeom>
            <a:solidFill>
              <a:srgbClr val="81A6C6"/>
            </a:solidFill>
            <a:ln w="12700">
              <a:solidFill>
                <a:srgbClr val="81A6C6"/>
              </a:solidFill>
              <a:prstDash val="solid"/>
            </a:ln>
          </p:spPr>
          <p:txBody>
            <a:bodyPr/>
            <a:lstStyle/>
            <a:p>
              <a:endParaRPr lang="en-US" dirty="0"/>
            </a:p>
          </p:txBody>
        </p:sp>
      </p:grpSp>
      <p:pic>
        <p:nvPicPr>
          <p:cNvPr id="35" name="Picture 34">
            <a:extLst>
              <a:ext uri="{FF2B5EF4-FFF2-40B4-BE49-F238E27FC236}">
                <a16:creationId xmlns:a16="http://schemas.microsoft.com/office/drawing/2014/main" id="{5BC4696F-41B3-71A8-543A-AB964F4384DC}"/>
              </a:ext>
            </a:extLst>
          </p:cNvPr>
          <p:cNvPicPr>
            <a:picLocks noChangeAspect="1"/>
          </p:cNvPicPr>
          <p:nvPr/>
        </p:nvPicPr>
        <p:blipFill>
          <a:blip r:embed="rId2"/>
          <a:stretch>
            <a:fillRect/>
          </a:stretch>
        </p:blipFill>
        <p:spPr>
          <a:xfrm>
            <a:off x="142583" y="513797"/>
            <a:ext cx="4452183" cy="1150091"/>
          </a:xfrm>
          <a:prstGeom prst="rect">
            <a:avLst/>
          </a:prstGeom>
        </p:spPr>
      </p:pic>
      <p:pic>
        <p:nvPicPr>
          <p:cNvPr id="37" name="Picture 36">
            <a:extLst>
              <a:ext uri="{FF2B5EF4-FFF2-40B4-BE49-F238E27FC236}">
                <a16:creationId xmlns:a16="http://schemas.microsoft.com/office/drawing/2014/main" id="{D0D473D1-F35F-D88E-720D-D24A173C6A14}"/>
              </a:ext>
            </a:extLst>
          </p:cNvPr>
          <p:cNvPicPr>
            <a:picLocks noChangeAspect="1"/>
          </p:cNvPicPr>
          <p:nvPr/>
        </p:nvPicPr>
        <p:blipFill>
          <a:blip r:embed="rId3"/>
          <a:stretch>
            <a:fillRect/>
          </a:stretch>
        </p:blipFill>
        <p:spPr>
          <a:xfrm>
            <a:off x="119817" y="1772832"/>
            <a:ext cx="4452183" cy="2856870"/>
          </a:xfrm>
          <a:prstGeom prst="rect">
            <a:avLst/>
          </a:prstGeom>
        </p:spPr>
      </p:pic>
      <p:grpSp>
        <p:nvGrpSpPr>
          <p:cNvPr id="42" name="Group 41">
            <a:extLst>
              <a:ext uri="{FF2B5EF4-FFF2-40B4-BE49-F238E27FC236}">
                <a16:creationId xmlns:a16="http://schemas.microsoft.com/office/drawing/2014/main" id="{7031AFDF-946F-A07F-B636-FB2430A1C683}"/>
              </a:ext>
            </a:extLst>
          </p:cNvPr>
          <p:cNvGrpSpPr/>
          <p:nvPr/>
        </p:nvGrpSpPr>
        <p:grpSpPr>
          <a:xfrm>
            <a:off x="4669050" y="1772833"/>
            <a:ext cx="4355133" cy="2856869"/>
            <a:chOff x="4691817" y="1715289"/>
            <a:chExt cx="4332366" cy="2175641"/>
          </a:xfrm>
          <a:solidFill>
            <a:srgbClr val="161B22"/>
          </a:solidFill>
        </p:grpSpPr>
        <p:sp>
          <p:nvSpPr>
            <p:cNvPr id="39" name="Shape 2">
              <a:extLst>
                <a:ext uri="{FF2B5EF4-FFF2-40B4-BE49-F238E27FC236}">
                  <a16:creationId xmlns:a16="http://schemas.microsoft.com/office/drawing/2014/main" id="{3937F474-BA1F-B5E3-48B5-227977B566DB}"/>
                </a:ext>
              </a:extLst>
            </p:cNvPr>
            <p:cNvSpPr/>
            <p:nvPr/>
          </p:nvSpPr>
          <p:spPr>
            <a:xfrm>
              <a:off x="4691817" y="1715289"/>
              <a:ext cx="4332366" cy="2175641"/>
            </a:xfrm>
            <a:prstGeom prst="rect">
              <a:avLst/>
            </a:prstGeom>
            <a:grpFill/>
            <a:ln w="12700">
              <a:solidFill>
                <a:srgbClr val="81A6C6"/>
              </a:solidFill>
              <a:prstDash val="solid"/>
            </a:ln>
            <a:effectLst>
              <a:outerShdw blurRad="63500" dist="25400" dir="8100000" algn="bl" rotWithShape="0">
                <a:srgbClr val="000000">
                  <a:alpha val="8000"/>
                </a:srgbClr>
              </a:outerShdw>
            </a:effectLst>
          </p:spPr>
          <p:txBody>
            <a:bodyPr anchor="ctr"/>
            <a:lstStyle/>
            <a:p>
              <a:r>
                <a:rPr lang="en-US" b="1" dirty="0">
                  <a:solidFill>
                    <a:srgbClr val="81A6C6"/>
                  </a:solidFill>
                </a:rPr>
                <a:t>Implementation:</a:t>
              </a:r>
              <a:r>
                <a:rPr lang="en-US" dirty="0">
                  <a:solidFill>
                    <a:srgbClr val="DCEAF8"/>
                  </a:solidFill>
                </a:rPr>
                <a:t> </a:t>
              </a:r>
              <a:r>
                <a:rPr lang="en-US" dirty="0">
                  <a:solidFill>
                    <a:srgbClr val="F0F6FC"/>
                  </a:solidFill>
                </a:rPr>
                <a:t>Generated a clear visualization using the '</a:t>
              </a:r>
              <a:r>
                <a:rPr lang="en-US" dirty="0" err="1">
                  <a:solidFill>
                    <a:srgbClr val="F0F6FC"/>
                  </a:solidFill>
                </a:rPr>
                <a:t>Viridis</a:t>
              </a:r>
              <a:r>
                <a:rPr lang="en-US" dirty="0">
                  <a:solidFill>
                    <a:srgbClr val="F0F6FC"/>
                  </a:solidFill>
                </a:rPr>
                <a:t>' color palette to differentiate user segments.</a:t>
              </a:r>
            </a:p>
            <a:p>
              <a:r>
                <a:rPr lang="en-US" b="1" dirty="0">
                  <a:solidFill>
                    <a:srgbClr val="81A6C6"/>
                  </a:solidFill>
                </a:rPr>
                <a:t>Value:</a:t>
              </a:r>
              <a:r>
                <a:rPr lang="en-US" dirty="0">
                  <a:solidFill>
                    <a:srgbClr val="F0F6FC"/>
                  </a:solidFill>
                </a:rPr>
                <a:t> Demonstrates that user behavior can be accurately segmented based on device usage patterns.</a:t>
              </a:r>
            </a:p>
          </p:txBody>
        </p:sp>
        <p:sp>
          <p:nvSpPr>
            <p:cNvPr id="41" name="Shape 10">
              <a:extLst>
                <a:ext uri="{FF2B5EF4-FFF2-40B4-BE49-F238E27FC236}">
                  <a16:creationId xmlns:a16="http://schemas.microsoft.com/office/drawing/2014/main" id="{D51969FE-249F-268D-49D4-2B26F7140CC4}"/>
                </a:ext>
              </a:extLst>
            </p:cNvPr>
            <p:cNvSpPr/>
            <p:nvPr/>
          </p:nvSpPr>
          <p:spPr>
            <a:xfrm>
              <a:off x="4691817" y="1715289"/>
              <a:ext cx="45719" cy="2175641"/>
            </a:xfrm>
            <a:prstGeom prst="rect">
              <a:avLst/>
            </a:prstGeom>
            <a:solidFill>
              <a:srgbClr val="81A6C6"/>
            </a:solidFill>
            <a:ln w="12700">
              <a:solidFill>
                <a:srgbClr val="81A6C6"/>
              </a:solidFill>
              <a:prstDash val="solid"/>
            </a:ln>
          </p:spPr>
          <p:txBody>
            <a:bodyPr anchor="ctr"/>
            <a:lstStyle/>
            <a:p>
              <a:endParaRPr lang="en-US" dirty="0"/>
            </a:p>
          </p:txBody>
        </p:sp>
      </p:grpSp>
      <p:grpSp>
        <p:nvGrpSpPr>
          <p:cNvPr id="8" name="Group 7">
            <a:extLst>
              <a:ext uri="{FF2B5EF4-FFF2-40B4-BE49-F238E27FC236}">
                <a16:creationId xmlns:a16="http://schemas.microsoft.com/office/drawing/2014/main" id="{554871A9-3279-2C97-D0EA-63BB1B47C5A2}"/>
              </a:ext>
            </a:extLst>
          </p:cNvPr>
          <p:cNvGrpSpPr/>
          <p:nvPr/>
        </p:nvGrpSpPr>
        <p:grpSpPr>
          <a:xfrm>
            <a:off x="0" y="-3545"/>
            <a:ext cx="9144000" cy="425271"/>
            <a:chOff x="0" y="-3545"/>
            <a:chExt cx="9144000" cy="425271"/>
          </a:xfrm>
        </p:grpSpPr>
        <p:sp>
          <p:nvSpPr>
            <p:cNvPr id="3" name="Shape 0">
              <a:extLst>
                <a:ext uri="{FF2B5EF4-FFF2-40B4-BE49-F238E27FC236}">
                  <a16:creationId xmlns:a16="http://schemas.microsoft.com/office/drawing/2014/main" id="{7680764E-E856-340C-BEFD-9094C84F264A}"/>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Data Visualization</a:t>
              </a:r>
              <a:r>
                <a:rPr lang="en-US" b="1" dirty="0">
                  <a:solidFill>
                    <a:srgbClr val="81A6C6"/>
                  </a:solidFill>
                  <a:latin typeface="Abadi ExtraLight" panose="020B0204020104020204" pitchFamily="34" charset="0"/>
                </a:rPr>
                <a:t> (</a:t>
              </a:r>
              <a:r>
                <a:rPr lang="en-US" b="1" dirty="0">
                  <a:solidFill>
                    <a:srgbClr val="81A6C6"/>
                  </a:solidFill>
                  <a:latin typeface="Calibri" pitchFamily="34" charset="0"/>
                  <a:ea typeface="Calibri" pitchFamily="34" charset="-122"/>
                  <a:cs typeface="Calibri" pitchFamily="34" charset="-120"/>
                </a:rPr>
                <a:t>EDA</a:t>
              </a:r>
              <a:r>
                <a:rPr lang="en-US" b="1" dirty="0">
                  <a:solidFill>
                    <a:srgbClr val="81A6C6"/>
                  </a:solidFill>
                  <a:latin typeface="Abadi ExtraLight" panose="020B0204020104020204" pitchFamily="34" charset="0"/>
                </a:rPr>
                <a:t>)</a:t>
              </a:r>
              <a:endParaRPr lang="en-US" b="1" dirty="0">
                <a:solidFill>
                  <a:srgbClr val="81A6C6"/>
                </a:solidFill>
              </a:endParaRPr>
            </a:p>
          </p:txBody>
        </p:sp>
        <p:sp>
          <p:nvSpPr>
            <p:cNvPr id="4" name="Shape 5">
              <a:extLst>
                <a:ext uri="{FF2B5EF4-FFF2-40B4-BE49-F238E27FC236}">
                  <a16:creationId xmlns:a16="http://schemas.microsoft.com/office/drawing/2014/main" id="{7C3494F0-E06A-0C19-86AA-BB2E341B7E0C}"/>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8" name="Shape 26"/>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29" name="Text 27"/>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rgbClr val="161B22"/>
                </a:solidFill>
                <a:latin typeface="Calibri" pitchFamily="34" charset="0"/>
                <a:ea typeface="Calibri" pitchFamily="34" charset="-122"/>
                <a:cs typeface="Calibri" pitchFamily="34" charset="-120"/>
              </a:rPr>
              <a:t>Data Analysis Project</a:t>
            </a:r>
            <a:endParaRPr lang="en-US" sz="900" dirty="0">
              <a:solidFill>
                <a:srgbClr val="161B22"/>
              </a:solidFill>
            </a:endParaRPr>
          </a:p>
        </p:txBody>
      </p:sp>
      <p:sp>
        <p:nvSpPr>
          <p:cNvPr id="30" name="Text 28"/>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11</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sp>
        <p:nvSpPr>
          <p:cNvPr id="32" name="Shape 2">
            <a:extLst>
              <a:ext uri="{FF2B5EF4-FFF2-40B4-BE49-F238E27FC236}">
                <a16:creationId xmlns:a16="http://schemas.microsoft.com/office/drawing/2014/main" id="{CEDD7C9B-A6E3-8235-562F-47F36B1BCE27}"/>
              </a:ext>
            </a:extLst>
          </p:cNvPr>
          <p:cNvSpPr/>
          <p:nvPr/>
        </p:nvSpPr>
        <p:spPr>
          <a:xfrm>
            <a:off x="64801" y="463544"/>
            <a:ext cx="8948508" cy="1163656"/>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nchor="ctr"/>
          <a:lstStyle/>
          <a:p>
            <a:r>
              <a:rPr lang="en-US" sz="1400" b="1" dirty="0">
                <a:solidFill>
                  <a:srgbClr val="81A6C6"/>
                </a:solidFill>
              </a:rPr>
              <a:t>Creative Feature Engineering </a:t>
            </a:r>
          </a:p>
          <a:p>
            <a:r>
              <a:rPr lang="en-US" sz="1400" b="1" dirty="0">
                <a:solidFill>
                  <a:srgbClr val="81A6C6"/>
                </a:solidFill>
              </a:rPr>
              <a:t>Implementation: </a:t>
            </a:r>
            <a:r>
              <a:rPr lang="en-US" sz="1400" dirty="0">
                <a:solidFill>
                  <a:srgbClr val="DCEAF8"/>
                </a:solidFill>
              </a:rPr>
              <a:t>Developed custom metrics like '</a:t>
            </a:r>
            <a:r>
              <a:rPr lang="en-US" sz="1400" dirty="0" err="1">
                <a:solidFill>
                  <a:srgbClr val="DCEAF8"/>
                </a:solidFill>
              </a:rPr>
              <a:t>App_Distraction_Index</a:t>
            </a:r>
            <a:r>
              <a:rPr lang="en-US" sz="1400" dirty="0">
                <a:solidFill>
                  <a:srgbClr val="DCEAF8"/>
                </a:solidFill>
              </a:rPr>
              <a:t>' and categorized users into generations (Gen Z, Millennials, etc.) based on age.</a:t>
            </a:r>
          </a:p>
          <a:p>
            <a:r>
              <a:rPr lang="en-US" sz="1400" b="1" dirty="0">
                <a:solidFill>
                  <a:srgbClr val="81A6C6"/>
                </a:solidFill>
              </a:rPr>
              <a:t>Value:</a:t>
            </a:r>
            <a:r>
              <a:rPr lang="en-US" sz="1400" dirty="0">
                <a:solidFill>
                  <a:srgbClr val="DCEAF8"/>
                </a:solidFill>
              </a:rPr>
              <a:t> Provides more granular insights into user habits, allowing for a deeper understanding of behavior across different age groups.</a:t>
            </a:r>
          </a:p>
        </p:txBody>
      </p:sp>
      <p:pic>
        <p:nvPicPr>
          <p:cNvPr id="35" name="Picture 34">
            <a:extLst>
              <a:ext uri="{FF2B5EF4-FFF2-40B4-BE49-F238E27FC236}">
                <a16:creationId xmlns:a16="http://schemas.microsoft.com/office/drawing/2014/main" id="{2C2D5D42-951F-0D25-7D18-0C90318572C2}"/>
              </a:ext>
            </a:extLst>
          </p:cNvPr>
          <p:cNvPicPr>
            <a:picLocks noChangeAspect="1"/>
          </p:cNvPicPr>
          <p:nvPr/>
        </p:nvPicPr>
        <p:blipFill>
          <a:blip r:embed="rId2"/>
          <a:stretch>
            <a:fillRect/>
          </a:stretch>
        </p:blipFill>
        <p:spPr>
          <a:xfrm>
            <a:off x="97746" y="1714499"/>
            <a:ext cx="8948508" cy="3066472"/>
          </a:xfrm>
          <a:prstGeom prst="rect">
            <a:avLst/>
          </a:prstGeom>
        </p:spPr>
      </p:pic>
      <p:sp>
        <p:nvSpPr>
          <p:cNvPr id="4" name="Shape 0">
            <a:extLst>
              <a:ext uri="{FF2B5EF4-FFF2-40B4-BE49-F238E27FC236}">
                <a16:creationId xmlns:a16="http://schemas.microsoft.com/office/drawing/2014/main" id="{D81DC3D8-04D4-34FD-3BB8-C5E4AD413F84}"/>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Creative Feature Engineering</a:t>
            </a:r>
          </a:p>
        </p:txBody>
      </p:sp>
      <p:sp>
        <p:nvSpPr>
          <p:cNvPr id="5" name="Shape 5">
            <a:extLst>
              <a:ext uri="{FF2B5EF4-FFF2-40B4-BE49-F238E27FC236}">
                <a16:creationId xmlns:a16="http://schemas.microsoft.com/office/drawing/2014/main" id="{47320DCD-376B-E06C-89B2-17892CB222B7}"/>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sp>
        <p:nvSpPr>
          <p:cNvPr id="8" name="Shape 5">
            <a:extLst>
              <a:ext uri="{FF2B5EF4-FFF2-40B4-BE49-F238E27FC236}">
                <a16:creationId xmlns:a16="http://schemas.microsoft.com/office/drawing/2014/main" id="{4CAD2A38-3083-C843-539C-26D4A666658C}"/>
              </a:ext>
            </a:extLst>
          </p:cNvPr>
          <p:cNvSpPr/>
          <p:nvPr/>
        </p:nvSpPr>
        <p:spPr>
          <a:xfrm>
            <a:off x="71003" y="463544"/>
            <a:ext cx="59688" cy="1163656"/>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8" name="Shape 26"/>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29" name="Text 27"/>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30" name="Text 28"/>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12</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nvGrpSpPr>
          <p:cNvPr id="31" name="Group 30">
            <a:extLst>
              <a:ext uri="{FF2B5EF4-FFF2-40B4-BE49-F238E27FC236}">
                <a16:creationId xmlns:a16="http://schemas.microsoft.com/office/drawing/2014/main" id="{8E16A0B8-A355-E5F2-159F-0403ED146081}"/>
              </a:ext>
            </a:extLst>
          </p:cNvPr>
          <p:cNvGrpSpPr/>
          <p:nvPr/>
        </p:nvGrpSpPr>
        <p:grpSpPr>
          <a:xfrm>
            <a:off x="4568267" y="465524"/>
            <a:ext cx="4452183" cy="1809677"/>
            <a:chOff x="119817" y="3296553"/>
            <a:chExt cx="8813545" cy="1326349"/>
          </a:xfrm>
          <a:solidFill>
            <a:srgbClr val="161B22"/>
          </a:solidFill>
        </p:grpSpPr>
        <p:sp>
          <p:nvSpPr>
            <p:cNvPr id="32" name="Shape 2">
              <a:extLst>
                <a:ext uri="{FF2B5EF4-FFF2-40B4-BE49-F238E27FC236}">
                  <a16:creationId xmlns:a16="http://schemas.microsoft.com/office/drawing/2014/main" id="{179D6540-63D5-9E6F-0CDA-F08EAC4B6738}"/>
                </a:ext>
              </a:extLst>
            </p:cNvPr>
            <p:cNvSpPr/>
            <p:nvPr/>
          </p:nvSpPr>
          <p:spPr>
            <a:xfrm>
              <a:off x="119817" y="3296553"/>
              <a:ext cx="8813545" cy="1292772"/>
            </a:xfrm>
            <a:prstGeom prst="rect">
              <a:avLst/>
            </a:prstGeom>
            <a:grpFill/>
            <a:ln w="12700">
              <a:solidFill>
                <a:srgbClr val="81A6C6"/>
              </a:solidFill>
              <a:prstDash val="solid"/>
            </a:ln>
            <a:effectLst>
              <a:outerShdw blurRad="63500" dist="25400" dir="8100000" algn="bl" rotWithShape="0">
                <a:srgbClr val="000000">
                  <a:alpha val="8000"/>
                </a:srgbClr>
              </a:outerShdw>
            </a:effectLst>
          </p:spPr>
          <p:txBody>
            <a:bodyPr/>
            <a:lstStyle/>
            <a:p>
              <a:r>
                <a:rPr lang="en-US" sz="1400" b="1" dirty="0">
                  <a:solidFill>
                    <a:srgbClr val="81A6C6"/>
                  </a:solidFill>
                </a:rPr>
                <a:t>Professional Correlation Heatmap</a:t>
              </a:r>
              <a:r>
                <a:rPr lang="ar-EG" sz="1400" b="1" dirty="0">
                  <a:solidFill>
                    <a:srgbClr val="81A6C6"/>
                  </a:solidFill>
                </a:rPr>
                <a:t> </a:t>
              </a:r>
              <a:endParaRPr lang="en-US" sz="1400" b="1" dirty="0">
                <a:solidFill>
                  <a:srgbClr val="81A6C6"/>
                </a:solidFill>
              </a:endParaRPr>
            </a:p>
            <a:p>
              <a:r>
                <a:rPr lang="en-US" sz="1400" b="1" dirty="0">
                  <a:solidFill>
                    <a:srgbClr val="81A6C6"/>
                  </a:solidFill>
                </a:rPr>
                <a:t>Implementation: </a:t>
              </a:r>
              <a:r>
                <a:rPr lang="en-US" sz="1400" dirty="0">
                  <a:solidFill>
                    <a:srgbClr val="DCEAF8"/>
                  </a:solidFill>
                </a:rPr>
                <a:t>Generated a Correlation Matrix using only numeric data and visualized it with a Seaborn Heatmap, utilizing the </a:t>
              </a:r>
              <a:r>
                <a:rPr lang="en-US" sz="1400" dirty="0" err="1">
                  <a:solidFill>
                    <a:srgbClr val="DCEAF8"/>
                  </a:solidFill>
                </a:rPr>
                <a:t>coolwarm</a:t>
              </a:r>
              <a:r>
                <a:rPr lang="en-US" sz="1400" dirty="0">
                  <a:solidFill>
                    <a:srgbClr val="DCEAF8"/>
                  </a:solidFill>
                </a:rPr>
                <a:t> color palette for better contrast.</a:t>
              </a:r>
              <a:endParaRPr lang="ar-EG" sz="1400" dirty="0">
                <a:solidFill>
                  <a:srgbClr val="DCEAF8"/>
                </a:solidFill>
              </a:endParaRPr>
            </a:p>
            <a:p>
              <a:r>
                <a:rPr lang="en-US" sz="1400" b="1" dirty="0">
                  <a:solidFill>
                    <a:srgbClr val="81A6C6"/>
                  </a:solidFill>
                </a:rPr>
                <a:t>Value:</a:t>
              </a:r>
              <a:r>
                <a:rPr lang="en-US" sz="1400" dirty="0">
                  <a:solidFill>
                    <a:srgbClr val="DCEAF8"/>
                  </a:solidFill>
                </a:rPr>
                <a:t> Provides a comprehensive overview of how variables relate to each other, identifying key predictors like the strong link between Screen Time and Battery Drain</a:t>
              </a:r>
            </a:p>
          </p:txBody>
        </p:sp>
        <p:sp>
          <p:nvSpPr>
            <p:cNvPr id="33" name="Shape 3">
              <a:extLst>
                <a:ext uri="{FF2B5EF4-FFF2-40B4-BE49-F238E27FC236}">
                  <a16:creationId xmlns:a16="http://schemas.microsoft.com/office/drawing/2014/main" id="{F9789BAB-966B-666A-F833-47E379A4F505}"/>
                </a:ext>
              </a:extLst>
            </p:cNvPr>
            <p:cNvSpPr/>
            <p:nvPr/>
          </p:nvSpPr>
          <p:spPr>
            <a:xfrm>
              <a:off x="127207" y="3330130"/>
              <a:ext cx="94681" cy="1292772"/>
            </a:xfrm>
            <a:prstGeom prst="rect">
              <a:avLst/>
            </a:prstGeom>
            <a:solidFill>
              <a:srgbClr val="81A6C6"/>
            </a:solidFill>
            <a:ln w="12700">
              <a:solidFill>
                <a:srgbClr val="81A6C6"/>
              </a:solidFill>
              <a:prstDash val="solid"/>
            </a:ln>
          </p:spPr>
          <p:txBody>
            <a:bodyPr/>
            <a:lstStyle/>
            <a:p>
              <a:endParaRPr lang="en-US" dirty="0"/>
            </a:p>
          </p:txBody>
        </p:sp>
      </p:grpSp>
      <p:pic>
        <p:nvPicPr>
          <p:cNvPr id="35" name="Picture 34">
            <a:extLst>
              <a:ext uri="{FF2B5EF4-FFF2-40B4-BE49-F238E27FC236}">
                <a16:creationId xmlns:a16="http://schemas.microsoft.com/office/drawing/2014/main" id="{3F583108-DADF-A69C-56D8-512F0BC0ADB7}"/>
              </a:ext>
            </a:extLst>
          </p:cNvPr>
          <p:cNvPicPr>
            <a:picLocks noChangeAspect="1"/>
          </p:cNvPicPr>
          <p:nvPr/>
        </p:nvPicPr>
        <p:blipFill>
          <a:blip r:embed="rId2"/>
          <a:stretch>
            <a:fillRect/>
          </a:stretch>
        </p:blipFill>
        <p:spPr>
          <a:xfrm>
            <a:off x="176147" y="511335"/>
            <a:ext cx="4287476" cy="1763864"/>
          </a:xfrm>
          <a:prstGeom prst="rect">
            <a:avLst/>
          </a:prstGeom>
        </p:spPr>
      </p:pic>
      <p:grpSp>
        <p:nvGrpSpPr>
          <p:cNvPr id="36" name="Group 35">
            <a:extLst>
              <a:ext uri="{FF2B5EF4-FFF2-40B4-BE49-F238E27FC236}">
                <a16:creationId xmlns:a16="http://schemas.microsoft.com/office/drawing/2014/main" id="{DBFC4038-15CB-E441-941D-73B89D7127C3}"/>
              </a:ext>
            </a:extLst>
          </p:cNvPr>
          <p:cNvGrpSpPr/>
          <p:nvPr/>
        </p:nvGrpSpPr>
        <p:grpSpPr>
          <a:xfrm>
            <a:off x="4568267" y="2368800"/>
            <a:ext cx="4455916" cy="2352063"/>
            <a:chOff x="4691817" y="1713253"/>
            <a:chExt cx="4335999" cy="2177677"/>
          </a:xfrm>
        </p:grpSpPr>
        <p:sp>
          <p:nvSpPr>
            <p:cNvPr id="37" name="Shape 2">
              <a:extLst>
                <a:ext uri="{FF2B5EF4-FFF2-40B4-BE49-F238E27FC236}">
                  <a16:creationId xmlns:a16="http://schemas.microsoft.com/office/drawing/2014/main" id="{3D35F738-D766-8C3F-050A-415BD57FE4C6}"/>
                </a:ext>
              </a:extLst>
            </p:cNvPr>
            <p:cNvSpPr/>
            <p:nvPr/>
          </p:nvSpPr>
          <p:spPr>
            <a:xfrm>
              <a:off x="4695450" y="1713253"/>
              <a:ext cx="4332366" cy="2175641"/>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nchor="ctr"/>
            <a:lstStyle/>
            <a:p>
              <a:r>
                <a:rPr lang="en-US" b="1" dirty="0">
                  <a:solidFill>
                    <a:srgbClr val="81A6C6"/>
                  </a:solidFill>
                </a:rPr>
                <a:t>Implementation:</a:t>
              </a:r>
              <a:r>
                <a:rPr lang="en-US" dirty="0">
                  <a:solidFill>
                    <a:srgbClr val="DCEAF8"/>
                  </a:solidFill>
                </a:rPr>
                <a:t> Generated a Correlation Matrix using Seaborn to visualize statistical relationships between numeric features.</a:t>
              </a:r>
              <a:endParaRPr lang="ar-EG" dirty="0">
                <a:solidFill>
                  <a:srgbClr val="DCEAF8"/>
                </a:solidFill>
              </a:endParaRPr>
            </a:p>
            <a:p>
              <a:r>
                <a:rPr lang="en-US" b="1" dirty="0">
                  <a:solidFill>
                    <a:srgbClr val="81A6C6"/>
                  </a:solidFill>
                </a:rPr>
                <a:t>Value:</a:t>
              </a:r>
              <a:r>
                <a:rPr lang="en-US" dirty="0">
                  <a:solidFill>
                    <a:srgbClr val="DCEAF8"/>
                  </a:solidFill>
                </a:rPr>
                <a:t> Confirmed a 95% correlation between screen time and battery drain, identifying the most critical predictors for the model.</a:t>
              </a:r>
            </a:p>
          </p:txBody>
        </p:sp>
        <p:sp>
          <p:nvSpPr>
            <p:cNvPr id="38" name="Shape 10">
              <a:extLst>
                <a:ext uri="{FF2B5EF4-FFF2-40B4-BE49-F238E27FC236}">
                  <a16:creationId xmlns:a16="http://schemas.microsoft.com/office/drawing/2014/main" id="{6F88FB60-1377-398F-BC16-C1AFDB693E36}"/>
                </a:ext>
              </a:extLst>
            </p:cNvPr>
            <p:cNvSpPr/>
            <p:nvPr/>
          </p:nvSpPr>
          <p:spPr>
            <a:xfrm>
              <a:off x="4691817" y="1715289"/>
              <a:ext cx="45719" cy="2175641"/>
            </a:xfrm>
            <a:prstGeom prst="rect">
              <a:avLst/>
            </a:prstGeom>
            <a:solidFill>
              <a:srgbClr val="81A6C6"/>
            </a:solidFill>
            <a:ln w="12700">
              <a:solidFill>
                <a:srgbClr val="81A6C6"/>
              </a:solidFill>
              <a:prstDash val="solid"/>
            </a:ln>
          </p:spPr>
          <p:txBody>
            <a:bodyPr anchor="ctr"/>
            <a:lstStyle/>
            <a:p>
              <a:endParaRPr lang="en-US"/>
            </a:p>
          </p:txBody>
        </p:sp>
      </p:grpSp>
      <p:pic>
        <p:nvPicPr>
          <p:cNvPr id="40" name="Picture 39">
            <a:extLst>
              <a:ext uri="{FF2B5EF4-FFF2-40B4-BE49-F238E27FC236}">
                <a16:creationId xmlns:a16="http://schemas.microsoft.com/office/drawing/2014/main" id="{7F1F7E20-EA1C-D895-4ED6-AB8F3E8F3D9B}"/>
              </a:ext>
            </a:extLst>
          </p:cNvPr>
          <p:cNvPicPr>
            <a:picLocks noChangeAspect="1"/>
          </p:cNvPicPr>
          <p:nvPr/>
        </p:nvPicPr>
        <p:blipFill>
          <a:blip r:embed="rId3"/>
          <a:stretch>
            <a:fillRect/>
          </a:stretch>
        </p:blipFill>
        <p:spPr>
          <a:xfrm>
            <a:off x="178112" y="2368520"/>
            <a:ext cx="4287476" cy="2349864"/>
          </a:xfrm>
          <a:prstGeom prst="rect">
            <a:avLst/>
          </a:prstGeom>
        </p:spPr>
      </p:pic>
      <p:grpSp>
        <p:nvGrpSpPr>
          <p:cNvPr id="3" name="Group 2">
            <a:extLst>
              <a:ext uri="{FF2B5EF4-FFF2-40B4-BE49-F238E27FC236}">
                <a16:creationId xmlns:a16="http://schemas.microsoft.com/office/drawing/2014/main" id="{3DFF2479-D508-FAC8-E91B-8267AC78F073}"/>
              </a:ext>
            </a:extLst>
          </p:cNvPr>
          <p:cNvGrpSpPr/>
          <p:nvPr/>
        </p:nvGrpSpPr>
        <p:grpSpPr>
          <a:xfrm>
            <a:off x="0" y="-3545"/>
            <a:ext cx="9144000" cy="425271"/>
            <a:chOff x="0" y="-3545"/>
            <a:chExt cx="9144000" cy="425271"/>
          </a:xfrm>
        </p:grpSpPr>
        <p:sp>
          <p:nvSpPr>
            <p:cNvPr id="4" name="Shape 0">
              <a:extLst>
                <a:ext uri="{FF2B5EF4-FFF2-40B4-BE49-F238E27FC236}">
                  <a16:creationId xmlns:a16="http://schemas.microsoft.com/office/drawing/2014/main" id="{C50BB0ED-EC61-2F4F-8624-B5667E3FC7D0}"/>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Professional Correlation Heatmap</a:t>
              </a:r>
              <a:r>
                <a:rPr lang="ar-EG" b="1" dirty="0">
                  <a:solidFill>
                    <a:srgbClr val="81A6C6"/>
                  </a:solidFill>
                  <a:latin typeface="Calibri" pitchFamily="34" charset="0"/>
                  <a:ea typeface="Calibri" pitchFamily="34" charset="-122"/>
                  <a:cs typeface="Calibri" pitchFamily="34" charset="-120"/>
                </a:rPr>
                <a:t> </a:t>
              </a:r>
              <a:endParaRPr lang="en-US" b="1" dirty="0">
                <a:solidFill>
                  <a:srgbClr val="81A6C6"/>
                </a:solidFill>
                <a:latin typeface="Calibri" pitchFamily="34" charset="0"/>
                <a:ea typeface="Calibri" pitchFamily="34" charset="-122"/>
                <a:cs typeface="Calibri" pitchFamily="34" charset="-120"/>
              </a:endParaRPr>
            </a:p>
          </p:txBody>
        </p:sp>
        <p:sp>
          <p:nvSpPr>
            <p:cNvPr id="5" name="Shape 5">
              <a:extLst>
                <a:ext uri="{FF2B5EF4-FFF2-40B4-BE49-F238E27FC236}">
                  <a16:creationId xmlns:a16="http://schemas.microsoft.com/office/drawing/2014/main" id="{E466F433-162C-CE58-EF12-AD3F03911A63}"/>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0BF701E-026F-8B2C-9211-F4736AFBFA2C}"/>
              </a:ext>
            </a:extLst>
          </p:cNvPr>
          <p:cNvGrpSpPr/>
          <p:nvPr/>
        </p:nvGrpSpPr>
        <p:grpSpPr>
          <a:xfrm>
            <a:off x="0" y="4864608"/>
            <a:ext cx="9144000" cy="278892"/>
            <a:chOff x="0" y="4864608"/>
            <a:chExt cx="9144000" cy="278892"/>
          </a:xfrm>
        </p:grpSpPr>
        <p:sp>
          <p:nvSpPr>
            <p:cNvPr id="31" name="Shape 29"/>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32" name="Text 30"/>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33" name="Text 31"/>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13</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sp>
        <p:nvSpPr>
          <p:cNvPr id="35" name="Shape 2">
            <a:extLst>
              <a:ext uri="{FF2B5EF4-FFF2-40B4-BE49-F238E27FC236}">
                <a16:creationId xmlns:a16="http://schemas.microsoft.com/office/drawing/2014/main" id="{26042E5C-13F8-AD74-1D58-855BE07D42BC}"/>
              </a:ext>
            </a:extLst>
          </p:cNvPr>
          <p:cNvSpPr/>
          <p:nvPr/>
        </p:nvSpPr>
        <p:spPr>
          <a:xfrm>
            <a:off x="166382" y="467447"/>
            <a:ext cx="8876718" cy="1051754"/>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nchor="ctr"/>
          <a:lstStyle/>
          <a:p>
            <a:r>
              <a:rPr lang="en-US" sz="1400" b="1" dirty="0">
                <a:solidFill>
                  <a:srgbClr val="81A6C6"/>
                </a:solidFill>
              </a:rPr>
              <a:t>Data Type Optimization</a:t>
            </a:r>
            <a:r>
              <a:rPr lang="ar-EG" sz="1400" b="1" dirty="0">
                <a:solidFill>
                  <a:srgbClr val="81A6C6"/>
                </a:solidFill>
              </a:rPr>
              <a:t> </a:t>
            </a:r>
            <a:endParaRPr lang="en-US" sz="1400" b="1" dirty="0">
              <a:solidFill>
                <a:srgbClr val="81A6C6"/>
              </a:solidFill>
            </a:endParaRPr>
          </a:p>
          <a:p>
            <a:r>
              <a:rPr lang="en-US" sz="1400" b="1" dirty="0">
                <a:solidFill>
                  <a:srgbClr val="81A6C6"/>
                </a:solidFill>
              </a:rPr>
              <a:t>Implementation: </a:t>
            </a:r>
            <a:r>
              <a:rPr lang="en-US" sz="1400" dirty="0">
                <a:solidFill>
                  <a:srgbClr val="DCEAF8"/>
                </a:solidFill>
              </a:rPr>
              <a:t>Refined data types by converting age and app counts to Integers, while rounding new metrics like '</a:t>
            </a:r>
            <a:r>
              <a:rPr lang="en-US" sz="1400" dirty="0" err="1">
                <a:solidFill>
                  <a:srgbClr val="DCEAF8"/>
                </a:solidFill>
              </a:rPr>
              <a:t>Battery_Intensity</a:t>
            </a:r>
            <a:r>
              <a:rPr lang="en-US" sz="1400" dirty="0">
                <a:solidFill>
                  <a:srgbClr val="DCEAF8"/>
                </a:solidFill>
              </a:rPr>
              <a:t>' and '</a:t>
            </a:r>
            <a:r>
              <a:rPr lang="en-US" sz="1400" dirty="0" err="1">
                <a:solidFill>
                  <a:srgbClr val="DCEAF8"/>
                </a:solidFill>
              </a:rPr>
              <a:t>Burnout_Score</a:t>
            </a:r>
            <a:r>
              <a:rPr lang="en-US" sz="1400" dirty="0">
                <a:solidFill>
                  <a:srgbClr val="DCEAF8"/>
                </a:solidFill>
              </a:rPr>
              <a:t>' to 2 decimal places.</a:t>
            </a:r>
            <a:r>
              <a:rPr lang="ar-EG" sz="1400" dirty="0">
                <a:solidFill>
                  <a:srgbClr val="DCEAF8"/>
                </a:solidFill>
              </a:rPr>
              <a:t> </a:t>
            </a:r>
          </a:p>
          <a:p>
            <a:r>
              <a:rPr lang="en-US" sz="1400" b="1" dirty="0">
                <a:solidFill>
                  <a:srgbClr val="81A6C6"/>
                </a:solidFill>
              </a:rPr>
              <a:t>Value: </a:t>
            </a:r>
            <a:r>
              <a:rPr lang="en-US" sz="1400" dirty="0">
                <a:solidFill>
                  <a:srgbClr val="DCEAF8"/>
                </a:solidFill>
              </a:rPr>
              <a:t>Optimizes memory usage and ensures numerical consistency, making the dataset cleaner and more professional for the final reporting phase.</a:t>
            </a:r>
          </a:p>
        </p:txBody>
      </p:sp>
      <p:pic>
        <p:nvPicPr>
          <p:cNvPr id="38" name="Picture 37">
            <a:extLst>
              <a:ext uri="{FF2B5EF4-FFF2-40B4-BE49-F238E27FC236}">
                <a16:creationId xmlns:a16="http://schemas.microsoft.com/office/drawing/2014/main" id="{947A28A9-11E5-A555-A1D7-7DBCDA58C169}"/>
              </a:ext>
            </a:extLst>
          </p:cNvPr>
          <p:cNvPicPr>
            <a:picLocks noChangeAspect="1"/>
          </p:cNvPicPr>
          <p:nvPr/>
        </p:nvPicPr>
        <p:blipFill>
          <a:blip r:embed="rId3"/>
          <a:stretch>
            <a:fillRect/>
          </a:stretch>
        </p:blipFill>
        <p:spPr>
          <a:xfrm>
            <a:off x="100899" y="1564923"/>
            <a:ext cx="8942201" cy="3187078"/>
          </a:xfrm>
          <a:prstGeom prst="rect">
            <a:avLst/>
          </a:prstGeom>
        </p:spPr>
      </p:pic>
      <p:sp>
        <p:nvSpPr>
          <p:cNvPr id="4" name="Shape 0">
            <a:extLst>
              <a:ext uri="{FF2B5EF4-FFF2-40B4-BE49-F238E27FC236}">
                <a16:creationId xmlns:a16="http://schemas.microsoft.com/office/drawing/2014/main" id="{3F835DE4-58F8-9B13-9056-C63351A3193E}"/>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Data Type Optimization</a:t>
            </a:r>
            <a:r>
              <a:rPr lang="ar-EG" b="1" dirty="0">
                <a:solidFill>
                  <a:srgbClr val="81A6C6"/>
                </a:solidFill>
                <a:latin typeface="Calibri" pitchFamily="34" charset="0"/>
                <a:ea typeface="Calibri" pitchFamily="34" charset="-122"/>
                <a:cs typeface="Calibri" pitchFamily="34" charset="-120"/>
              </a:rPr>
              <a:t> </a:t>
            </a:r>
            <a:endParaRPr lang="en-US" b="1" dirty="0">
              <a:solidFill>
                <a:srgbClr val="81A6C6"/>
              </a:solidFill>
              <a:latin typeface="Calibri" pitchFamily="34" charset="0"/>
              <a:ea typeface="Calibri" pitchFamily="34" charset="-122"/>
              <a:cs typeface="Calibri" pitchFamily="34" charset="-120"/>
            </a:endParaRPr>
          </a:p>
        </p:txBody>
      </p:sp>
      <p:sp>
        <p:nvSpPr>
          <p:cNvPr id="5" name="Shape 5">
            <a:extLst>
              <a:ext uri="{FF2B5EF4-FFF2-40B4-BE49-F238E27FC236}">
                <a16:creationId xmlns:a16="http://schemas.microsoft.com/office/drawing/2014/main" id="{72F54F87-C89F-5D05-B1AE-8F3167D4F652}"/>
              </a:ext>
            </a:extLst>
          </p:cNvPr>
          <p:cNvSpPr/>
          <p:nvPr/>
        </p:nvSpPr>
        <p:spPr>
          <a:xfrm>
            <a:off x="0" y="0"/>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sp>
        <p:nvSpPr>
          <p:cNvPr id="7" name="Shape 5">
            <a:extLst>
              <a:ext uri="{FF2B5EF4-FFF2-40B4-BE49-F238E27FC236}">
                <a16:creationId xmlns:a16="http://schemas.microsoft.com/office/drawing/2014/main" id="{7874021B-DEDC-43DF-B3C9-8FA6F1B7778D}"/>
              </a:ext>
            </a:extLst>
          </p:cNvPr>
          <p:cNvSpPr/>
          <p:nvPr/>
        </p:nvSpPr>
        <p:spPr>
          <a:xfrm>
            <a:off x="89464" y="467447"/>
            <a:ext cx="59688" cy="1051754"/>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1" name="Shape 29"/>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32" name="Text 30"/>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rgbClr val="AED6F1"/>
                </a:solidFill>
                <a:latin typeface="Calibri" pitchFamily="34" charset="0"/>
                <a:ea typeface="Calibri" pitchFamily="34" charset="-122"/>
                <a:cs typeface="Calibri" pitchFamily="34" charset="-120"/>
              </a:rPr>
              <a:t>Data Analysis Project</a:t>
            </a:r>
            <a:endParaRPr lang="en-US" sz="900" dirty="0"/>
          </a:p>
        </p:txBody>
      </p:sp>
      <p:sp>
        <p:nvSpPr>
          <p:cNvPr id="33" name="Text 31"/>
          <p:cNvSpPr/>
          <p:nvPr/>
        </p:nvSpPr>
        <p:spPr>
          <a:xfrm>
            <a:off x="8046720" y="4864608"/>
            <a:ext cx="914400" cy="278892"/>
          </a:xfrm>
          <a:prstGeom prst="rect">
            <a:avLst/>
          </a:prstGeom>
          <a:noFill/>
          <a:ln/>
        </p:spPr>
        <p:txBody>
          <a:bodyPr wrap="square" lIns="0" tIns="0" rIns="0" bIns="0" rtlCol="0" anchor="ctr"/>
          <a:lstStyle/>
          <a:p>
            <a:pPr marL="0" indent="0" algn="r">
              <a:buNone/>
            </a:pPr>
            <a:r>
              <a:rPr lang="en-US" sz="900" dirty="0">
                <a:solidFill>
                  <a:srgbClr val="161B22"/>
                </a:solidFill>
                <a:latin typeface="Calibri" pitchFamily="34" charset="0"/>
                <a:ea typeface="Calibri" pitchFamily="34" charset="-122"/>
                <a:cs typeface="Calibri" pitchFamily="34" charset="-120"/>
              </a:rPr>
              <a:t>14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nvGrpSpPr>
          <p:cNvPr id="34" name="Group 33">
            <a:extLst>
              <a:ext uri="{FF2B5EF4-FFF2-40B4-BE49-F238E27FC236}">
                <a16:creationId xmlns:a16="http://schemas.microsoft.com/office/drawing/2014/main" id="{22C3C407-5DB9-46F0-6443-D4D2F005BAB9}"/>
              </a:ext>
            </a:extLst>
          </p:cNvPr>
          <p:cNvGrpSpPr/>
          <p:nvPr/>
        </p:nvGrpSpPr>
        <p:grpSpPr>
          <a:xfrm>
            <a:off x="4525204" y="512873"/>
            <a:ext cx="4487481" cy="1656780"/>
            <a:chOff x="119818" y="3348596"/>
            <a:chExt cx="8841302" cy="1292772"/>
          </a:xfrm>
          <a:solidFill>
            <a:srgbClr val="161B22"/>
          </a:solidFill>
        </p:grpSpPr>
        <p:sp>
          <p:nvSpPr>
            <p:cNvPr id="35" name="Shape 2">
              <a:extLst>
                <a:ext uri="{FF2B5EF4-FFF2-40B4-BE49-F238E27FC236}">
                  <a16:creationId xmlns:a16="http://schemas.microsoft.com/office/drawing/2014/main" id="{D7E59718-A4C1-8644-707C-359DB2DE2E58}"/>
                </a:ext>
              </a:extLst>
            </p:cNvPr>
            <p:cNvSpPr/>
            <p:nvPr/>
          </p:nvSpPr>
          <p:spPr>
            <a:xfrm>
              <a:off x="119818" y="3348596"/>
              <a:ext cx="8841302" cy="1292772"/>
            </a:xfrm>
            <a:prstGeom prst="rect">
              <a:avLst/>
            </a:prstGeom>
            <a:grpFill/>
            <a:ln w="12700">
              <a:solidFill>
                <a:srgbClr val="81A6C6"/>
              </a:solidFill>
              <a:prstDash val="solid"/>
            </a:ln>
            <a:effectLst>
              <a:outerShdw blurRad="63500" dist="25400" dir="8100000" algn="bl" rotWithShape="0">
                <a:srgbClr val="000000">
                  <a:alpha val="8000"/>
                </a:srgbClr>
              </a:outerShdw>
            </a:effectLst>
          </p:spPr>
          <p:txBody>
            <a:bodyPr/>
            <a:lstStyle/>
            <a:p>
              <a:r>
                <a:rPr lang="en-US" sz="1400" b="1" dirty="0">
                  <a:solidFill>
                    <a:srgbClr val="81A6C6"/>
                  </a:solidFill>
                </a:rPr>
                <a:t>User Behavior Profile Chart</a:t>
              </a:r>
              <a:r>
                <a:rPr lang="ar-EG" sz="1400" b="1" dirty="0">
                  <a:solidFill>
                    <a:srgbClr val="81A6C6"/>
                  </a:solidFill>
                </a:rPr>
                <a:t> </a:t>
              </a:r>
              <a:endParaRPr lang="en-US" sz="1400" b="1" dirty="0">
                <a:solidFill>
                  <a:srgbClr val="81A6C6"/>
                </a:solidFill>
              </a:endParaRPr>
            </a:p>
            <a:p>
              <a:r>
                <a:rPr lang="en-US" sz="1400" b="1" dirty="0">
                  <a:solidFill>
                    <a:srgbClr val="81A6C6"/>
                  </a:solidFill>
                </a:rPr>
                <a:t>Implementation: </a:t>
              </a:r>
              <a:r>
                <a:rPr lang="en-US" sz="1400" dirty="0">
                  <a:solidFill>
                    <a:srgbClr val="DCEAF8"/>
                  </a:solidFill>
                </a:rPr>
                <a:t>Created a Boxplot using Seaborn to analyze the distribution of Screen On Time across different User Status categories (Basic, Addicted, etc.).</a:t>
              </a:r>
              <a:endParaRPr lang="ar-EG" sz="1400" dirty="0">
                <a:solidFill>
                  <a:srgbClr val="DCEAF8"/>
                </a:solidFill>
              </a:endParaRPr>
            </a:p>
            <a:p>
              <a:r>
                <a:rPr lang="en-US" sz="1400" b="1" dirty="0">
                  <a:solidFill>
                    <a:srgbClr val="81A6C6"/>
                  </a:solidFill>
                </a:rPr>
                <a:t>Value: </a:t>
              </a:r>
              <a:r>
                <a:rPr lang="en-US" sz="1400" dirty="0">
                  <a:solidFill>
                    <a:srgbClr val="DCEAF8"/>
                  </a:solidFill>
                </a:rPr>
                <a:t>Highlights the variance in usage patterns, visually proving that "Addicted" users have a significantly higher and distinct screen-time range compared to "Basic" users</a:t>
              </a:r>
              <a:r>
                <a:rPr lang="en-US" dirty="0">
                  <a:solidFill>
                    <a:srgbClr val="DCEAF8"/>
                  </a:solidFill>
                </a:rPr>
                <a:t>.</a:t>
              </a:r>
            </a:p>
          </p:txBody>
        </p:sp>
        <p:sp>
          <p:nvSpPr>
            <p:cNvPr id="36" name="Shape 3">
              <a:extLst>
                <a:ext uri="{FF2B5EF4-FFF2-40B4-BE49-F238E27FC236}">
                  <a16:creationId xmlns:a16="http://schemas.microsoft.com/office/drawing/2014/main" id="{6ADD6074-8CFF-839D-E34D-431C055242C5}"/>
                </a:ext>
              </a:extLst>
            </p:cNvPr>
            <p:cNvSpPr/>
            <p:nvPr/>
          </p:nvSpPr>
          <p:spPr>
            <a:xfrm>
              <a:off x="119818" y="3348596"/>
              <a:ext cx="93190" cy="1292772"/>
            </a:xfrm>
            <a:prstGeom prst="rect">
              <a:avLst/>
            </a:prstGeom>
            <a:solidFill>
              <a:srgbClr val="81A6C6"/>
            </a:solidFill>
            <a:ln w="12700">
              <a:solidFill>
                <a:srgbClr val="81A6C6"/>
              </a:solidFill>
              <a:prstDash val="solid"/>
            </a:ln>
          </p:spPr>
          <p:txBody>
            <a:bodyPr/>
            <a:lstStyle/>
            <a:p>
              <a:endParaRPr lang="en-US"/>
            </a:p>
          </p:txBody>
        </p:sp>
      </p:grpSp>
      <p:pic>
        <p:nvPicPr>
          <p:cNvPr id="4" name="Picture 3">
            <a:extLst>
              <a:ext uri="{FF2B5EF4-FFF2-40B4-BE49-F238E27FC236}">
                <a16:creationId xmlns:a16="http://schemas.microsoft.com/office/drawing/2014/main" id="{755A77F0-7436-1CF5-CA86-F8BD6EB8AB13}"/>
              </a:ext>
            </a:extLst>
          </p:cNvPr>
          <p:cNvPicPr>
            <a:picLocks noChangeAspect="1"/>
          </p:cNvPicPr>
          <p:nvPr/>
        </p:nvPicPr>
        <p:blipFill>
          <a:blip r:embed="rId2"/>
          <a:stretch>
            <a:fillRect/>
          </a:stretch>
        </p:blipFill>
        <p:spPr>
          <a:xfrm>
            <a:off x="178112" y="512873"/>
            <a:ext cx="4300779" cy="1656779"/>
          </a:xfrm>
          <a:prstGeom prst="rect">
            <a:avLst/>
          </a:prstGeom>
        </p:spPr>
      </p:pic>
      <p:pic>
        <p:nvPicPr>
          <p:cNvPr id="6" name="Picture 5">
            <a:extLst>
              <a:ext uri="{FF2B5EF4-FFF2-40B4-BE49-F238E27FC236}">
                <a16:creationId xmlns:a16="http://schemas.microsoft.com/office/drawing/2014/main" id="{55D620EF-FE2E-31FB-8288-7E6096A3A2B1}"/>
              </a:ext>
            </a:extLst>
          </p:cNvPr>
          <p:cNvPicPr>
            <a:picLocks noChangeAspect="1"/>
          </p:cNvPicPr>
          <p:nvPr/>
        </p:nvPicPr>
        <p:blipFill>
          <a:blip r:embed="rId3"/>
          <a:stretch>
            <a:fillRect/>
          </a:stretch>
        </p:blipFill>
        <p:spPr>
          <a:xfrm>
            <a:off x="178112" y="2260799"/>
            <a:ext cx="4300779" cy="2491190"/>
          </a:xfrm>
          <a:prstGeom prst="rect">
            <a:avLst/>
          </a:prstGeom>
        </p:spPr>
      </p:pic>
      <p:grpSp>
        <p:nvGrpSpPr>
          <p:cNvPr id="7" name="Group 6">
            <a:extLst>
              <a:ext uri="{FF2B5EF4-FFF2-40B4-BE49-F238E27FC236}">
                <a16:creationId xmlns:a16="http://schemas.microsoft.com/office/drawing/2014/main" id="{A02DF109-EE70-7433-EAD8-27C9E58151BD}"/>
              </a:ext>
            </a:extLst>
          </p:cNvPr>
          <p:cNvGrpSpPr/>
          <p:nvPr/>
        </p:nvGrpSpPr>
        <p:grpSpPr>
          <a:xfrm>
            <a:off x="4519952" y="2260799"/>
            <a:ext cx="4487481" cy="2491189"/>
            <a:chOff x="4691817" y="1715289"/>
            <a:chExt cx="4332366" cy="2175641"/>
          </a:xfrm>
        </p:grpSpPr>
        <p:sp>
          <p:nvSpPr>
            <p:cNvPr id="8" name="Shape 2">
              <a:extLst>
                <a:ext uri="{FF2B5EF4-FFF2-40B4-BE49-F238E27FC236}">
                  <a16:creationId xmlns:a16="http://schemas.microsoft.com/office/drawing/2014/main" id="{A4235009-AD18-85B2-9DDB-930D83E440AE}"/>
                </a:ext>
              </a:extLst>
            </p:cNvPr>
            <p:cNvSpPr/>
            <p:nvPr/>
          </p:nvSpPr>
          <p:spPr>
            <a:xfrm>
              <a:off x="4691817" y="1715289"/>
              <a:ext cx="4332366" cy="2175641"/>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nchor="ctr"/>
            <a:lstStyle/>
            <a:p>
              <a:r>
                <a:rPr lang="en-US" sz="1600" b="1" dirty="0">
                  <a:solidFill>
                    <a:srgbClr val="81A6C6"/>
                  </a:solidFill>
                </a:rPr>
                <a:t>User Behavior Profile Chart</a:t>
              </a:r>
              <a:r>
                <a:rPr lang="ar-EG" sz="1600" b="1" dirty="0">
                  <a:solidFill>
                    <a:srgbClr val="81A6C6"/>
                  </a:solidFill>
                </a:rPr>
                <a:t> </a:t>
              </a:r>
              <a:endParaRPr lang="en-US" sz="1600" b="1" dirty="0">
                <a:solidFill>
                  <a:srgbClr val="81A6C6"/>
                </a:solidFill>
              </a:endParaRPr>
            </a:p>
            <a:p>
              <a:r>
                <a:rPr lang="en-US" sz="1600" b="1" dirty="0">
                  <a:solidFill>
                    <a:srgbClr val="81A6C6"/>
                  </a:solidFill>
                </a:rPr>
                <a:t>Implementation: </a:t>
              </a:r>
              <a:r>
                <a:rPr lang="en-US" sz="1600" dirty="0">
                  <a:solidFill>
                    <a:srgbClr val="DCEAF8"/>
                  </a:solidFill>
                </a:rPr>
                <a:t>Generated a Boxplot using Seaborn to analyze the distribution of Screen On Time across different User Status categories.</a:t>
              </a:r>
              <a:endParaRPr lang="ar-EG" sz="1600" dirty="0">
                <a:solidFill>
                  <a:srgbClr val="DCEAF8"/>
                </a:solidFill>
              </a:endParaRPr>
            </a:p>
            <a:p>
              <a:r>
                <a:rPr lang="en-US" sz="1600" b="1" dirty="0">
                  <a:solidFill>
                    <a:srgbClr val="81A6C6"/>
                  </a:solidFill>
                </a:rPr>
                <a:t>Value:</a:t>
              </a:r>
              <a:r>
                <a:rPr lang="en-US" sz="1600" dirty="0"/>
                <a:t> </a:t>
              </a:r>
              <a:r>
                <a:rPr lang="en-US" sz="1600" dirty="0">
                  <a:solidFill>
                    <a:srgbClr val="DCEAF8"/>
                  </a:solidFill>
                </a:rPr>
                <a:t>Visually confirms that "Addicted" users have a significantly higher and distinct screen-time range compared to other segments, validating the feature engineering logic.</a:t>
              </a:r>
            </a:p>
          </p:txBody>
        </p:sp>
        <p:sp>
          <p:nvSpPr>
            <p:cNvPr id="9" name="Shape 10">
              <a:extLst>
                <a:ext uri="{FF2B5EF4-FFF2-40B4-BE49-F238E27FC236}">
                  <a16:creationId xmlns:a16="http://schemas.microsoft.com/office/drawing/2014/main" id="{BF4F8327-E3C9-9A71-B4DD-3384DF4FAB9F}"/>
                </a:ext>
              </a:extLst>
            </p:cNvPr>
            <p:cNvSpPr/>
            <p:nvPr/>
          </p:nvSpPr>
          <p:spPr>
            <a:xfrm>
              <a:off x="4691817" y="1715289"/>
              <a:ext cx="45719" cy="2175641"/>
            </a:xfrm>
            <a:prstGeom prst="rect">
              <a:avLst/>
            </a:prstGeom>
            <a:solidFill>
              <a:srgbClr val="81A6C6"/>
            </a:solidFill>
            <a:ln w="12700">
              <a:solidFill>
                <a:srgbClr val="81A6C6"/>
              </a:solidFill>
              <a:prstDash val="solid"/>
            </a:ln>
          </p:spPr>
          <p:txBody>
            <a:bodyPr anchor="ctr"/>
            <a:lstStyle/>
            <a:p>
              <a:endParaRPr lang="en-US"/>
            </a:p>
          </p:txBody>
        </p:sp>
      </p:grpSp>
      <p:grpSp>
        <p:nvGrpSpPr>
          <p:cNvPr id="10" name="Group 9">
            <a:extLst>
              <a:ext uri="{FF2B5EF4-FFF2-40B4-BE49-F238E27FC236}">
                <a16:creationId xmlns:a16="http://schemas.microsoft.com/office/drawing/2014/main" id="{16764C7E-F829-9728-9875-513DC750B8D0}"/>
              </a:ext>
            </a:extLst>
          </p:cNvPr>
          <p:cNvGrpSpPr/>
          <p:nvPr/>
        </p:nvGrpSpPr>
        <p:grpSpPr>
          <a:xfrm>
            <a:off x="-5252" y="-3545"/>
            <a:ext cx="9144000" cy="425271"/>
            <a:chOff x="0" y="-3545"/>
            <a:chExt cx="9144000" cy="425271"/>
          </a:xfrm>
        </p:grpSpPr>
        <p:sp>
          <p:nvSpPr>
            <p:cNvPr id="11" name="Shape 0">
              <a:extLst>
                <a:ext uri="{FF2B5EF4-FFF2-40B4-BE49-F238E27FC236}">
                  <a16:creationId xmlns:a16="http://schemas.microsoft.com/office/drawing/2014/main" id="{C4BB812B-BDA3-1DC8-D480-EAF3CAC0FA5D}"/>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a:t>
              </a:r>
              <a:r>
                <a:rPr lang="en-US" b="1" dirty="0">
                  <a:solidFill>
                    <a:srgbClr val="81A6C6"/>
                  </a:solidFill>
                </a:rPr>
                <a:t>User Behavior Profile Chart</a:t>
              </a:r>
              <a:r>
                <a:rPr lang="ar-EG" b="1" dirty="0">
                  <a:solidFill>
                    <a:srgbClr val="81A6C6"/>
                  </a:solidFill>
                </a:rPr>
                <a:t> </a:t>
              </a:r>
              <a:endParaRPr lang="en-US" b="1" dirty="0">
                <a:solidFill>
                  <a:srgbClr val="81A6C6"/>
                </a:solidFill>
              </a:endParaRPr>
            </a:p>
          </p:txBody>
        </p:sp>
        <p:sp>
          <p:nvSpPr>
            <p:cNvPr id="12" name="Shape 5">
              <a:extLst>
                <a:ext uri="{FF2B5EF4-FFF2-40B4-BE49-F238E27FC236}">
                  <a16:creationId xmlns:a16="http://schemas.microsoft.com/office/drawing/2014/main" id="{32C2C9C2-576D-FAF0-CD3D-6DF4816A3563}"/>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1" name="Shape 29"/>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32" name="Text 30"/>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33" name="Text 31"/>
          <p:cNvSpPr/>
          <p:nvPr/>
        </p:nvSpPr>
        <p:spPr>
          <a:xfrm>
            <a:off x="8046720" y="4864608"/>
            <a:ext cx="914400" cy="278892"/>
          </a:xfrm>
          <a:prstGeom prst="rect">
            <a:avLst/>
          </a:prstGeom>
          <a:noFill/>
          <a:ln/>
        </p:spPr>
        <p:txBody>
          <a:bodyPr wrap="square" lIns="0" tIns="0" rIns="0" bIns="0" rtlCol="0" anchor="ctr"/>
          <a:lstStyle/>
          <a:p>
            <a:pPr marL="0" indent="0" algn="r">
              <a:buNone/>
            </a:pPr>
            <a:r>
              <a:rPr lang="en-US" sz="900" dirty="0">
                <a:solidFill>
                  <a:srgbClr val="161B22"/>
                </a:solidFill>
                <a:latin typeface="Calibri" pitchFamily="34" charset="0"/>
                <a:ea typeface="Calibri" pitchFamily="34" charset="-122"/>
                <a:cs typeface="Calibri" pitchFamily="34" charset="-120"/>
              </a:rPr>
              <a:t>1</a:t>
            </a:r>
            <a:r>
              <a:rPr lang="ar-EG" sz="900" dirty="0">
                <a:solidFill>
                  <a:srgbClr val="161B22"/>
                </a:solidFill>
                <a:latin typeface="Calibri" pitchFamily="34" charset="0"/>
                <a:ea typeface="Calibri" pitchFamily="34" charset="-122"/>
                <a:cs typeface="Calibri" pitchFamily="34" charset="-120"/>
              </a:rPr>
              <a:t>5</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nvGrpSpPr>
          <p:cNvPr id="34" name="Group 33">
            <a:extLst>
              <a:ext uri="{FF2B5EF4-FFF2-40B4-BE49-F238E27FC236}">
                <a16:creationId xmlns:a16="http://schemas.microsoft.com/office/drawing/2014/main" id="{900E3DDA-9165-E04B-38E4-671D238E8613}"/>
              </a:ext>
            </a:extLst>
          </p:cNvPr>
          <p:cNvGrpSpPr/>
          <p:nvPr/>
        </p:nvGrpSpPr>
        <p:grpSpPr>
          <a:xfrm>
            <a:off x="119818" y="546426"/>
            <a:ext cx="8841302" cy="1138374"/>
            <a:chOff x="119818" y="3348596"/>
            <a:chExt cx="8841302" cy="1292772"/>
          </a:xfrm>
        </p:grpSpPr>
        <p:sp>
          <p:nvSpPr>
            <p:cNvPr id="35" name="Shape 2">
              <a:extLst>
                <a:ext uri="{FF2B5EF4-FFF2-40B4-BE49-F238E27FC236}">
                  <a16:creationId xmlns:a16="http://schemas.microsoft.com/office/drawing/2014/main" id="{6BD30B9E-671F-D6CA-5685-1C4D411E832B}"/>
                </a:ext>
              </a:extLst>
            </p:cNvPr>
            <p:cNvSpPr/>
            <p:nvPr/>
          </p:nvSpPr>
          <p:spPr>
            <a:xfrm>
              <a:off x="119818" y="3348596"/>
              <a:ext cx="8841302" cy="1292772"/>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nchor="ctr"/>
            <a:lstStyle/>
            <a:p>
              <a:r>
                <a:rPr lang="en-US" sz="1400" b="1" dirty="0">
                  <a:solidFill>
                    <a:srgbClr val="81A6C6"/>
                  </a:solidFill>
                </a:rPr>
                <a:t>Outlier Detection (Extreme Behavior)</a:t>
              </a:r>
            </a:p>
            <a:p>
              <a:r>
                <a:rPr lang="en-US" sz="1400" b="1" dirty="0">
                  <a:solidFill>
                    <a:srgbClr val="81A6C6"/>
                  </a:solidFill>
                </a:rPr>
                <a:t>Implementation:</a:t>
              </a:r>
              <a:r>
                <a:rPr lang="en-US" sz="1400" dirty="0">
                  <a:solidFill>
                    <a:srgbClr val="DCEAF8"/>
                  </a:solidFill>
                </a:rPr>
                <a:t> Used a statistical formula (Mean + 2 Std Dev) to automatically flag users with "Extreme" screen time.</a:t>
              </a:r>
              <a:endParaRPr lang="ar-EG" sz="1400" dirty="0">
                <a:solidFill>
                  <a:srgbClr val="DCEAF8"/>
                </a:solidFill>
              </a:endParaRPr>
            </a:p>
            <a:p>
              <a:r>
                <a:rPr lang="en-US" sz="1400" b="1" dirty="0">
                  <a:solidFill>
                    <a:srgbClr val="81A6C6"/>
                  </a:solidFill>
                </a:rPr>
                <a:t>Value:</a:t>
              </a:r>
              <a:r>
                <a:rPr lang="en-US" sz="1400" dirty="0">
                  <a:solidFill>
                    <a:srgbClr val="DCEAF8"/>
                  </a:solidFill>
                </a:rPr>
                <a:t> Identified 19 outliers, allowing us to isolate abnormal behavior and ensure the model isn't biased by "noisy" data.</a:t>
              </a:r>
            </a:p>
          </p:txBody>
        </p:sp>
        <p:sp>
          <p:nvSpPr>
            <p:cNvPr id="36" name="Shape 3">
              <a:extLst>
                <a:ext uri="{FF2B5EF4-FFF2-40B4-BE49-F238E27FC236}">
                  <a16:creationId xmlns:a16="http://schemas.microsoft.com/office/drawing/2014/main" id="{2E14E2F2-0B8D-893A-054A-48ED2919F2D1}"/>
                </a:ext>
              </a:extLst>
            </p:cNvPr>
            <p:cNvSpPr/>
            <p:nvPr/>
          </p:nvSpPr>
          <p:spPr>
            <a:xfrm>
              <a:off x="119818" y="3348596"/>
              <a:ext cx="58294" cy="1292772"/>
            </a:xfrm>
            <a:prstGeom prst="rect">
              <a:avLst/>
            </a:prstGeom>
            <a:solidFill>
              <a:srgbClr val="81A6C6"/>
            </a:solidFill>
            <a:ln w="12700">
              <a:solidFill>
                <a:srgbClr val="81A6C6"/>
              </a:solidFill>
              <a:prstDash val="solid"/>
            </a:ln>
          </p:spPr>
          <p:txBody>
            <a:bodyPr/>
            <a:lstStyle/>
            <a:p>
              <a:endParaRPr lang="en-US" dirty="0"/>
            </a:p>
          </p:txBody>
        </p:sp>
      </p:grpSp>
      <p:pic>
        <p:nvPicPr>
          <p:cNvPr id="4" name="Picture 3">
            <a:extLst>
              <a:ext uri="{FF2B5EF4-FFF2-40B4-BE49-F238E27FC236}">
                <a16:creationId xmlns:a16="http://schemas.microsoft.com/office/drawing/2014/main" id="{4C8C4E97-E318-D595-1E40-B0C66B4F48CA}"/>
              </a:ext>
            </a:extLst>
          </p:cNvPr>
          <p:cNvPicPr>
            <a:picLocks noChangeAspect="1"/>
          </p:cNvPicPr>
          <p:nvPr/>
        </p:nvPicPr>
        <p:blipFill>
          <a:blip r:embed="rId2"/>
          <a:stretch>
            <a:fillRect/>
          </a:stretch>
        </p:blipFill>
        <p:spPr>
          <a:xfrm>
            <a:off x="119818" y="1744842"/>
            <a:ext cx="8841302" cy="3059723"/>
          </a:xfrm>
          <a:prstGeom prst="rect">
            <a:avLst/>
          </a:prstGeom>
        </p:spPr>
      </p:pic>
      <p:grpSp>
        <p:nvGrpSpPr>
          <p:cNvPr id="5" name="Group 4">
            <a:extLst>
              <a:ext uri="{FF2B5EF4-FFF2-40B4-BE49-F238E27FC236}">
                <a16:creationId xmlns:a16="http://schemas.microsoft.com/office/drawing/2014/main" id="{BC6A79B6-635B-8F4B-5614-08A76F63D135}"/>
              </a:ext>
            </a:extLst>
          </p:cNvPr>
          <p:cNvGrpSpPr/>
          <p:nvPr/>
        </p:nvGrpSpPr>
        <p:grpSpPr>
          <a:xfrm>
            <a:off x="0" y="-3545"/>
            <a:ext cx="9144000" cy="425271"/>
            <a:chOff x="0" y="-3545"/>
            <a:chExt cx="9144000" cy="425271"/>
          </a:xfrm>
        </p:grpSpPr>
        <p:sp>
          <p:nvSpPr>
            <p:cNvPr id="6" name="Shape 0">
              <a:extLst>
                <a:ext uri="{FF2B5EF4-FFF2-40B4-BE49-F238E27FC236}">
                  <a16:creationId xmlns:a16="http://schemas.microsoft.com/office/drawing/2014/main" id="{DEFA8B18-74B8-9827-FCAF-A97571122BF7}"/>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Outlier Detection </a:t>
              </a:r>
            </a:p>
          </p:txBody>
        </p:sp>
        <p:sp>
          <p:nvSpPr>
            <p:cNvPr id="7" name="Shape 5">
              <a:extLst>
                <a:ext uri="{FF2B5EF4-FFF2-40B4-BE49-F238E27FC236}">
                  <a16:creationId xmlns:a16="http://schemas.microsoft.com/office/drawing/2014/main" id="{7FE18945-274C-F50E-2439-1E17073C2616}"/>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53FF973F-D76C-B134-7EC8-650AC772FB84}"/>
              </a:ext>
            </a:extLst>
          </p:cNvPr>
          <p:cNvGrpSpPr/>
          <p:nvPr/>
        </p:nvGrpSpPr>
        <p:grpSpPr>
          <a:xfrm>
            <a:off x="4619883" y="475943"/>
            <a:ext cx="4387550" cy="1551073"/>
            <a:chOff x="119818" y="3348596"/>
            <a:chExt cx="8841302" cy="1292772"/>
          </a:xfrm>
        </p:grpSpPr>
        <p:sp>
          <p:nvSpPr>
            <p:cNvPr id="35" name="Shape 2">
              <a:extLst>
                <a:ext uri="{FF2B5EF4-FFF2-40B4-BE49-F238E27FC236}">
                  <a16:creationId xmlns:a16="http://schemas.microsoft.com/office/drawing/2014/main" id="{282C34DD-424F-EAA7-11B4-46532D73D38A}"/>
                </a:ext>
              </a:extLst>
            </p:cNvPr>
            <p:cNvSpPr/>
            <p:nvPr/>
          </p:nvSpPr>
          <p:spPr>
            <a:xfrm>
              <a:off x="119818" y="3348596"/>
              <a:ext cx="8841302" cy="1292772"/>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r>
                <a:rPr lang="en-US" sz="1400" b="1" dirty="0">
                  <a:solidFill>
                    <a:srgbClr val="81A6C6"/>
                  </a:solidFill>
                </a:rPr>
                <a:t>Final Summary Plot (The Big Picture)</a:t>
              </a:r>
            </a:p>
            <a:p>
              <a:r>
                <a:rPr lang="en-US" sz="1400" b="1" dirty="0">
                  <a:solidFill>
                    <a:srgbClr val="81A6C6"/>
                  </a:solidFill>
                </a:rPr>
                <a:t>Implementation: </a:t>
              </a:r>
              <a:r>
                <a:rPr lang="en-US" sz="1400" dirty="0">
                  <a:solidFill>
                    <a:srgbClr val="DCEAF8"/>
                  </a:solidFill>
                </a:rPr>
                <a:t>Created a Grouped Bar Plot to compare the Digital Burnout Score across different Generations and Genders.</a:t>
              </a:r>
              <a:endParaRPr lang="ar-EG" sz="1400" dirty="0">
                <a:solidFill>
                  <a:srgbClr val="DCEAF8"/>
                </a:solidFill>
              </a:endParaRPr>
            </a:p>
            <a:p>
              <a:r>
                <a:rPr lang="en-US" sz="1400" b="1" dirty="0">
                  <a:solidFill>
                    <a:srgbClr val="81A6C6"/>
                  </a:solidFill>
                </a:rPr>
                <a:t>Value:</a:t>
              </a:r>
              <a:r>
                <a:rPr lang="en-US" sz="1400" dirty="0">
                  <a:solidFill>
                    <a:srgbClr val="DCEAF8"/>
                  </a:solidFill>
                </a:rPr>
                <a:t> Provides a high-level summary of which demographic groups are most at risk of "Digital Burnout," serving as the final insight for our behavioral analysis.</a:t>
              </a:r>
            </a:p>
          </p:txBody>
        </p:sp>
        <p:sp>
          <p:nvSpPr>
            <p:cNvPr id="36" name="Shape 3">
              <a:extLst>
                <a:ext uri="{FF2B5EF4-FFF2-40B4-BE49-F238E27FC236}">
                  <a16:creationId xmlns:a16="http://schemas.microsoft.com/office/drawing/2014/main" id="{FEB8128A-3D79-5984-83E1-597FF757F4F3}"/>
                </a:ext>
              </a:extLst>
            </p:cNvPr>
            <p:cNvSpPr/>
            <p:nvPr/>
          </p:nvSpPr>
          <p:spPr>
            <a:xfrm>
              <a:off x="119818" y="3348596"/>
              <a:ext cx="58294" cy="1292772"/>
            </a:xfrm>
            <a:prstGeom prst="rect">
              <a:avLst/>
            </a:prstGeom>
            <a:solidFill>
              <a:srgbClr val="81A6C6"/>
            </a:solidFill>
            <a:ln w="12700">
              <a:solidFill>
                <a:srgbClr val="81A6C6"/>
              </a:solidFill>
              <a:prstDash val="solid"/>
            </a:ln>
          </p:spPr>
          <p:txBody>
            <a:bodyPr/>
            <a:lstStyle/>
            <a:p>
              <a:endParaRPr lang="en-US"/>
            </a:p>
          </p:txBody>
        </p:sp>
      </p:grpSp>
      <p:pic>
        <p:nvPicPr>
          <p:cNvPr id="4" name="Picture 3">
            <a:extLst>
              <a:ext uri="{FF2B5EF4-FFF2-40B4-BE49-F238E27FC236}">
                <a16:creationId xmlns:a16="http://schemas.microsoft.com/office/drawing/2014/main" id="{DAAB880E-1C37-0CB9-C946-2BEF13C3895E}"/>
              </a:ext>
            </a:extLst>
          </p:cNvPr>
          <p:cNvPicPr>
            <a:picLocks noChangeAspect="1"/>
          </p:cNvPicPr>
          <p:nvPr/>
        </p:nvPicPr>
        <p:blipFill>
          <a:blip r:embed="rId2"/>
          <a:stretch>
            <a:fillRect/>
          </a:stretch>
        </p:blipFill>
        <p:spPr>
          <a:xfrm>
            <a:off x="253221" y="475943"/>
            <a:ext cx="4318779" cy="1551073"/>
          </a:xfrm>
          <a:prstGeom prst="rect">
            <a:avLst/>
          </a:prstGeom>
        </p:spPr>
      </p:pic>
      <p:pic>
        <p:nvPicPr>
          <p:cNvPr id="6" name="Picture 5">
            <a:extLst>
              <a:ext uri="{FF2B5EF4-FFF2-40B4-BE49-F238E27FC236}">
                <a16:creationId xmlns:a16="http://schemas.microsoft.com/office/drawing/2014/main" id="{3023EFFF-9CB3-9913-3971-09106861EAF6}"/>
              </a:ext>
            </a:extLst>
          </p:cNvPr>
          <p:cNvPicPr>
            <a:picLocks noChangeAspect="1"/>
          </p:cNvPicPr>
          <p:nvPr/>
        </p:nvPicPr>
        <p:blipFill>
          <a:blip r:embed="rId3"/>
          <a:stretch>
            <a:fillRect/>
          </a:stretch>
        </p:blipFill>
        <p:spPr>
          <a:xfrm>
            <a:off x="253221" y="2141822"/>
            <a:ext cx="4318779" cy="2668569"/>
          </a:xfrm>
          <a:prstGeom prst="rect">
            <a:avLst/>
          </a:prstGeom>
        </p:spPr>
      </p:pic>
      <p:grpSp>
        <p:nvGrpSpPr>
          <p:cNvPr id="7" name="Group 6">
            <a:extLst>
              <a:ext uri="{FF2B5EF4-FFF2-40B4-BE49-F238E27FC236}">
                <a16:creationId xmlns:a16="http://schemas.microsoft.com/office/drawing/2014/main" id="{728FEDE1-168F-7547-9C35-DE63692801C7}"/>
              </a:ext>
            </a:extLst>
          </p:cNvPr>
          <p:cNvGrpSpPr/>
          <p:nvPr/>
        </p:nvGrpSpPr>
        <p:grpSpPr>
          <a:xfrm>
            <a:off x="4619883" y="2143415"/>
            <a:ext cx="4389581" cy="2665384"/>
            <a:chOff x="4689693" y="1897071"/>
            <a:chExt cx="4334490" cy="1993859"/>
          </a:xfrm>
        </p:grpSpPr>
        <p:sp>
          <p:nvSpPr>
            <p:cNvPr id="8" name="Shape 2">
              <a:extLst>
                <a:ext uri="{FF2B5EF4-FFF2-40B4-BE49-F238E27FC236}">
                  <a16:creationId xmlns:a16="http://schemas.microsoft.com/office/drawing/2014/main" id="{11F1CDB4-2923-A35B-FE9E-BDF426E41E89}"/>
                </a:ext>
              </a:extLst>
            </p:cNvPr>
            <p:cNvSpPr/>
            <p:nvPr/>
          </p:nvSpPr>
          <p:spPr>
            <a:xfrm>
              <a:off x="4691817" y="1897071"/>
              <a:ext cx="4332366" cy="1993859"/>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nchor="ctr"/>
            <a:lstStyle/>
            <a:p>
              <a:r>
                <a:rPr lang="en-US" sz="1700" b="1" dirty="0">
                  <a:solidFill>
                    <a:srgbClr val="81A6C6"/>
                  </a:solidFill>
                </a:rPr>
                <a:t>User Behavior Profile Chart</a:t>
              </a:r>
              <a:r>
                <a:rPr lang="ar-EG" sz="1700" b="1" dirty="0">
                  <a:solidFill>
                    <a:srgbClr val="81A6C6"/>
                  </a:solidFill>
                </a:rPr>
                <a:t> </a:t>
              </a:r>
              <a:endParaRPr lang="en-US" sz="1700" b="1" dirty="0">
                <a:solidFill>
                  <a:srgbClr val="81A6C6"/>
                </a:solidFill>
              </a:endParaRPr>
            </a:p>
            <a:p>
              <a:r>
                <a:rPr lang="en-US" sz="1700" b="1" dirty="0">
                  <a:solidFill>
                    <a:srgbClr val="81A6C6"/>
                  </a:solidFill>
                </a:rPr>
                <a:t>Implementation: </a:t>
              </a:r>
              <a:r>
                <a:rPr lang="en-US" sz="1700" dirty="0">
                  <a:solidFill>
                    <a:srgbClr val="DCEAF8"/>
                  </a:solidFill>
                </a:rPr>
                <a:t>Generated a Boxplot using Seaborn to analyze the distribution of Screen On Time across different User Status categories.</a:t>
              </a:r>
              <a:endParaRPr lang="ar-EG" sz="1700" dirty="0">
                <a:solidFill>
                  <a:srgbClr val="DCEAF8"/>
                </a:solidFill>
              </a:endParaRPr>
            </a:p>
            <a:p>
              <a:r>
                <a:rPr lang="en-US" sz="1700" b="1" dirty="0">
                  <a:solidFill>
                    <a:srgbClr val="81A6C6"/>
                  </a:solidFill>
                </a:rPr>
                <a:t>Value:</a:t>
              </a:r>
              <a:r>
                <a:rPr lang="en-US" sz="1700" dirty="0">
                  <a:solidFill>
                    <a:srgbClr val="DCEAF8"/>
                  </a:solidFill>
                </a:rPr>
                <a:t> Visually confirms that "Addicted" users have a significantly higher and distinct screen-time range compared to other segments, validating the feature engineering logic.</a:t>
              </a:r>
            </a:p>
          </p:txBody>
        </p:sp>
        <p:sp>
          <p:nvSpPr>
            <p:cNvPr id="9" name="Shape 10">
              <a:extLst>
                <a:ext uri="{FF2B5EF4-FFF2-40B4-BE49-F238E27FC236}">
                  <a16:creationId xmlns:a16="http://schemas.microsoft.com/office/drawing/2014/main" id="{845A6FF1-4FA6-71B3-544C-E4BF2B0AFD69}"/>
                </a:ext>
              </a:extLst>
            </p:cNvPr>
            <p:cNvSpPr/>
            <p:nvPr/>
          </p:nvSpPr>
          <p:spPr>
            <a:xfrm>
              <a:off x="4689693" y="1897071"/>
              <a:ext cx="47843" cy="1993859"/>
            </a:xfrm>
            <a:prstGeom prst="rect">
              <a:avLst/>
            </a:prstGeom>
            <a:solidFill>
              <a:srgbClr val="81A6C6"/>
            </a:solidFill>
            <a:ln w="12700">
              <a:solidFill>
                <a:srgbClr val="81A6C6"/>
              </a:solidFill>
              <a:prstDash val="solid"/>
            </a:ln>
          </p:spPr>
          <p:txBody>
            <a:bodyPr anchor="ctr"/>
            <a:lstStyle/>
            <a:p>
              <a:endParaRPr lang="en-US"/>
            </a:p>
          </p:txBody>
        </p:sp>
      </p:grpSp>
      <p:grpSp>
        <p:nvGrpSpPr>
          <p:cNvPr id="10" name="Group 9">
            <a:extLst>
              <a:ext uri="{FF2B5EF4-FFF2-40B4-BE49-F238E27FC236}">
                <a16:creationId xmlns:a16="http://schemas.microsoft.com/office/drawing/2014/main" id="{B2AC88CF-1E19-5AB6-804C-892D6BA80BA9}"/>
              </a:ext>
            </a:extLst>
          </p:cNvPr>
          <p:cNvGrpSpPr/>
          <p:nvPr/>
        </p:nvGrpSpPr>
        <p:grpSpPr>
          <a:xfrm>
            <a:off x="0" y="-3545"/>
            <a:ext cx="9144000" cy="425271"/>
            <a:chOff x="0" y="-3545"/>
            <a:chExt cx="9144000" cy="425271"/>
          </a:xfrm>
        </p:grpSpPr>
        <p:sp>
          <p:nvSpPr>
            <p:cNvPr id="11" name="Shape 0">
              <a:extLst>
                <a:ext uri="{FF2B5EF4-FFF2-40B4-BE49-F238E27FC236}">
                  <a16:creationId xmlns:a16="http://schemas.microsoft.com/office/drawing/2014/main" id="{57F5C4B4-C83A-94C9-FC7A-B2AC270CFE3A}"/>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Final Summary Plot </a:t>
              </a:r>
            </a:p>
          </p:txBody>
        </p:sp>
        <p:sp>
          <p:nvSpPr>
            <p:cNvPr id="12" name="Shape 5">
              <a:extLst>
                <a:ext uri="{FF2B5EF4-FFF2-40B4-BE49-F238E27FC236}">
                  <a16:creationId xmlns:a16="http://schemas.microsoft.com/office/drawing/2014/main" id="{704A02B9-31C1-9C98-7589-DFBDA998DAD0}"/>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grpSp>
        <p:nvGrpSpPr>
          <p:cNvPr id="13" name="Group 12">
            <a:extLst>
              <a:ext uri="{FF2B5EF4-FFF2-40B4-BE49-F238E27FC236}">
                <a16:creationId xmlns:a16="http://schemas.microsoft.com/office/drawing/2014/main" id="{9C6AE109-1572-8837-BEA1-F51E1C4A34F1}"/>
              </a:ext>
            </a:extLst>
          </p:cNvPr>
          <p:cNvGrpSpPr/>
          <p:nvPr/>
        </p:nvGrpSpPr>
        <p:grpSpPr>
          <a:xfrm>
            <a:off x="0" y="4864608"/>
            <a:ext cx="9144000" cy="278892"/>
            <a:chOff x="0" y="4864608"/>
            <a:chExt cx="9144000" cy="278892"/>
          </a:xfrm>
        </p:grpSpPr>
        <p:sp>
          <p:nvSpPr>
            <p:cNvPr id="14" name="Shape 29">
              <a:extLst>
                <a:ext uri="{FF2B5EF4-FFF2-40B4-BE49-F238E27FC236}">
                  <a16:creationId xmlns:a16="http://schemas.microsoft.com/office/drawing/2014/main" id="{E0453EFB-D0AB-C66B-1378-987BBCE628E1}"/>
                </a:ext>
              </a:extLst>
            </p:cNvPr>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15" name="Text 30">
              <a:extLst>
                <a:ext uri="{FF2B5EF4-FFF2-40B4-BE49-F238E27FC236}">
                  <a16:creationId xmlns:a16="http://schemas.microsoft.com/office/drawing/2014/main" id="{3747F631-4ACE-6336-B601-A5743FD8C02A}"/>
                </a:ext>
              </a:extLst>
            </p:cNvPr>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16" name="Text 31">
              <a:extLst>
                <a:ext uri="{FF2B5EF4-FFF2-40B4-BE49-F238E27FC236}">
                  <a16:creationId xmlns:a16="http://schemas.microsoft.com/office/drawing/2014/main" id="{3D867FC5-FF9F-4E09-D6A3-CF60833B108C}"/>
                </a:ext>
              </a:extLst>
            </p:cNvPr>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16</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07F9AE67-9DA0-E83B-3ACE-861FFE0E8265}"/>
              </a:ext>
            </a:extLst>
          </p:cNvPr>
          <p:cNvGrpSpPr/>
          <p:nvPr/>
        </p:nvGrpSpPr>
        <p:grpSpPr>
          <a:xfrm>
            <a:off x="98595" y="502088"/>
            <a:ext cx="8946810" cy="1290712"/>
            <a:chOff x="119818" y="3348596"/>
            <a:chExt cx="8841302" cy="1292772"/>
          </a:xfrm>
        </p:grpSpPr>
        <p:sp>
          <p:nvSpPr>
            <p:cNvPr id="20" name="Shape 2">
              <a:extLst>
                <a:ext uri="{FF2B5EF4-FFF2-40B4-BE49-F238E27FC236}">
                  <a16:creationId xmlns:a16="http://schemas.microsoft.com/office/drawing/2014/main" id="{09D3893B-3563-B0F0-C180-2012C205FCA0}"/>
                </a:ext>
              </a:extLst>
            </p:cNvPr>
            <p:cNvSpPr/>
            <p:nvPr/>
          </p:nvSpPr>
          <p:spPr>
            <a:xfrm>
              <a:off x="119818" y="3348596"/>
              <a:ext cx="8841302" cy="1292772"/>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r>
                <a:rPr lang="en-US" sz="1600" b="1" dirty="0">
                  <a:solidFill>
                    <a:srgbClr val="81A6C6"/>
                  </a:solidFill>
                </a:rPr>
                <a:t>Predictive Risk Scoring System</a:t>
              </a:r>
              <a:r>
                <a:rPr lang="ar-EG" sz="1600" b="1" dirty="0">
                  <a:solidFill>
                    <a:srgbClr val="81A6C6"/>
                  </a:solidFill>
                </a:rPr>
                <a:t> </a:t>
              </a:r>
              <a:endParaRPr lang="en-US" sz="1600" b="1" dirty="0">
                <a:solidFill>
                  <a:srgbClr val="81A6C6"/>
                </a:solidFill>
              </a:endParaRPr>
            </a:p>
            <a:p>
              <a:r>
                <a:rPr lang="en-US" sz="1600" b="1" dirty="0">
                  <a:solidFill>
                    <a:srgbClr val="81A6C6"/>
                  </a:solidFill>
                </a:rPr>
                <a:t>Implementation: </a:t>
              </a:r>
              <a:r>
                <a:rPr lang="en-US" sz="1600" dirty="0">
                  <a:solidFill>
                    <a:srgbClr val="DCEAF8"/>
                  </a:solidFill>
                </a:rPr>
                <a:t>Developed a weighted scoring algorithm combining Screen Time (40%), Data Usage (30%), and App Count (30%) to classify users into Low, Medium, or High Risk levels.</a:t>
              </a:r>
              <a:endParaRPr lang="ar-EG" sz="1600" dirty="0">
                <a:solidFill>
                  <a:srgbClr val="DCEAF8"/>
                </a:solidFill>
              </a:endParaRPr>
            </a:p>
            <a:p>
              <a:r>
                <a:rPr lang="en-US" sz="1600" b="1" dirty="0">
                  <a:solidFill>
                    <a:srgbClr val="81A6C6"/>
                  </a:solidFill>
                </a:rPr>
                <a:t>Value:</a:t>
              </a:r>
              <a:r>
                <a:rPr lang="en-US" sz="1600" dirty="0">
                  <a:solidFill>
                    <a:srgbClr val="DCEAF8"/>
                  </a:solidFill>
                </a:rPr>
                <a:t> Transforms raw behavior into a "Risk Indicator," identifying 136 High-Risk users who may need digital well-being interventions.</a:t>
              </a:r>
            </a:p>
          </p:txBody>
        </p:sp>
        <p:sp>
          <p:nvSpPr>
            <p:cNvPr id="21" name="Shape 3">
              <a:extLst>
                <a:ext uri="{FF2B5EF4-FFF2-40B4-BE49-F238E27FC236}">
                  <a16:creationId xmlns:a16="http://schemas.microsoft.com/office/drawing/2014/main" id="{34018C0F-BCEC-0B43-72E0-602DAC17ED2F}"/>
                </a:ext>
              </a:extLst>
            </p:cNvPr>
            <p:cNvSpPr/>
            <p:nvPr/>
          </p:nvSpPr>
          <p:spPr>
            <a:xfrm>
              <a:off x="119818" y="3348596"/>
              <a:ext cx="58294" cy="1292772"/>
            </a:xfrm>
            <a:prstGeom prst="rect">
              <a:avLst/>
            </a:prstGeom>
            <a:solidFill>
              <a:srgbClr val="81A6C6"/>
            </a:solidFill>
            <a:ln w="12700">
              <a:solidFill>
                <a:srgbClr val="81A6C6"/>
              </a:solidFill>
              <a:prstDash val="solid"/>
            </a:ln>
          </p:spPr>
          <p:txBody>
            <a:bodyPr/>
            <a:lstStyle/>
            <a:p>
              <a:endParaRPr lang="en-US" dirty="0"/>
            </a:p>
          </p:txBody>
        </p:sp>
      </p:grpSp>
      <p:pic>
        <p:nvPicPr>
          <p:cNvPr id="4" name="Picture 3">
            <a:extLst>
              <a:ext uri="{FF2B5EF4-FFF2-40B4-BE49-F238E27FC236}">
                <a16:creationId xmlns:a16="http://schemas.microsoft.com/office/drawing/2014/main" id="{C2568C6F-B81B-3734-8CB2-42F530ED651F}"/>
              </a:ext>
            </a:extLst>
          </p:cNvPr>
          <p:cNvPicPr>
            <a:picLocks noChangeAspect="1"/>
          </p:cNvPicPr>
          <p:nvPr/>
        </p:nvPicPr>
        <p:blipFill>
          <a:blip r:embed="rId3"/>
          <a:stretch>
            <a:fillRect/>
          </a:stretch>
        </p:blipFill>
        <p:spPr>
          <a:xfrm>
            <a:off x="98596" y="1857798"/>
            <a:ext cx="8946809" cy="2941812"/>
          </a:xfrm>
          <a:prstGeom prst="rect">
            <a:avLst/>
          </a:prstGeom>
        </p:spPr>
      </p:pic>
      <p:grpSp>
        <p:nvGrpSpPr>
          <p:cNvPr id="5" name="Group 4">
            <a:extLst>
              <a:ext uri="{FF2B5EF4-FFF2-40B4-BE49-F238E27FC236}">
                <a16:creationId xmlns:a16="http://schemas.microsoft.com/office/drawing/2014/main" id="{E820675F-F927-06A8-9251-520523FB5625}"/>
              </a:ext>
            </a:extLst>
          </p:cNvPr>
          <p:cNvGrpSpPr/>
          <p:nvPr/>
        </p:nvGrpSpPr>
        <p:grpSpPr>
          <a:xfrm>
            <a:off x="0" y="-3545"/>
            <a:ext cx="9144000" cy="425271"/>
            <a:chOff x="0" y="-3545"/>
            <a:chExt cx="9144000" cy="425271"/>
          </a:xfrm>
        </p:grpSpPr>
        <p:sp>
          <p:nvSpPr>
            <p:cNvPr id="6" name="Shape 0">
              <a:extLst>
                <a:ext uri="{FF2B5EF4-FFF2-40B4-BE49-F238E27FC236}">
                  <a16:creationId xmlns:a16="http://schemas.microsoft.com/office/drawing/2014/main" id="{4F6D1AF3-4689-87E0-A6F9-79CEA1E0C64E}"/>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a:t>
              </a:r>
              <a:r>
                <a:rPr lang="en-US" b="1" dirty="0">
                  <a:solidFill>
                    <a:srgbClr val="81A6C6"/>
                  </a:solidFill>
                </a:rPr>
                <a:t>Predictive Risk Scoring System</a:t>
              </a:r>
              <a:r>
                <a:rPr lang="ar-EG" b="1" dirty="0">
                  <a:solidFill>
                    <a:srgbClr val="81A6C6"/>
                  </a:solidFill>
                </a:rPr>
                <a:t> </a:t>
              </a:r>
              <a:endParaRPr lang="en-US" b="1" dirty="0">
                <a:solidFill>
                  <a:srgbClr val="81A6C6"/>
                </a:solidFill>
              </a:endParaRPr>
            </a:p>
          </p:txBody>
        </p:sp>
        <p:sp>
          <p:nvSpPr>
            <p:cNvPr id="7" name="Shape 5">
              <a:extLst>
                <a:ext uri="{FF2B5EF4-FFF2-40B4-BE49-F238E27FC236}">
                  <a16:creationId xmlns:a16="http://schemas.microsoft.com/office/drawing/2014/main" id="{7FEDC44F-0D00-3B37-9C80-4D4D2687CBCB}"/>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grpSp>
        <p:nvGrpSpPr>
          <p:cNvPr id="8" name="Group 7">
            <a:extLst>
              <a:ext uri="{FF2B5EF4-FFF2-40B4-BE49-F238E27FC236}">
                <a16:creationId xmlns:a16="http://schemas.microsoft.com/office/drawing/2014/main" id="{E89A8922-F2C9-DDE4-25FB-F7E56FD272FB}"/>
              </a:ext>
            </a:extLst>
          </p:cNvPr>
          <p:cNvGrpSpPr/>
          <p:nvPr/>
        </p:nvGrpSpPr>
        <p:grpSpPr>
          <a:xfrm>
            <a:off x="0" y="4864608"/>
            <a:ext cx="9144000" cy="278892"/>
            <a:chOff x="0" y="4864608"/>
            <a:chExt cx="9144000" cy="278892"/>
          </a:xfrm>
        </p:grpSpPr>
        <p:sp>
          <p:nvSpPr>
            <p:cNvPr id="9" name="Shape 29">
              <a:extLst>
                <a:ext uri="{FF2B5EF4-FFF2-40B4-BE49-F238E27FC236}">
                  <a16:creationId xmlns:a16="http://schemas.microsoft.com/office/drawing/2014/main" id="{A347014C-5892-F032-9003-D9341CA542A7}"/>
                </a:ext>
              </a:extLst>
            </p:cNvPr>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10" name="Text 30">
              <a:extLst>
                <a:ext uri="{FF2B5EF4-FFF2-40B4-BE49-F238E27FC236}">
                  <a16:creationId xmlns:a16="http://schemas.microsoft.com/office/drawing/2014/main" id="{FF252F5B-451C-3DE1-4450-EBCE61D813C1}"/>
                </a:ext>
              </a:extLst>
            </p:cNvPr>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11" name="Text 31">
              <a:extLst>
                <a:ext uri="{FF2B5EF4-FFF2-40B4-BE49-F238E27FC236}">
                  <a16:creationId xmlns:a16="http://schemas.microsoft.com/office/drawing/2014/main" id="{91D8A66E-15DA-A8F2-9DBC-CE56F952A970}"/>
                </a:ext>
              </a:extLst>
            </p:cNvPr>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17</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48F200AD-7F1D-13CB-5A6D-B4B42946AA5D}"/>
              </a:ext>
            </a:extLst>
          </p:cNvPr>
          <p:cNvGrpSpPr/>
          <p:nvPr/>
        </p:nvGrpSpPr>
        <p:grpSpPr>
          <a:xfrm>
            <a:off x="4586468" y="506361"/>
            <a:ext cx="4420651" cy="1792204"/>
            <a:chOff x="119818" y="3348596"/>
            <a:chExt cx="8841302" cy="1292772"/>
          </a:xfrm>
          <a:solidFill>
            <a:srgbClr val="161B22"/>
          </a:solidFill>
        </p:grpSpPr>
        <p:sp>
          <p:nvSpPr>
            <p:cNvPr id="20" name="Shape 2">
              <a:extLst>
                <a:ext uri="{FF2B5EF4-FFF2-40B4-BE49-F238E27FC236}">
                  <a16:creationId xmlns:a16="http://schemas.microsoft.com/office/drawing/2014/main" id="{1DEFB3A0-C871-8D64-6512-42B111B14F55}"/>
                </a:ext>
              </a:extLst>
            </p:cNvPr>
            <p:cNvSpPr/>
            <p:nvPr/>
          </p:nvSpPr>
          <p:spPr>
            <a:xfrm>
              <a:off x="119818" y="3348596"/>
              <a:ext cx="8841302" cy="1292772"/>
            </a:xfrm>
            <a:prstGeom prst="rect">
              <a:avLst/>
            </a:prstGeom>
            <a:grpFill/>
            <a:ln w="12700">
              <a:solidFill>
                <a:srgbClr val="81A6C6"/>
              </a:solidFill>
              <a:prstDash val="solid"/>
            </a:ln>
            <a:effectLst>
              <a:outerShdw blurRad="63500" dist="25400" dir="8100000" algn="bl" rotWithShape="0">
                <a:srgbClr val="000000">
                  <a:alpha val="8000"/>
                </a:srgbClr>
              </a:outerShdw>
            </a:effectLst>
          </p:spPr>
          <p:txBody>
            <a:bodyPr/>
            <a:lstStyle/>
            <a:p>
              <a:r>
                <a:rPr lang="en-US" sz="1400" b="1" dirty="0">
                  <a:solidFill>
                    <a:srgbClr val="81A6C6"/>
                  </a:solidFill>
                </a:rPr>
                <a:t>Final Distribution Pie Chart</a:t>
              </a:r>
              <a:r>
                <a:rPr lang="ar-EG" sz="1400" b="1" dirty="0">
                  <a:solidFill>
                    <a:srgbClr val="81A6C6"/>
                  </a:solidFill>
                </a:rPr>
                <a:t> </a:t>
              </a:r>
              <a:endParaRPr lang="en-US" sz="1400" b="1" dirty="0">
                <a:solidFill>
                  <a:srgbClr val="81A6C6"/>
                </a:solidFill>
              </a:endParaRPr>
            </a:p>
            <a:p>
              <a:r>
                <a:rPr lang="en-US" sz="1400" b="1" dirty="0">
                  <a:solidFill>
                    <a:srgbClr val="81A6C6"/>
                  </a:solidFill>
                </a:rPr>
                <a:t>Implementation: </a:t>
              </a:r>
              <a:r>
                <a:rPr lang="en-US" sz="1400" dirty="0">
                  <a:solidFill>
                    <a:srgbClr val="DCEAF8"/>
                  </a:solidFill>
                </a:rPr>
                <a:t>Visualized the results of the risk scoring system using a Pie Chart, applying a clear color palette to distinguish between risk levels.</a:t>
              </a:r>
              <a:endParaRPr lang="ar-EG" sz="1400" dirty="0">
                <a:solidFill>
                  <a:srgbClr val="DCEAF8"/>
                </a:solidFill>
              </a:endParaRPr>
            </a:p>
            <a:p>
              <a:r>
                <a:rPr lang="en-US" sz="1400" b="1" dirty="0">
                  <a:solidFill>
                    <a:srgbClr val="81A6C6"/>
                  </a:solidFill>
                </a:rPr>
                <a:t>Value:</a:t>
              </a:r>
              <a:r>
                <a:rPr lang="en-US" sz="1400" dirty="0">
                  <a:solidFill>
                    <a:srgbClr val="DCEAF8"/>
                  </a:solidFill>
                </a:rPr>
                <a:t> Provides an immediate, high-level view of the entire user base's health; showing that while most users are in the "Low Risk" (46.4%) zone, a significant 19.4% are categorized as "High Risk".</a:t>
              </a:r>
            </a:p>
          </p:txBody>
        </p:sp>
        <p:sp>
          <p:nvSpPr>
            <p:cNvPr id="21" name="Shape 3">
              <a:extLst>
                <a:ext uri="{FF2B5EF4-FFF2-40B4-BE49-F238E27FC236}">
                  <a16:creationId xmlns:a16="http://schemas.microsoft.com/office/drawing/2014/main" id="{978D674D-2D33-A43F-F34D-1AAACA063B6B}"/>
                </a:ext>
              </a:extLst>
            </p:cNvPr>
            <p:cNvSpPr/>
            <p:nvPr/>
          </p:nvSpPr>
          <p:spPr>
            <a:xfrm>
              <a:off x="119818" y="3348596"/>
              <a:ext cx="58294" cy="1292772"/>
            </a:xfrm>
            <a:prstGeom prst="rect">
              <a:avLst/>
            </a:prstGeom>
            <a:solidFill>
              <a:srgbClr val="81A6C6"/>
            </a:solidFill>
            <a:ln w="12700">
              <a:solidFill>
                <a:srgbClr val="81A6C6"/>
              </a:solidFill>
              <a:prstDash val="solid"/>
            </a:ln>
          </p:spPr>
          <p:txBody>
            <a:bodyPr/>
            <a:lstStyle/>
            <a:p>
              <a:endParaRPr lang="en-US"/>
            </a:p>
          </p:txBody>
        </p:sp>
      </p:grpSp>
      <p:grpSp>
        <p:nvGrpSpPr>
          <p:cNvPr id="3" name="Group 2">
            <a:extLst>
              <a:ext uri="{FF2B5EF4-FFF2-40B4-BE49-F238E27FC236}">
                <a16:creationId xmlns:a16="http://schemas.microsoft.com/office/drawing/2014/main" id="{10FA9B6C-A8E4-53A0-80C8-0B5DA46EEE30}"/>
              </a:ext>
            </a:extLst>
          </p:cNvPr>
          <p:cNvGrpSpPr/>
          <p:nvPr/>
        </p:nvGrpSpPr>
        <p:grpSpPr>
          <a:xfrm>
            <a:off x="0" y="-3545"/>
            <a:ext cx="9144000" cy="425271"/>
            <a:chOff x="0" y="-3545"/>
            <a:chExt cx="9144000" cy="425271"/>
          </a:xfrm>
        </p:grpSpPr>
        <p:sp>
          <p:nvSpPr>
            <p:cNvPr id="4" name="Shape 0">
              <a:extLst>
                <a:ext uri="{FF2B5EF4-FFF2-40B4-BE49-F238E27FC236}">
                  <a16:creationId xmlns:a16="http://schemas.microsoft.com/office/drawing/2014/main" id="{8D3CF076-E38C-45CC-2891-F7CDF63A5946}"/>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a:t>
              </a:r>
              <a:r>
                <a:rPr lang="en-US" b="1" dirty="0">
                  <a:solidFill>
                    <a:srgbClr val="81A6C6"/>
                  </a:solidFill>
                </a:rPr>
                <a:t>Final Distribution Pie Chart</a:t>
              </a:r>
              <a:r>
                <a:rPr lang="ar-EG" b="1" dirty="0">
                  <a:solidFill>
                    <a:srgbClr val="81A6C6"/>
                  </a:solidFill>
                </a:rPr>
                <a:t> </a:t>
              </a:r>
              <a:endParaRPr lang="en-US" b="1" dirty="0">
                <a:solidFill>
                  <a:srgbClr val="81A6C6"/>
                </a:solidFill>
              </a:endParaRPr>
            </a:p>
          </p:txBody>
        </p:sp>
        <p:sp>
          <p:nvSpPr>
            <p:cNvPr id="5" name="Shape 5">
              <a:extLst>
                <a:ext uri="{FF2B5EF4-FFF2-40B4-BE49-F238E27FC236}">
                  <a16:creationId xmlns:a16="http://schemas.microsoft.com/office/drawing/2014/main" id="{CDB996AB-8B37-B0B4-2BE7-FA2A9C9AF3B0}"/>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grpSp>
        <p:nvGrpSpPr>
          <p:cNvPr id="8" name="Group 7">
            <a:extLst>
              <a:ext uri="{FF2B5EF4-FFF2-40B4-BE49-F238E27FC236}">
                <a16:creationId xmlns:a16="http://schemas.microsoft.com/office/drawing/2014/main" id="{3110F816-EE42-EC40-6F6E-D57A3C132EC6}"/>
              </a:ext>
            </a:extLst>
          </p:cNvPr>
          <p:cNvGrpSpPr/>
          <p:nvPr/>
        </p:nvGrpSpPr>
        <p:grpSpPr>
          <a:xfrm>
            <a:off x="4571999" y="2383200"/>
            <a:ext cx="4435120" cy="2160000"/>
            <a:chOff x="302698" y="3068996"/>
            <a:chExt cx="8841302" cy="1292772"/>
          </a:xfrm>
        </p:grpSpPr>
        <p:sp>
          <p:nvSpPr>
            <p:cNvPr id="6" name="Shape 2">
              <a:extLst>
                <a:ext uri="{FF2B5EF4-FFF2-40B4-BE49-F238E27FC236}">
                  <a16:creationId xmlns:a16="http://schemas.microsoft.com/office/drawing/2014/main" id="{CE4DA3DD-63D4-3E47-48F7-248136D3A731}"/>
                </a:ext>
              </a:extLst>
            </p:cNvPr>
            <p:cNvSpPr/>
            <p:nvPr/>
          </p:nvSpPr>
          <p:spPr>
            <a:xfrm>
              <a:off x="302698" y="3068996"/>
              <a:ext cx="8841302" cy="1292772"/>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r>
                <a:rPr lang="en-US" sz="1600" b="1" dirty="0">
                  <a:solidFill>
                    <a:srgbClr val="81A6C6"/>
                  </a:solidFill>
                </a:rPr>
                <a:t>Final Risk Distribution Visualization</a:t>
              </a:r>
              <a:r>
                <a:rPr lang="ar-EG" sz="1600" b="1" dirty="0">
                  <a:solidFill>
                    <a:srgbClr val="81A6C6"/>
                  </a:solidFill>
                </a:rPr>
                <a:t> </a:t>
              </a:r>
              <a:r>
                <a:rPr lang="en-US" sz="1600" b="1" dirty="0">
                  <a:solidFill>
                    <a:srgbClr val="81A6C6"/>
                  </a:solidFill>
                </a:rPr>
                <a:t>Implementation: </a:t>
              </a:r>
              <a:r>
                <a:rPr lang="en-US" sz="1600" dirty="0">
                  <a:solidFill>
                    <a:srgbClr val="DCEAF8"/>
                  </a:solidFill>
                </a:rPr>
                <a:t>Developed a Pie Chart to visualize the final distribution of user risk levels, categorized into Low, Medium, and High Risk.</a:t>
              </a:r>
              <a:endParaRPr lang="ar-EG" sz="1600" dirty="0">
                <a:solidFill>
                  <a:srgbClr val="DCEAF8"/>
                </a:solidFill>
              </a:endParaRPr>
            </a:p>
            <a:p>
              <a:r>
                <a:rPr lang="en-US" sz="1600" b="1" dirty="0">
                  <a:solidFill>
                    <a:srgbClr val="81A6C6"/>
                  </a:solidFill>
                </a:rPr>
                <a:t>Value:</a:t>
              </a:r>
              <a:r>
                <a:rPr lang="en-US" sz="1600" dirty="0">
                  <a:solidFill>
                    <a:srgbClr val="DCEAF8"/>
                  </a:solidFill>
                </a:rPr>
                <a:t> Provides an immediate strategic overview, showing that while 46.4% of users are in the safe zone, nearly 20% require urgent digital wellness attention.</a:t>
              </a:r>
            </a:p>
          </p:txBody>
        </p:sp>
        <p:sp>
          <p:nvSpPr>
            <p:cNvPr id="7" name="Shape 3">
              <a:extLst>
                <a:ext uri="{FF2B5EF4-FFF2-40B4-BE49-F238E27FC236}">
                  <a16:creationId xmlns:a16="http://schemas.microsoft.com/office/drawing/2014/main" id="{27EFC27E-7065-109E-6C25-44CA64D9DF96}"/>
                </a:ext>
              </a:extLst>
            </p:cNvPr>
            <p:cNvSpPr/>
            <p:nvPr/>
          </p:nvSpPr>
          <p:spPr>
            <a:xfrm>
              <a:off x="302698" y="3068996"/>
              <a:ext cx="58294" cy="1292772"/>
            </a:xfrm>
            <a:prstGeom prst="rect">
              <a:avLst/>
            </a:prstGeom>
            <a:solidFill>
              <a:srgbClr val="81A6C6"/>
            </a:solidFill>
            <a:ln w="12700">
              <a:solidFill>
                <a:srgbClr val="81A6C6"/>
              </a:solidFill>
              <a:prstDash val="solid"/>
            </a:ln>
          </p:spPr>
          <p:txBody>
            <a:bodyPr/>
            <a:lstStyle/>
            <a:p>
              <a:endParaRPr lang="en-US"/>
            </a:p>
          </p:txBody>
        </p:sp>
      </p:grpSp>
      <p:pic>
        <p:nvPicPr>
          <p:cNvPr id="10" name="Picture 9">
            <a:extLst>
              <a:ext uri="{FF2B5EF4-FFF2-40B4-BE49-F238E27FC236}">
                <a16:creationId xmlns:a16="http://schemas.microsoft.com/office/drawing/2014/main" id="{B4B2FA7C-E814-B04D-116B-3B67F7C60153}"/>
              </a:ext>
            </a:extLst>
          </p:cNvPr>
          <p:cNvPicPr>
            <a:picLocks noChangeAspect="1"/>
          </p:cNvPicPr>
          <p:nvPr/>
        </p:nvPicPr>
        <p:blipFill>
          <a:blip r:embed="rId2"/>
          <a:stretch>
            <a:fillRect/>
          </a:stretch>
        </p:blipFill>
        <p:spPr>
          <a:xfrm>
            <a:off x="432000" y="518996"/>
            <a:ext cx="3981599" cy="1292772"/>
          </a:xfrm>
          <a:prstGeom prst="rect">
            <a:avLst/>
          </a:prstGeom>
        </p:spPr>
      </p:pic>
      <p:pic>
        <p:nvPicPr>
          <p:cNvPr id="12" name="Picture 11">
            <a:extLst>
              <a:ext uri="{FF2B5EF4-FFF2-40B4-BE49-F238E27FC236}">
                <a16:creationId xmlns:a16="http://schemas.microsoft.com/office/drawing/2014/main" id="{ECB36756-CD95-2C44-7CB5-8E733D0942AB}"/>
              </a:ext>
            </a:extLst>
          </p:cNvPr>
          <p:cNvPicPr>
            <a:picLocks noChangeAspect="1"/>
          </p:cNvPicPr>
          <p:nvPr/>
        </p:nvPicPr>
        <p:blipFill>
          <a:blip r:embed="rId3"/>
          <a:stretch>
            <a:fillRect/>
          </a:stretch>
        </p:blipFill>
        <p:spPr>
          <a:xfrm>
            <a:off x="706320" y="1848581"/>
            <a:ext cx="3247201" cy="2932088"/>
          </a:xfrm>
          <a:prstGeom prst="rect">
            <a:avLst/>
          </a:prstGeom>
        </p:spPr>
      </p:pic>
      <p:grpSp>
        <p:nvGrpSpPr>
          <p:cNvPr id="13" name="Group 12">
            <a:extLst>
              <a:ext uri="{FF2B5EF4-FFF2-40B4-BE49-F238E27FC236}">
                <a16:creationId xmlns:a16="http://schemas.microsoft.com/office/drawing/2014/main" id="{766A21B8-3C41-9E37-8E61-B466582EF468}"/>
              </a:ext>
            </a:extLst>
          </p:cNvPr>
          <p:cNvGrpSpPr/>
          <p:nvPr/>
        </p:nvGrpSpPr>
        <p:grpSpPr>
          <a:xfrm>
            <a:off x="0" y="4864608"/>
            <a:ext cx="9144000" cy="278892"/>
            <a:chOff x="0" y="4864608"/>
            <a:chExt cx="9144000" cy="278892"/>
          </a:xfrm>
        </p:grpSpPr>
        <p:sp>
          <p:nvSpPr>
            <p:cNvPr id="14" name="Shape 29">
              <a:extLst>
                <a:ext uri="{FF2B5EF4-FFF2-40B4-BE49-F238E27FC236}">
                  <a16:creationId xmlns:a16="http://schemas.microsoft.com/office/drawing/2014/main" id="{77B9CF48-E72B-6B5F-DEA5-ECB05F76589D}"/>
                </a:ext>
              </a:extLst>
            </p:cNvPr>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15" name="Text 30">
              <a:extLst>
                <a:ext uri="{FF2B5EF4-FFF2-40B4-BE49-F238E27FC236}">
                  <a16:creationId xmlns:a16="http://schemas.microsoft.com/office/drawing/2014/main" id="{481243CD-F8B9-3572-1D0C-C2C8900A691A}"/>
                </a:ext>
              </a:extLst>
            </p:cNvPr>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22" name="Text 31">
              <a:extLst>
                <a:ext uri="{FF2B5EF4-FFF2-40B4-BE49-F238E27FC236}">
                  <a16:creationId xmlns:a16="http://schemas.microsoft.com/office/drawing/2014/main" id="{F4812F7B-47A7-4D10-CE70-BA3D3EE46BE1}"/>
                </a:ext>
              </a:extLst>
            </p:cNvPr>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18</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A607A1E3-2BBC-8AFD-DA74-8695899FFAB8}"/>
              </a:ext>
            </a:extLst>
          </p:cNvPr>
          <p:cNvGrpSpPr/>
          <p:nvPr/>
        </p:nvGrpSpPr>
        <p:grpSpPr>
          <a:xfrm>
            <a:off x="119818" y="488363"/>
            <a:ext cx="8841302" cy="1425000"/>
            <a:chOff x="119818" y="3348596"/>
            <a:chExt cx="8841302" cy="1292772"/>
          </a:xfrm>
        </p:grpSpPr>
        <p:sp>
          <p:nvSpPr>
            <p:cNvPr id="20" name="Shape 2">
              <a:extLst>
                <a:ext uri="{FF2B5EF4-FFF2-40B4-BE49-F238E27FC236}">
                  <a16:creationId xmlns:a16="http://schemas.microsoft.com/office/drawing/2014/main" id="{FF9E4B72-0F2C-556D-FAB1-777A3DEDD9FF}"/>
                </a:ext>
              </a:extLst>
            </p:cNvPr>
            <p:cNvSpPr/>
            <p:nvPr/>
          </p:nvSpPr>
          <p:spPr>
            <a:xfrm>
              <a:off x="119818" y="3348596"/>
              <a:ext cx="8841302" cy="1292772"/>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r>
                <a:rPr lang="en-US" sz="1700" b="1" dirty="0">
                  <a:solidFill>
                    <a:srgbClr val="81A6C6"/>
                  </a:solidFill>
                </a:rPr>
                <a:t>Final Data Audit &amp; Integrity Check</a:t>
              </a:r>
              <a:r>
                <a:rPr lang="ar-EG" sz="1700" b="1" dirty="0">
                  <a:solidFill>
                    <a:srgbClr val="81A6C6"/>
                  </a:solidFill>
                </a:rPr>
                <a:t> </a:t>
              </a:r>
              <a:endParaRPr lang="en-US" sz="1700" b="1" dirty="0">
                <a:solidFill>
                  <a:srgbClr val="81A6C6"/>
                </a:solidFill>
              </a:endParaRPr>
            </a:p>
            <a:p>
              <a:r>
                <a:rPr lang="en-US" sz="1700" b="1" dirty="0">
                  <a:solidFill>
                    <a:srgbClr val="81A6C6"/>
                  </a:solidFill>
                </a:rPr>
                <a:t>Implementation:</a:t>
              </a:r>
              <a:r>
                <a:rPr lang="en-US" sz="1700" dirty="0">
                  <a:solidFill>
                    <a:srgbClr val="DCEAF8"/>
                  </a:solidFill>
                </a:rPr>
                <a:t> Executed a final summary using </a:t>
              </a:r>
              <a:r>
                <a:rPr lang="en-US" sz="1700" dirty="0" err="1">
                  <a:solidFill>
                    <a:srgbClr val="DCEAF8"/>
                  </a:solidFill>
                </a:rPr>
                <a:t>df.describe</a:t>
              </a:r>
              <a:r>
                <a:rPr lang="en-US" sz="1700" dirty="0">
                  <a:solidFill>
                    <a:srgbClr val="DCEAF8"/>
                  </a:solidFill>
                </a:rPr>
                <a:t>() and </a:t>
              </a:r>
              <a:r>
                <a:rPr lang="en-US" sz="1700" dirty="0" err="1">
                  <a:solidFill>
                    <a:srgbClr val="DCEAF8"/>
                  </a:solidFill>
                </a:rPr>
                <a:t>df.tail</a:t>
              </a:r>
              <a:r>
                <a:rPr lang="en-US" sz="1700" dirty="0">
                  <a:solidFill>
                    <a:srgbClr val="DCEAF8"/>
                  </a:solidFill>
                </a:rPr>
                <a:t>() to verify the dataset's final shape (700 rows, 23 columns) and ensure all engineered features are correctly populated.</a:t>
              </a:r>
              <a:endParaRPr lang="ar-EG" sz="1700" dirty="0">
                <a:solidFill>
                  <a:srgbClr val="DCEAF8"/>
                </a:solidFill>
              </a:endParaRPr>
            </a:p>
            <a:p>
              <a:r>
                <a:rPr lang="en-US" sz="1700" b="1" dirty="0">
                  <a:solidFill>
                    <a:srgbClr val="81A6C6"/>
                  </a:solidFill>
                </a:rPr>
                <a:t>Value:</a:t>
              </a:r>
              <a:r>
                <a:rPr lang="en-US" sz="1700" dirty="0">
                  <a:solidFill>
                    <a:srgbClr val="DCEAF8"/>
                  </a:solidFill>
                </a:rPr>
                <a:t> Provides a "final seal of approval" on data integrity, confirming that the dataset is fully processed, consistent, and ready for deployment or advanced machine learning modeling.</a:t>
              </a:r>
            </a:p>
          </p:txBody>
        </p:sp>
        <p:sp>
          <p:nvSpPr>
            <p:cNvPr id="21" name="Shape 3">
              <a:extLst>
                <a:ext uri="{FF2B5EF4-FFF2-40B4-BE49-F238E27FC236}">
                  <a16:creationId xmlns:a16="http://schemas.microsoft.com/office/drawing/2014/main" id="{5DD33426-FC18-C374-4D33-2F635E69D530}"/>
                </a:ext>
              </a:extLst>
            </p:cNvPr>
            <p:cNvSpPr/>
            <p:nvPr/>
          </p:nvSpPr>
          <p:spPr>
            <a:xfrm>
              <a:off x="119818" y="3348596"/>
              <a:ext cx="58294" cy="1292772"/>
            </a:xfrm>
            <a:prstGeom prst="rect">
              <a:avLst/>
            </a:prstGeom>
            <a:solidFill>
              <a:srgbClr val="81A6C6"/>
            </a:solidFill>
            <a:ln w="12700">
              <a:solidFill>
                <a:srgbClr val="81A6C6"/>
              </a:solidFill>
              <a:prstDash val="solid"/>
            </a:ln>
          </p:spPr>
          <p:txBody>
            <a:bodyPr/>
            <a:lstStyle/>
            <a:p>
              <a:endParaRPr lang="en-US" dirty="0"/>
            </a:p>
          </p:txBody>
        </p:sp>
      </p:grpSp>
      <p:grpSp>
        <p:nvGrpSpPr>
          <p:cNvPr id="3" name="Group 2">
            <a:extLst>
              <a:ext uri="{FF2B5EF4-FFF2-40B4-BE49-F238E27FC236}">
                <a16:creationId xmlns:a16="http://schemas.microsoft.com/office/drawing/2014/main" id="{B5D87743-AF98-C7E9-E4A7-7820AF340781}"/>
              </a:ext>
            </a:extLst>
          </p:cNvPr>
          <p:cNvGrpSpPr/>
          <p:nvPr/>
        </p:nvGrpSpPr>
        <p:grpSpPr>
          <a:xfrm>
            <a:off x="0" y="-3545"/>
            <a:ext cx="9144000" cy="425271"/>
            <a:chOff x="0" y="-3545"/>
            <a:chExt cx="9144000" cy="425271"/>
          </a:xfrm>
        </p:grpSpPr>
        <p:sp>
          <p:nvSpPr>
            <p:cNvPr id="4" name="Shape 0">
              <a:extLst>
                <a:ext uri="{FF2B5EF4-FFF2-40B4-BE49-F238E27FC236}">
                  <a16:creationId xmlns:a16="http://schemas.microsoft.com/office/drawing/2014/main" id="{1830E70D-859E-FB3C-09CA-2A454C65DEF7}"/>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a:t>
              </a:r>
              <a:r>
                <a:rPr lang="en-US" b="1" dirty="0">
                  <a:solidFill>
                    <a:srgbClr val="81A6C6"/>
                  </a:solidFill>
                </a:rPr>
                <a:t>Final Data Audit &amp; Integrity Check</a:t>
              </a:r>
              <a:r>
                <a:rPr lang="ar-EG" b="1" dirty="0">
                  <a:solidFill>
                    <a:srgbClr val="81A6C6"/>
                  </a:solidFill>
                </a:rPr>
                <a:t> </a:t>
              </a:r>
              <a:endParaRPr lang="en-US" b="1" dirty="0">
                <a:solidFill>
                  <a:srgbClr val="81A6C6"/>
                </a:solidFill>
              </a:endParaRPr>
            </a:p>
          </p:txBody>
        </p:sp>
        <p:sp>
          <p:nvSpPr>
            <p:cNvPr id="5" name="Shape 5">
              <a:extLst>
                <a:ext uri="{FF2B5EF4-FFF2-40B4-BE49-F238E27FC236}">
                  <a16:creationId xmlns:a16="http://schemas.microsoft.com/office/drawing/2014/main" id="{EA51A606-31BC-5B35-E657-8BCF98E6A917}"/>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grpSp>
        <p:nvGrpSpPr>
          <p:cNvPr id="8" name="Group 7">
            <a:extLst>
              <a:ext uri="{FF2B5EF4-FFF2-40B4-BE49-F238E27FC236}">
                <a16:creationId xmlns:a16="http://schemas.microsoft.com/office/drawing/2014/main" id="{3CA0CD78-7062-E604-C411-8B0502CD692A}"/>
              </a:ext>
            </a:extLst>
          </p:cNvPr>
          <p:cNvGrpSpPr/>
          <p:nvPr/>
        </p:nvGrpSpPr>
        <p:grpSpPr>
          <a:xfrm>
            <a:off x="0" y="4864608"/>
            <a:ext cx="9144000" cy="278892"/>
            <a:chOff x="0" y="4864608"/>
            <a:chExt cx="9144000" cy="278892"/>
          </a:xfrm>
        </p:grpSpPr>
        <p:sp>
          <p:nvSpPr>
            <p:cNvPr id="9" name="Shape 29">
              <a:extLst>
                <a:ext uri="{FF2B5EF4-FFF2-40B4-BE49-F238E27FC236}">
                  <a16:creationId xmlns:a16="http://schemas.microsoft.com/office/drawing/2014/main" id="{ADA975C9-07EB-6B10-8094-DE16DA48C5F7}"/>
                </a:ext>
              </a:extLst>
            </p:cNvPr>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10" name="Text 30">
              <a:extLst>
                <a:ext uri="{FF2B5EF4-FFF2-40B4-BE49-F238E27FC236}">
                  <a16:creationId xmlns:a16="http://schemas.microsoft.com/office/drawing/2014/main" id="{E345D0C3-106A-CAF7-E061-C741C915AF79}"/>
                </a:ext>
              </a:extLst>
            </p:cNvPr>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11" name="Text 31">
              <a:extLst>
                <a:ext uri="{FF2B5EF4-FFF2-40B4-BE49-F238E27FC236}">
                  <a16:creationId xmlns:a16="http://schemas.microsoft.com/office/drawing/2014/main" id="{1305A00B-FA5B-CECD-5589-C8E0934E413E}"/>
                </a:ext>
              </a:extLst>
            </p:cNvPr>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19</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pic>
        <p:nvPicPr>
          <p:cNvPr id="13" name="Picture 12">
            <a:extLst>
              <a:ext uri="{FF2B5EF4-FFF2-40B4-BE49-F238E27FC236}">
                <a16:creationId xmlns:a16="http://schemas.microsoft.com/office/drawing/2014/main" id="{5F84D229-F130-3611-A139-B6D4190911CC}"/>
              </a:ext>
            </a:extLst>
          </p:cNvPr>
          <p:cNvPicPr>
            <a:picLocks noChangeAspect="1"/>
          </p:cNvPicPr>
          <p:nvPr/>
        </p:nvPicPr>
        <p:blipFill>
          <a:blip r:embed="rId2"/>
          <a:stretch>
            <a:fillRect/>
          </a:stretch>
        </p:blipFill>
        <p:spPr>
          <a:xfrm>
            <a:off x="148965" y="1979999"/>
            <a:ext cx="8841302" cy="281797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DA9B19C-677A-8543-5733-4A913E602476}"/>
              </a:ext>
            </a:extLst>
          </p:cNvPr>
          <p:cNvGrpSpPr/>
          <p:nvPr/>
        </p:nvGrpSpPr>
        <p:grpSpPr>
          <a:xfrm>
            <a:off x="119818" y="540595"/>
            <a:ext cx="8841302" cy="1190425"/>
            <a:chOff x="119818" y="3348596"/>
            <a:chExt cx="8841302" cy="1292772"/>
          </a:xfrm>
        </p:grpSpPr>
        <p:sp>
          <p:nvSpPr>
            <p:cNvPr id="28" name="Shape 2">
              <a:extLst>
                <a:ext uri="{FF2B5EF4-FFF2-40B4-BE49-F238E27FC236}">
                  <a16:creationId xmlns:a16="http://schemas.microsoft.com/office/drawing/2014/main" id="{23BB29F5-47FB-CF8B-E5C4-45316B9EE40B}"/>
                </a:ext>
              </a:extLst>
            </p:cNvPr>
            <p:cNvSpPr/>
            <p:nvPr/>
          </p:nvSpPr>
          <p:spPr>
            <a:xfrm>
              <a:off x="119818" y="3348596"/>
              <a:ext cx="8841302" cy="1292772"/>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r>
                <a:rPr lang="en-US" sz="1400" b="1" dirty="0">
                  <a:solidFill>
                    <a:srgbClr val="81A6C6"/>
                  </a:solidFill>
                </a:rPr>
                <a:t>Data Splitting (X, y)</a:t>
              </a:r>
            </a:p>
            <a:p>
              <a:r>
                <a:rPr lang="en-US" sz="1400" b="1" dirty="0">
                  <a:solidFill>
                    <a:srgbClr val="81A6C6"/>
                  </a:solidFill>
                </a:rPr>
                <a:t>Implementation: </a:t>
              </a:r>
              <a:r>
                <a:rPr lang="en-US" sz="1400" dirty="0">
                  <a:solidFill>
                    <a:srgbClr val="DCEAF8"/>
                  </a:solidFill>
                </a:rPr>
                <a:t>Separated the dataset into Features (X) by dropping the target column, and the Target Variable (y) which is the '</a:t>
              </a:r>
              <a:r>
                <a:rPr lang="en-US" sz="1400" dirty="0" err="1">
                  <a:solidFill>
                    <a:srgbClr val="DCEAF8"/>
                  </a:solidFill>
                </a:rPr>
                <a:t>Addiction_Risk_Level</a:t>
              </a:r>
              <a:r>
                <a:rPr lang="en-US" sz="1400" dirty="0">
                  <a:solidFill>
                    <a:srgbClr val="DCEAF8"/>
                  </a:solidFill>
                </a:rPr>
                <a:t>’.</a:t>
              </a:r>
              <a:endParaRPr lang="ar-EG" sz="1400" dirty="0">
                <a:solidFill>
                  <a:srgbClr val="DCEAF8"/>
                </a:solidFill>
              </a:endParaRPr>
            </a:p>
            <a:p>
              <a:r>
                <a:rPr lang="en-US" sz="1400" b="1" dirty="0">
                  <a:solidFill>
                    <a:srgbClr val="81A6C6"/>
                  </a:solidFill>
                </a:rPr>
                <a:t>Value: </a:t>
              </a:r>
              <a:r>
                <a:rPr lang="en-US" sz="1400" dirty="0">
                  <a:solidFill>
                    <a:srgbClr val="DCEAF8"/>
                  </a:solidFill>
                </a:rPr>
                <a:t>This is the bridge between data processing and Machine Learning; it organizes the data so the model can learn from inputs (X) to predict the outcome (y) accurately.</a:t>
              </a:r>
            </a:p>
          </p:txBody>
        </p:sp>
        <p:sp>
          <p:nvSpPr>
            <p:cNvPr id="29" name="Shape 3">
              <a:extLst>
                <a:ext uri="{FF2B5EF4-FFF2-40B4-BE49-F238E27FC236}">
                  <a16:creationId xmlns:a16="http://schemas.microsoft.com/office/drawing/2014/main" id="{69F4958B-C3BB-638D-005B-FB6602298A3C}"/>
                </a:ext>
              </a:extLst>
            </p:cNvPr>
            <p:cNvSpPr/>
            <p:nvPr/>
          </p:nvSpPr>
          <p:spPr>
            <a:xfrm>
              <a:off x="119818" y="3348596"/>
              <a:ext cx="58294" cy="1292772"/>
            </a:xfrm>
            <a:prstGeom prst="rect">
              <a:avLst/>
            </a:prstGeom>
            <a:solidFill>
              <a:srgbClr val="81A6C6"/>
            </a:solidFill>
            <a:ln w="12700">
              <a:solidFill>
                <a:srgbClr val="81A6C6"/>
              </a:solidFill>
              <a:prstDash val="solid"/>
            </a:ln>
          </p:spPr>
          <p:txBody>
            <a:bodyPr/>
            <a:lstStyle/>
            <a:p>
              <a:endParaRPr lang="en-US"/>
            </a:p>
          </p:txBody>
        </p:sp>
      </p:grpSp>
      <p:grpSp>
        <p:nvGrpSpPr>
          <p:cNvPr id="3" name="Group 2">
            <a:extLst>
              <a:ext uri="{FF2B5EF4-FFF2-40B4-BE49-F238E27FC236}">
                <a16:creationId xmlns:a16="http://schemas.microsoft.com/office/drawing/2014/main" id="{3FA64433-E022-FDFB-A16E-0FD7854694E3}"/>
              </a:ext>
            </a:extLst>
          </p:cNvPr>
          <p:cNvGrpSpPr/>
          <p:nvPr/>
        </p:nvGrpSpPr>
        <p:grpSpPr>
          <a:xfrm>
            <a:off x="0" y="-3545"/>
            <a:ext cx="9144000" cy="425271"/>
            <a:chOff x="0" y="-3545"/>
            <a:chExt cx="9144000" cy="425271"/>
          </a:xfrm>
        </p:grpSpPr>
        <p:sp>
          <p:nvSpPr>
            <p:cNvPr id="4" name="Shape 0">
              <a:extLst>
                <a:ext uri="{FF2B5EF4-FFF2-40B4-BE49-F238E27FC236}">
                  <a16:creationId xmlns:a16="http://schemas.microsoft.com/office/drawing/2014/main" id="{7B019EF0-C750-D611-4B82-2466589B5AF1}"/>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a:t>
              </a:r>
              <a:r>
                <a:rPr lang="en-US" b="1" dirty="0">
                  <a:solidFill>
                    <a:srgbClr val="81A6C6"/>
                  </a:solidFill>
                </a:rPr>
                <a:t>Data Splitting (X, y)</a:t>
              </a:r>
            </a:p>
          </p:txBody>
        </p:sp>
        <p:sp>
          <p:nvSpPr>
            <p:cNvPr id="5" name="Shape 5">
              <a:extLst>
                <a:ext uri="{FF2B5EF4-FFF2-40B4-BE49-F238E27FC236}">
                  <a16:creationId xmlns:a16="http://schemas.microsoft.com/office/drawing/2014/main" id="{EC25F8A3-451A-4EEB-A20C-AD154181CF1A}"/>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grpSp>
        <p:nvGrpSpPr>
          <p:cNvPr id="6" name="Group 5">
            <a:extLst>
              <a:ext uri="{FF2B5EF4-FFF2-40B4-BE49-F238E27FC236}">
                <a16:creationId xmlns:a16="http://schemas.microsoft.com/office/drawing/2014/main" id="{143CA666-FABB-35DB-0277-8B9F28A84B6B}"/>
              </a:ext>
            </a:extLst>
          </p:cNvPr>
          <p:cNvGrpSpPr/>
          <p:nvPr/>
        </p:nvGrpSpPr>
        <p:grpSpPr>
          <a:xfrm>
            <a:off x="0" y="4864608"/>
            <a:ext cx="9144000" cy="278892"/>
            <a:chOff x="0" y="4864608"/>
            <a:chExt cx="9144000" cy="278892"/>
          </a:xfrm>
        </p:grpSpPr>
        <p:sp>
          <p:nvSpPr>
            <p:cNvPr id="7" name="Shape 29">
              <a:extLst>
                <a:ext uri="{FF2B5EF4-FFF2-40B4-BE49-F238E27FC236}">
                  <a16:creationId xmlns:a16="http://schemas.microsoft.com/office/drawing/2014/main" id="{6C60E251-87E5-C678-C10A-11AE0765C636}"/>
                </a:ext>
              </a:extLst>
            </p:cNvPr>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8" name="Text 30">
              <a:extLst>
                <a:ext uri="{FF2B5EF4-FFF2-40B4-BE49-F238E27FC236}">
                  <a16:creationId xmlns:a16="http://schemas.microsoft.com/office/drawing/2014/main" id="{3FA7F337-E8E0-4898-0D48-0614A0B94ACD}"/>
                </a:ext>
              </a:extLst>
            </p:cNvPr>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9" name="Text 31">
              <a:extLst>
                <a:ext uri="{FF2B5EF4-FFF2-40B4-BE49-F238E27FC236}">
                  <a16:creationId xmlns:a16="http://schemas.microsoft.com/office/drawing/2014/main" id="{2A57A2A3-4B7C-CA94-D922-822764CF49F4}"/>
                </a:ext>
              </a:extLst>
            </p:cNvPr>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20</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pic>
        <p:nvPicPr>
          <p:cNvPr id="11" name="Picture 10">
            <a:extLst>
              <a:ext uri="{FF2B5EF4-FFF2-40B4-BE49-F238E27FC236}">
                <a16:creationId xmlns:a16="http://schemas.microsoft.com/office/drawing/2014/main" id="{EE804D03-8190-F6A1-505D-918A2B8A3851}"/>
              </a:ext>
            </a:extLst>
          </p:cNvPr>
          <p:cNvPicPr>
            <a:picLocks noChangeAspect="1"/>
          </p:cNvPicPr>
          <p:nvPr/>
        </p:nvPicPr>
        <p:blipFill>
          <a:blip r:embed="rId2"/>
          <a:stretch>
            <a:fillRect/>
          </a:stretch>
        </p:blipFill>
        <p:spPr>
          <a:xfrm>
            <a:off x="119818" y="1782070"/>
            <a:ext cx="8841302" cy="303148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1289E59-4181-2611-0E82-DF7D3D92A001}"/>
              </a:ext>
            </a:extLst>
          </p:cNvPr>
          <p:cNvGrpSpPr/>
          <p:nvPr/>
        </p:nvGrpSpPr>
        <p:grpSpPr>
          <a:xfrm>
            <a:off x="119818" y="485232"/>
            <a:ext cx="8841302" cy="1454602"/>
            <a:chOff x="119818" y="3348597"/>
            <a:chExt cx="8841302" cy="1228449"/>
          </a:xfrm>
        </p:grpSpPr>
        <p:sp>
          <p:nvSpPr>
            <p:cNvPr id="28" name="Shape 2">
              <a:extLst>
                <a:ext uri="{FF2B5EF4-FFF2-40B4-BE49-F238E27FC236}">
                  <a16:creationId xmlns:a16="http://schemas.microsoft.com/office/drawing/2014/main" id="{17BFA727-2CE5-1529-2303-9903BD8BC63F}"/>
                </a:ext>
              </a:extLst>
            </p:cNvPr>
            <p:cNvSpPr/>
            <p:nvPr/>
          </p:nvSpPr>
          <p:spPr>
            <a:xfrm>
              <a:off x="119818" y="3348597"/>
              <a:ext cx="8841302" cy="1228449"/>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r>
                <a:rPr lang="en-US" sz="1200" b="1" dirty="0">
                  <a:solidFill>
                    <a:srgbClr val="81A6C6"/>
                  </a:solidFill>
                </a:rPr>
                <a:t>Numeric Encoding &amp; Model Training</a:t>
              </a:r>
              <a:r>
                <a:rPr lang="ar-EG" sz="1200" b="1" dirty="0">
                  <a:solidFill>
                    <a:srgbClr val="81A6C6"/>
                  </a:solidFill>
                </a:rPr>
                <a:t> </a:t>
              </a:r>
              <a:endParaRPr lang="en-US" sz="1200" b="1" dirty="0">
                <a:solidFill>
                  <a:srgbClr val="81A6C6"/>
                </a:solidFill>
              </a:endParaRPr>
            </a:p>
            <a:p>
              <a:r>
                <a:rPr lang="en-US" sz="1200" b="1" dirty="0">
                  <a:solidFill>
                    <a:srgbClr val="81A6C6"/>
                  </a:solidFill>
                </a:rPr>
                <a:t>Implementation:</a:t>
              </a:r>
              <a:r>
                <a:rPr lang="ar-EG" sz="1200" b="1" dirty="0">
                  <a:solidFill>
                    <a:srgbClr val="81A6C6"/>
                  </a:solidFill>
                </a:rPr>
                <a:t> </a:t>
              </a:r>
              <a:r>
                <a:rPr lang="en-US" sz="1200" b="1" dirty="0">
                  <a:solidFill>
                    <a:srgbClr val="DCEAF8"/>
                  </a:solidFill>
                </a:rPr>
                <a:t>Categorical variables were converted into numerical format using One-Hot Encoding (</a:t>
              </a:r>
              <a:r>
                <a:rPr lang="en-US" sz="1200" b="1" dirty="0" err="1">
                  <a:solidFill>
                    <a:srgbClr val="DCEAF8"/>
                  </a:solidFill>
                </a:rPr>
                <a:t>pd.get_dummies</a:t>
              </a:r>
              <a:r>
                <a:rPr lang="en-US" sz="1200" b="1" dirty="0">
                  <a:solidFill>
                    <a:srgbClr val="DCEAF8"/>
                  </a:solidFill>
                </a:rPr>
                <a:t> with </a:t>
              </a:r>
              <a:r>
                <a:rPr lang="en-US" sz="1200" b="1" dirty="0" err="1">
                  <a:solidFill>
                    <a:srgbClr val="DCEAF8"/>
                  </a:solidFill>
                </a:rPr>
                <a:t>drop_first</a:t>
              </a:r>
              <a:r>
                <a:rPr lang="en-US" sz="1200" b="1" dirty="0">
                  <a:solidFill>
                    <a:srgbClr val="DCEAF8"/>
                  </a:solidFill>
                </a:rPr>
                <a:t>=True).The dataset was then split into training (80%) and testing (20%) sets using </a:t>
              </a:r>
              <a:r>
                <a:rPr lang="en-US" sz="1200" b="1" dirty="0" err="1">
                  <a:solidFill>
                    <a:srgbClr val="DCEAF8"/>
                  </a:solidFill>
                </a:rPr>
                <a:t>train_test_split.After</a:t>
              </a:r>
              <a:r>
                <a:rPr lang="en-US" sz="1200" b="1" dirty="0">
                  <a:solidFill>
                    <a:srgbClr val="DCEAF8"/>
                  </a:solidFill>
                </a:rPr>
                <a:t> that, a Random Forest Classifier was trained on the training data (</a:t>
              </a:r>
              <a:r>
                <a:rPr lang="en-US" sz="1200" b="1" dirty="0" err="1">
                  <a:solidFill>
                    <a:srgbClr val="DCEAF8"/>
                  </a:solidFill>
                </a:rPr>
                <a:t>X_train</a:t>
              </a:r>
              <a:r>
                <a:rPr lang="en-US" sz="1200" b="1" dirty="0">
                  <a:solidFill>
                    <a:srgbClr val="DCEAF8"/>
                  </a:solidFill>
                </a:rPr>
                <a:t>, </a:t>
              </a:r>
              <a:r>
                <a:rPr lang="en-US" sz="1200" b="1" dirty="0" err="1">
                  <a:solidFill>
                    <a:srgbClr val="DCEAF8"/>
                  </a:solidFill>
                </a:rPr>
                <a:t>y_train</a:t>
              </a:r>
              <a:r>
                <a:rPr lang="en-US" sz="1200" b="1" dirty="0">
                  <a:solidFill>
                    <a:srgbClr val="DCEAF8"/>
                  </a:solidFill>
                </a:rPr>
                <a:t>) with </a:t>
              </a:r>
              <a:r>
                <a:rPr lang="en-US" sz="1200" b="1" dirty="0" err="1">
                  <a:solidFill>
                    <a:srgbClr val="DCEAF8"/>
                  </a:solidFill>
                </a:rPr>
                <a:t>random_state</a:t>
              </a:r>
              <a:r>
                <a:rPr lang="en-US" sz="1200" b="1" dirty="0">
                  <a:solidFill>
                    <a:srgbClr val="DCEAF8"/>
                  </a:solidFill>
                </a:rPr>
                <a:t>=42.</a:t>
              </a:r>
              <a:endParaRPr lang="ar-EG" sz="1200" b="1" dirty="0">
                <a:solidFill>
                  <a:srgbClr val="DCEAF8"/>
                </a:solidFill>
              </a:endParaRPr>
            </a:p>
            <a:p>
              <a:r>
                <a:rPr lang="en-US" sz="1200" b="1" dirty="0">
                  <a:solidFill>
                    <a:srgbClr val="81A6C6"/>
                  </a:solidFill>
                </a:rPr>
                <a:t>Value:</a:t>
              </a:r>
              <a:r>
                <a:rPr lang="ar-EG" sz="1200" b="1" dirty="0">
                  <a:solidFill>
                    <a:srgbClr val="81A6C6"/>
                  </a:solidFill>
                </a:rPr>
                <a:t> </a:t>
              </a:r>
              <a:r>
                <a:rPr lang="en-US" sz="1200" b="1" dirty="0">
                  <a:solidFill>
                    <a:srgbClr val="DCEAF8"/>
                  </a:solidFill>
                </a:rPr>
                <a:t>This step prepares categorical data for machine learning algorithms and enables the model to learn patterns from the training data. The Random Forest ensemble method improves prediction performance and reduces overfitting by combining multiple decision trees.</a:t>
              </a:r>
            </a:p>
          </p:txBody>
        </p:sp>
        <p:sp>
          <p:nvSpPr>
            <p:cNvPr id="29" name="Shape 3">
              <a:extLst>
                <a:ext uri="{FF2B5EF4-FFF2-40B4-BE49-F238E27FC236}">
                  <a16:creationId xmlns:a16="http://schemas.microsoft.com/office/drawing/2014/main" id="{3E6AE591-E965-6A48-ED24-5914AA539A58}"/>
                </a:ext>
              </a:extLst>
            </p:cNvPr>
            <p:cNvSpPr/>
            <p:nvPr/>
          </p:nvSpPr>
          <p:spPr>
            <a:xfrm>
              <a:off x="119818" y="3348597"/>
              <a:ext cx="58294" cy="1228449"/>
            </a:xfrm>
            <a:prstGeom prst="rect">
              <a:avLst/>
            </a:prstGeom>
            <a:solidFill>
              <a:srgbClr val="81A6C6"/>
            </a:solidFill>
            <a:ln w="12700">
              <a:solidFill>
                <a:srgbClr val="81A6C6"/>
              </a:solidFill>
              <a:prstDash val="solid"/>
            </a:ln>
          </p:spPr>
          <p:txBody>
            <a:bodyPr/>
            <a:lstStyle/>
            <a:p>
              <a:endParaRPr lang="en-US" dirty="0"/>
            </a:p>
          </p:txBody>
        </p:sp>
      </p:grpSp>
      <p:grpSp>
        <p:nvGrpSpPr>
          <p:cNvPr id="3" name="Group 2">
            <a:extLst>
              <a:ext uri="{FF2B5EF4-FFF2-40B4-BE49-F238E27FC236}">
                <a16:creationId xmlns:a16="http://schemas.microsoft.com/office/drawing/2014/main" id="{DA92BD8C-287A-E5A8-009C-B18EA0405A83}"/>
              </a:ext>
            </a:extLst>
          </p:cNvPr>
          <p:cNvGrpSpPr/>
          <p:nvPr/>
        </p:nvGrpSpPr>
        <p:grpSpPr>
          <a:xfrm>
            <a:off x="0" y="-3545"/>
            <a:ext cx="9144000" cy="425271"/>
            <a:chOff x="0" y="-3545"/>
            <a:chExt cx="9144000" cy="425271"/>
          </a:xfrm>
        </p:grpSpPr>
        <p:sp>
          <p:nvSpPr>
            <p:cNvPr id="4" name="Shape 0">
              <a:extLst>
                <a:ext uri="{FF2B5EF4-FFF2-40B4-BE49-F238E27FC236}">
                  <a16:creationId xmlns:a16="http://schemas.microsoft.com/office/drawing/2014/main" id="{4E289765-B73F-33DD-77F9-CFC818519CE2}"/>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Data Visualization</a:t>
              </a:r>
              <a:r>
                <a:rPr lang="en-US" b="1" dirty="0">
                  <a:solidFill>
                    <a:srgbClr val="81A6C6"/>
                  </a:solidFill>
                  <a:latin typeface="Abadi ExtraLight" panose="020B0204020104020204" pitchFamily="34" charset="0"/>
                </a:rPr>
                <a:t> (</a:t>
              </a:r>
              <a:r>
                <a:rPr lang="en-US" b="1" dirty="0">
                  <a:solidFill>
                    <a:srgbClr val="81A6C6"/>
                  </a:solidFill>
                  <a:latin typeface="Calibri" pitchFamily="34" charset="0"/>
                  <a:ea typeface="Calibri" pitchFamily="34" charset="-122"/>
                  <a:cs typeface="Calibri" pitchFamily="34" charset="-120"/>
                </a:rPr>
                <a:t>EDA</a:t>
              </a:r>
              <a:r>
                <a:rPr lang="en-US" b="1" dirty="0">
                  <a:solidFill>
                    <a:srgbClr val="81A6C6"/>
                  </a:solidFill>
                  <a:latin typeface="Abadi ExtraLight" panose="020B0204020104020204" pitchFamily="34" charset="0"/>
                </a:rPr>
                <a:t>)</a:t>
              </a:r>
              <a:endParaRPr lang="en-US" b="1" dirty="0">
                <a:solidFill>
                  <a:srgbClr val="81A6C6"/>
                </a:solidFill>
              </a:endParaRPr>
            </a:p>
          </p:txBody>
        </p:sp>
        <p:sp>
          <p:nvSpPr>
            <p:cNvPr id="5" name="Shape 5">
              <a:extLst>
                <a:ext uri="{FF2B5EF4-FFF2-40B4-BE49-F238E27FC236}">
                  <a16:creationId xmlns:a16="http://schemas.microsoft.com/office/drawing/2014/main" id="{6F36600B-E1D0-5465-86D6-52C170D2CC8B}"/>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grpSp>
        <p:nvGrpSpPr>
          <p:cNvPr id="6" name="Group 5">
            <a:extLst>
              <a:ext uri="{FF2B5EF4-FFF2-40B4-BE49-F238E27FC236}">
                <a16:creationId xmlns:a16="http://schemas.microsoft.com/office/drawing/2014/main" id="{21C6CAF1-CDB3-3211-9443-90569E8FC0DC}"/>
              </a:ext>
            </a:extLst>
          </p:cNvPr>
          <p:cNvGrpSpPr/>
          <p:nvPr/>
        </p:nvGrpSpPr>
        <p:grpSpPr>
          <a:xfrm>
            <a:off x="0" y="4864608"/>
            <a:ext cx="9144000" cy="278892"/>
            <a:chOff x="0" y="4864608"/>
            <a:chExt cx="9144000" cy="278892"/>
          </a:xfrm>
        </p:grpSpPr>
        <p:sp>
          <p:nvSpPr>
            <p:cNvPr id="7" name="Shape 29">
              <a:extLst>
                <a:ext uri="{FF2B5EF4-FFF2-40B4-BE49-F238E27FC236}">
                  <a16:creationId xmlns:a16="http://schemas.microsoft.com/office/drawing/2014/main" id="{A01B37A8-50EB-5AD2-CB21-DCB58DA4A7C1}"/>
                </a:ext>
              </a:extLst>
            </p:cNvPr>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8" name="Text 30">
              <a:extLst>
                <a:ext uri="{FF2B5EF4-FFF2-40B4-BE49-F238E27FC236}">
                  <a16:creationId xmlns:a16="http://schemas.microsoft.com/office/drawing/2014/main" id="{4297EF68-071C-8CB1-4564-8E2477DD585B}"/>
                </a:ext>
              </a:extLst>
            </p:cNvPr>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9" name="Text 31">
              <a:extLst>
                <a:ext uri="{FF2B5EF4-FFF2-40B4-BE49-F238E27FC236}">
                  <a16:creationId xmlns:a16="http://schemas.microsoft.com/office/drawing/2014/main" id="{A01FBE22-EC9B-59BC-3960-510B2A86D35F}"/>
                </a:ext>
              </a:extLst>
            </p:cNvPr>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21</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pic>
        <p:nvPicPr>
          <p:cNvPr id="11" name="Picture 10">
            <a:extLst>
              <a:ext uri="{FF2B5EF4-FFF2-40B4-BE49-F238E27FC236}">
                <a16:creationId xmlns:a16="http://schemas.microsoft.com/office/drawing/2014/main" id="{FD7BCFD0-2050-826D-4323-38F3E6849A62}"/>
              </a:ext>
            </a:extLst>
          </p:cNvPr>
          <p:cNvPicPr>
            <a:picLocks noChangeAspect="1"/>
          </p:cNvPicPr>
          <p:nvPr/>
        </p:nvPicPr>
        <p:blipFill>
          <a:blip r:embed="rId2"/>
          <a:stretch>
            <a:fillRect/>
          </a:stretch>
        </p:blipFill>
        <p:spPr>
          <a:xfrm>
            <a:off x="119818" y="2003340"/>
            <a:ext cx="8841302" cy="279776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7F643-7F14-6E93-EC0B-68A1B48BAFDC}"/>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AA736DC7-3FC7-FD12-7668-E3AC77419236}"/>
              </a:ext>
            </a:extLst>
          </p:cNvPr>
          <p:cNvGrpSpPr/>
          <p:nvPr/>
        </p:nvGrpSpPr>
        <p:grpSpPr>
          <a:xfrm>
            <a:off x="119818" y="540596"/>
            <a:ext cx="8841302" cy="1173004"/>
            <a:chOff x="119818" y="3348596"/>
            <a:chExt cx="8841302" cy="1292772"/>
          </a:xfrm>
        </p:grpSpPr>
        <p:sp>
          <p:nvSpPr>
            <p:cNvPr id="28" name="Shape 2">
              <a:extLst>
                <a:ext uri="{FF2B5EF4-FFF2-40B4-BE49-F238E27FC236}">
                  <a16:creationId xmlns:a16="http://schemas.microsoft.com/office/drawing/2014/main" id="{7A6080C0-9201-F957-7577-58FEC1EC9F50}"/>
                </a:ext>
              </a:extLst>
            </p:cNvPr>
            <p:cNvSpPr/>
            <p:nvPr/>
          </p:nvSpPr>
          <p:spPr>
            <a:xfrm>
              <a:off x="119818" y="3348596"/>
              <a:ext cx="8841302" cy="1292772"/>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r>
                <a:rPr lang="en-US" sz="1400" b="1" dirty="0">
                  <a:solidFill>
                    <a:srgbClr val="81A6C6"/>
                  </a:solidFill>
                </a:rPr>
                <a:t>Model Evaluation &amp; Accuracy</a:t>
              </a:r>
            </a:p>
            <a:p>
              <a:r>
                <a:rPr lang="en-US" sz="1400" b="1" dirty="0">
                  <a:solidFill>
                    <a:srgbClr val="81A6C6"/>
                  </a:solidFill>
                </a:rPr>
                <a:t>Implementation: </a:t>
              </a:r>
              <a:r>
                <a:rPr lang="en-US" sz="1400" dirty="0">
                  <a:solidFill>
                    <a:srgbClr val="DCEAF8"/>
                  </a:solidFill>
                </a:rPr>
                <a:t>Evaluated the model using a Confusion Matrix and a Classification Report, calculating the final accuracy on the test set.</a:t>
              </a:r>
              <a:endParaRPr lang="ar-EG" sz="1400" dirty="0">
                <a:solidFill>
                  <a:srgbClr val="DCEAF8"/>
                </a:solidFill>
              </a:endParaRPr>
            </a:p>
            <a:p>
              <a:r>
                <a:rPr lang="en-US" sz="1400" b="1" dirty="0">
                  <a:solidFill>
                    <a:srgbClr val="81A6C6"/>
                  </a:solidFill>
                </a:rPr>
                <a:t>Value:</a:t>
              </a:r>
              <a:r>
                <a:rPr lang="en-US" sz="1400" dirty="0">
                  <a:solidFill>
                    <a:srgbClr val="DCEAF8"/>
                  </a:solidFill>
                </a:rPr>
                <a:t> Achieved an outstanding accuracy of 99.2%, proving that the model is highly reliable in distinguishing between different addiction risk levels.</a:t>
              </a:r>
            </a:p>
          </p:txBody>
        </p:sp>
        <p:sp>
          <p:nvSpPr>
            <p:cNvPr id="29" name="Shape 3">
              <a:extLst>
                <a:ext uri="{FF2B5EF4-FFF2-40B4-BE49-F238E27FC236}">
                  <a16:creationId xmlns:a16="http://schemas.microsoft.com/office/drawing/2014/main" id="{3D45AE41-3CAB-1CB7-DCD1-A20BA265B989}"/>
                </a:ext>
              </a:extLst>
            </p:cNvPr>
            <p:cNvSpPr/>
            <p:nvPr/>
          </p:nvSpPr>
          <p:spPr>
            <a:xfrm>
              <a:off x="119818" y="3348596"/>
              <a:ext cx="58294" cy="1292772"/>
            </a:xfrm>
            <a:prstGeom prst="rect">
              <a:avLst/>
            </a:prstGeom>
            <a:solidFill>
              <a:srgbClr val="81A6C6"/>
            </a:solidFill>
            <a:ln w="12700">
              <a:solidFill>
                <a:srgbClr val="81A6C6"/>
              </a:solidFill>
              <a:prstDash val="solid"/>
            </a:ln>
          </p:spPr>
          <p:txBody>
            <a:bodyPr/>
            <a:lstStyle/>
            <a:p>
              <a:endParaRPr lang="en-US" dirty="0"/>
            </a:p>
          </p:txBody>
        </p:sp>
      </p:grpSp>
      <p:grpSp>
        <p:nvGrpSpPr>
          <p:cNvPr id="3" name="Group 2">
            <a:extLst>
              <a:ext uri="{FF2B5EF4-FFF2-40B4-BE49-F238E27FC236}">
                <a16:creationId xmlns:a16="http://schemas.microsoft.com/office/drawing/2014/main" id="{916A6A6E-E098-3728-4046-36F68BC4AE64}"/>
              </a:ext>
            </a:extLst>
          </p:cNvPr>
          <p:cNvGrpSpPr/>
          <p:nvPr/>
        </p:nvGrpSpPr>
        <p:grpSpPr>
          <a:xfrm>
            <a:off x="0" y="-3545"/>
            <a:ext cx="9144000" cy="425271"/>
            <a:chOff x="0" y="-3545"/>
            <a:chExt cx="9144000" cy="425271"/>
          </a:xfrm>
        </p:grpSpPr>
        <p:sp>
          <p:nvSpPr>
            <p:cNvPr id="4" name="Shape 0">
              <a:extLst>
                <a:ext uri="{FF2B5EF4-FFF2-40B4-BE49-F238E27FC236}">
                  <a16:creationId xmlns:a16="http://schemas.microsoft.com/office/drawing/2014/main" id="{E87DCF64-06F7-9201-F3ED-EE3A87BF1B05}"/>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Model Evaluation &amp; Accuracy</a:t>
              </a:r>
              <a:r>
                <a:rPr lang="ar-EG" b="1" dirty="0">
                  <a:solidFill>
                    <a:srgbClr val="81A6C6"/>
                  </a:solidFill>
                  <a:latin typeface="Calibri" pitchFamily="34" charset="0"/>
                  <a:ea typeface="Calibri" pitchFamily="34" charset="-122"/>
                  <a:cs typeface="Calibri" pitchFamily="34" charset="-120"/>
                </a:rPr>
                <a:t> </a:t>
              </a:r>
              <a:endParaRPr lang="en-US" b="1" dirty="0">
                <a:solidFill>
                  <a:srgbClr val="81A6C6"/>
                </a:solidFill>
                <a:latin typeface="Calibri" pitchFamily="34" charset="0"/>
                <a:ea typeface="Calibri" pitchFamily="34" charset="-122"/>
                <a:cs typeface="Calibri" pitchFamily="34" charset="-120"/>
              </a:endParaRPr>
            </a:p>
          </p:txBody>
        </p:sp>
        <p:sp>
          <p:nvSpPr>
            <p:cNvPr id="5" name="Shape 5">
              <a:extLst>
                <a:ext uri="{FF2B5EF4-FFF2-40B4-BE49-F238E27FC236}">
                  <a16:creationId xmlns:a16="http://schemas.microsoft.com/office/drawing/2014/main" id="{3BBC49B9-D764-3AD6-9B8B-F95DD8DA5CE7}"/>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grpSp>
        <p:nvGrpSpPr>
          <p:cNvPr id="6" name="Group 5">
            <a:extLst>
              <a:ext uri="{FF2B5EF4-FFF2-40B4-BE49-F238E27FC236}">
                <a16:creationId xmlns:a16="http://schemas.microsoft.com/office/drawing/2014/main" id="{1FF51ADE-2AF4-3DD7-721B-E9B81A96B677}"/>
              </a:ext>
            </a:extLst>
          </p:cNvPr>
          <p:cNvGrpSpPr/>
          <p:nvPr/>
        </p:nvGrpSpPr>
        <p:grpSpPr>
          <a:xfrm>
            <a:off x="0" y="4864608"/>
            <a:ext cx="9144000" cy="278892"/>
            <a:chOff x="0" y="4864608"/>
            <a:chExt cx="9144000" cy="278892"/>
          </a:xfrm>
        </p:grpSpPr>
        <p:sp>
          <p:nvSpPr>
            <p:cNvPr id="7" name="Shape 29">
              <a:extLst>
                <a:ext uri="{FF2B5EF4-FFF2-40B4-BE49-F238E27FC236}">
                  <a16:creationId xmlns:a16="http://schemas.microsoft.com/office/drawing/2014/main" id="{5416CA6D-F458-F8BE-FDAF-50D5FD5B091C}"/>
                </a:ext>
              </a:extLst>
            </p:cNvPr>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8" name="Text 30">
              <a:extLst>
                <a:ext uri="{FF2B5EF4-FFF2-40B4-BE49-F238E27FC236}">
                  <a16:creationId xmlns:a16="http://schemas.microsoft.com/office/drawing/2014/main" id="{D79448F6-3C51-E253-2F43-4B52ABAF0CE0}"/>
                </a:ext>
              </a:extLst>
            </p:cNvPr>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9" name="Text 31">
              <a:extLst>
                <a:ext uri="{FF2B5EF4-FFF2-40B4-BE49-F238E27FC236}">
                  <a16:creationId xmlns:a16="http://schemas.microsoft.com/office/drawing/2014/main" id="{B537B5DF-9EA3-24B9-ED02-44B9A1FA023A}"/>
                </a:ext>
              </a:extLst>
            </p:cNvPr>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22</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pic>
        <p:nvPicPr>
          <p:cNvPr id="10" name="Picture 9">
            <a:extLst>
              <a:ext uri="{FF2B5EF4-FFF2-40B4-BE49-F238E27FC236}">
                <a16:creationId xmlns:a16="http://schemas.microsoft.com/office/drawing/2014/main" id="{9E99C722-5EBB-D856-7299-490F74622EA1}"/>
              </a:ext>
            </a:extLst>
          </p:cNvPr>
          <p:cNvPicPr>
            <a:picLocks noChangeAspect="1"/>
          </p:cNvPicPr>
          <p:nvPr/>
        </p:nvPicPr>
        <p:blipFill>
          <a:blip r:embed="rId2"/>
          <a:stretch>
            <a:fillRect/>
          </a:stretch>
        </p:blipFill>
        <p:spPr>
          <a:xfrm>
            <a:off x="119818" y="1778401"/>
            <a:ext cx="8841302" cy="2984354"/>
          </a:xfrm>
          <a:prstGeom prst="rect">
            <a:avLst/>
          </a:prstGeom>
        </p:spPr>
      </p:pic>
    </p:spTree>
    <p:extLst>
      <p:ext uri="{BB962C8B-B14F-4D97-AF65-F5344CB8AC3E}">
        <p14:creationId xmlns:p14="http://schemas.microsoft.com/office/powerpoint/2010/main" val="1210936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E6664-EB52-FCE7-A795-62A08DE43953}"/>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9E44ABF8-F7A8-8FBA-F459-65E2C0D512AA}"/>
              </a:ext>
            </a:extLst>
          </p:cNvPr>
          <p:cNvGrpSpPr/>
          <p:nvPr/>
        </p:nvGrpSpPr>
        <p:grpSpPr>
          <a:xfrm>
            <a:off x="4572000" y="540595"/>
            <a:ext cx="4389120" cy="1534075"/>
            <a:chOff x="119818" y="3348596"/>
            <a:chExt cx="8841302" cy="1292772"/>
          </a:xfrm>
          <a:solidFill>
            <a:srgbClr val="161B22"/>
          </a:solidFill>
        </p:grpSpPr>
        <p:sp>
          <p:nvSpPr>
            <p:cNvPr id="28" name="Shape 2">
              <a:extLst>
                <a:ext uri="{FF2B5EF4-FFF2-40B4-BE49-F238E27FC236}">
                  <a16:creationId xmlns:a16="http://schemas.microsoft.com/office/drawing/2014/main" id="{CF453040-31C5-0D93-10AB-1AE6CCE4EB2F}"/>
                </a:ext>
              </a:extLst>
            </p:cNvPr>
            <p:cNvSpPr/>
            <p:nvPr/>
          </p:nvSpPr>
          <p:spPr>
            <a:xfrm>
              <a:off x="119818" y="3348596"/>
              <a:ext cx="8841302" cy="1292772"/>
            </a:xfrm>
            <a:prstGeom prst="rect">
              <a:avLst/>
            </a:prstGeom>
            <a:grpFill/>
            <a:ln w="12700">
              <a:solidFill>
                <a:srgbClr val="81A6C6"/>
              </a:solidFill>
              <a:prstDash val="solid"/>
            </a:ln>
            <a:effectLst>
              <a:outerShdw blurRad="63500" dist="25400" dir="8100000" algn="bl" rotWithShape="0">
                <a:srgbClr val="000000">
                  <a:alpha val="8000"/>
                </a:srgbClr>
              </a:outerShdw>
            </a:effectLst>
          </p:spPr>
          <p:txBody>
            <a:bodyPr/>
            <a:lstStyle/>
            <a:p>
              <a:r>
                <a:rPr lang="en-US" sz="1400" b="1" dirty="0">
                  <a:solidFill>
                    <a:srgbClr val="81A6C6"/>
                  </a:solidFill>
                </a:rPr>
                <a:t>Visualizing Model Performance </a:t>
              </a:r>
            </a:p>
            <a:p>
              <a:r>
                <a:rPr lang="en-US" sz="1400" b="1" dirty="0">
                  <a:solidFill>
                    <a:srgbClr val="81A6C6"/>
                  </a:solidFill>
                </a:rPr>
                <a:t>Implementation:</a:t>
              </a:r>
              <a:r>
                <a:rPr lang="en-US" sz="1400" dirty="0">
                  <a:solidFill>
                    <a:srgbClr val="DCEAF8"/>
                  </a:solidFill>
                </a:rPr>
                <a:t> Visualized the Confusion Matrix using a Seaborn Heatmap to compare predicted labels against actual values from the test set.</a:t>
              </a:r>
            </a:p>
            <a:p>
              <a:r>
                <a:rPr lang="en-US" sz="1400" b="1" dirty="0">
                  <a:solidFill>
                    <a:srgbClr val="81A6C6"/>
                  </a:solidFill>
                </a:rPr>
                <a:t>Value: </a:t>
              </a:r>
              <a:r>
                <a:rPr lang="en-US" sz="1400" dirty="0">
                  <a:solidFill>
                    <a:srgbClr val="DCEAF8"/>
                  </a:solidFill>
                </a:rPr>
                <a:t>Provides a clear visual validation of the model's precision; showing almost zero misclassifications and confirming its readiness for real-world deployment.</a:t>
              </a:r>
            </a:p>
          </p:txBody>
        </p:sp>
        <p:sp>
          <p:nvSpPr>
            <p:cNvPr id="29" name="Shape 3">
              <a:extLst>
                <a:ext uri="{FF2B5EF4-FFF2-40B4-BE49-F238E27FC236}">
                  <a16:creationId xmlns:a16="http://schemas.microsoft.com/office/drawing/2014/main" id="{FCCFAE4F-BFFA-00BD-8B6D-0CE3ED180685}"/>
                </a:ext>
              </a:extLst>
            </p:cNvPr>
            <p:cNvSpPr/>
            <p:nvPr/>
          </p:nvSpPr>
          <p:spPr>
            <a:xfrm>
              <a:off x="119818" y="3348596"/>
              <a:ext cx="58294" cy="1292772"/>
            </a:xfrm>
            <a:prstGeom prst="rect">
              <a:avLst/>
            </a:prstGeom>
            <a:solidFill>
              <a:srgbClr val="81A6C6"/>
            </a:solidFill>
            <a:ln w="12700">
              <a:solidFill>
                <a:srgbClr val="81A6C6"/>
              </a:solidFill>
              <a:prstDash val="solid"/>
            </a:ln>
          </p:spPr>
          <p:txBody>
            <a:bodyPr/>
            <a:lstStyle/>
            <a:p>
              <a:endParaRPr lang="en-US"/>
            </a:p>
          </p:txBody>
        </p:sp>
      </p:grpSp>
      <p:grpSp>
        <p:nvGrpSpPr>
          <p:cNvPr id="3" name="Group 2">
            <a:extLst>
              <a:ext uri="{FF2B5EF4-FFF2-40B4-BE49-F238E27FC236}">
                <a16:creationId xmlns:a16="http://schemas.microsoft.com/office/drawing/2014/main" id="{812E40B9-976F-9DFF-F0CA-64881F89AA82}"/>
              </a:ext>
            </a:extLst>
          </p:cNvPr>
          <p:cNvGrpSpPr/>
          <p:nvPr/>
        </p:nvGrpSpPr>
        <p:grpSpPr>
          <a:xfrm>
            <a:off x="0" y="-3545"/>
            <a:ext cx="9144000" cy="425271"/>
            <a:chOff x="0" y="-3545"/>
            <a:chExt cx="9144000" cy="425271"/>
          </a:xfrm>
        </p:grpSpPr>
        <p:sp>
          <p:nvSpPr>
            <p:cNvPr id="4" name="Shape 0">
              <a:extLst>
                <a:ext uri="{FF2B5EF4-FFF2-40B4-BE49-F238E27FC236}">
                  <a16:creationId xmlns:a16="http://schemas.microsoft.com/office/drawing/2014/main" id="{B6E35A13-594E-F57C-A4D5-C849874CF562}"/>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Visualizing Model Performance </a:t>
              </a:r>
            </a:p>
          </p:txBody>
        </p:sp>
        <p:sp>
          <p:nvSpPr>
            <p:cNvPr id="5" name="Shape 5">
              <a:extLst>
                <a:ext uri="{FF2B5EF4-FFF2-40B4-BE49-F238E27FC236}">
                  <a16:creationId xmlns:a16="http://schemas.microsoft.com/office/drawing/2014/main" id="{AD4B92B0-A8C0-EF62-F3B7-AE89AF3593EB}"/>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grpSp>
        <p:nvGrpSpPr>
          <p:cNvPr id="6" name="Group 5">
            <a:extLst>
              <a:ext uri="{FF2B5EF4-FFF2-40B4-BE49-F238E27FC236}">
                <a16:creationId xmlns:a16="http://schemas.microsoft.com/office/drawing/2014/main" id="{1BDC7EC0-7789-B599-6938-174FAC9654D5}"/>
              </a:ext>
            </a:extLst>
          </p:cNvPr>
          <p:cNvGrpSpPr/>
          <p:nvPr/>
        </p:nvGrpSpPr>
        <p:grpSpPr>
          <a:xfrm>
            <a:off x="0" y="4864608"/>
            <a:ext cx="9144000" cy="278892"/>
            <a:chOff x="0" y="4864608"/>
            <a:chExt cx="9144000" cy="278892"/>
          </a:xfrm>
        </p:grpSpPr>
        <p:sp>
          <p:nvSpPr>
            <p:cNvPr id="7" name="Shape 29">
              <a:extLst>
                <a:ext uri="{FF2B5EF4-FFF2-40B4-BE49-F238E27FC236}">
                  <a16:creationId xmlns:a16="http://schemas.microsoft.com/office/drawing/2014/main" id="{D1ECBD15-F229-7A51-05A2-5481D5BD6362}"/>
                </a:ext>
              </a:extLst>
            </p:cNvPr>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8" name="Text 30">
              <a:extLst>
                <a:ext uri="{FF2B5EF4-FFF2-40B4-BE49-F238E27FC236}">
                  <a16:creationId xmlns:a16="http://schemas.microsoft.com/office/drawing/2014/main" id="{2909BD5F-7329-D498-7E48-C54BC9F97031}"/>
                </a:ext>
              </a:extLst>
            </p:cNvPr>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9" name="Text 31">
              <a:extLst>
                <a:ext uri="{FF2B5EF4-FFF2-40B4-BE49-F238E27FC236}">
                  <a16:creationId xmlns:a16="http://schemas.microsoft.com/office/drawing/2014/main" id="{5C848E9E-0BD7-F65A-67EC-B006B9CE9F85}"/>
                </a:ext>
              </a:extLst>
            </p:cNvPr>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23</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grpSp>
        <p:nvGrpSpPr>
          <p:cNvPr id="2" name="Group 1">
            <a:extLst>
              <a:ext uri="{FF2B5EF4-FFF2-40B4-BE49-F238E27FC236}">
                <a16:creationId xmlns:a16="http://schemas.microsoft.com/office/drawing/2014/main" id="{40FC168E-656D-BD57-A5D0-7DAA15697BDC}"/>
              </a:ext>
            </a:extLst>
          </p:cNvPr>
          <p:cNvGrpSpPr/>
          <p:nvPr/>
        </p:nvGrpSpPr>
        <p:grpSpPr>
          <a:xfrm>
            <a:off x="4572000" y="2159589"/>
            <a:ext cx="4389120" cy="2620100"/>
            <a:chOff x="119818" y="3348596"/>
            <a:chExt cx="8841302" cy="1292772"/>
          </a:xfrm>
          <a:solidFill>
            <a:srgbClr val="161B22"/>
          </a:solidFill>
        </p:grpSpPr>
        <p:sp>
          <p:nvSpPr>
            <p:cNvPr id="10" name="Shape 2">
              <a:extLst>
                <a:ext uri="{FF2B5EF4-FFF2-40B4-BE49-F238E27FC236}">
                  <a16:creationId xmlns:a16="http://schemas.microsoft.com/office/drawing/2014/main" id="{32EA99A6-A1F1-F0C6-C640-7BF276619352}"/>
                </a:ext>
              </a:extLst>
            </p:cNvPr>
            <p:cNvSpPr/>
            <p:nvPr/>
          </p:nvSpPr>
          <p:spPr>
            <a:xfrm>
              <a:off x="119818" y="3348596"/>
              <a:ext cx="8841302" cy="1292772"/>
            </a:xfrm>
            <a:prstGeom prst="rect">
              <a:avLst/>
            </a:prstGeom>
            <a:grpFill/>
            <a:ln w="12700">
              <a:solidFill>
                <a:srgbClr val="81A6C6"/>
              </a:solidFill>
              <a:prstDash val="solid"/>
            </a:ln>
            <a:effectLst>
              <a:outerShdw blurRad="63500" dist="25400" dir="8100000" algn="bl" rotWithShape="0">
                <a:srgbClr val="000000">
                  <a:alpha val="8000"/>
                </a:srgbClr>
              </a:outerShdw>
            </a:effectLst>
          </p:spPr>
          <p:txBody>
            <a:bodyPr anchor="ctr"/>
            <a:lstStyle/>
            <a:p>
              <a:r>
                <a:rPr lang="en-US" b="1" dirty="0">
                  <a:solidFill>
                    <a:srgbClr val="81A6C6"/>
                  </a:solidFill>
                </a:rPr>
                <a:t>Visualizing Model Performance Implementation: </a:t>
              </a:r>
              <a:r>
                <a:rPr lang="en-US" dirty="0">
                  <a:solidFill>
                    <a:srgbClr val="DCEAF8"/>
                  </a:solidFill>
                </a:rPr>
                <a:t>Visualized the Confusion Matrix using a Seaborn Heatmap to cross-verify the model's predictions against actual test data.</a:t>
              </a:r>
            </a:p>
            <a:p>
              <a:r>
                <a:rPr lang="en-US" b="1" dirty="0">
                  <a:solidFill>
                    <a:srgbClr val="81A6C6"/>
                  </a:solidFill>
                </a:rPr>
                <a:t>Value:</a:t>
              </a:r>
              <a:r>
                <a:rPr lang="en-US" dirty="0">
                  <a:solidFill>
                    <a:srgbClr val="DCEAF8"/>
                  </a:solidFill>
                </a:rPr>
                <a:t> Provides a "Final Quality Seal," visually confirming that the model correctly classified almost every single case, making it 100% ready for real-world application.</a:t>
              </a:r>
            </a:p>
          </p:txBody>
        </p:sp>
        <p:sp>
          <p:nvSpPr>
            <p:cNvPr id="11" name="Shape 3">
              <a:extLst>
                <a:ext uri="{FF2B5EF4-FFF2-40B4-BE49-F238E27FC236}">
                  <a16:creationId xmlns:a16="http://schemas.microsoft.com/office/drawing/2014/main" id="{3D854D6F-51C1-6FF0-1BF4-C6D38337DA09}"/>
                </a:ext>
              </a:extLst>
            </p:cNvPr>
            <p:cNvSpPr/>
            <p:nvPr/>
          </p:nvSpPr>
          <p:spPr>
            <a:xfrm>
              <a:off x="119818" y="3348596"/>
              <a:ext cx="58294" cy="1292772"/>
            </a:xfrm>
            <a:prstGeom prst="rect">
              <a:avLst/>
            </a:prstGeom>
            <a:solidFill>
              <a:srgbClr val="81A6C6"/>
            </a:solidFill>
            <a:ln w="12700">
              <a:solidFill>
                <a:srgbClr val="81A6C6"/>
              </a:solidFill>
              <a:prstDash val="solid"/>
            </a:ln>
          </p:spPr>
          <p:txBody>
            <a:bodyPr/>
            <a:lstStyle/>
            <a:p>
              <a:endParaRPr lang="en-US"/>
            </a:p>
          </p:txBody>
        </p:sp>
      </p:grpSp>
      <p:pic>
        <p:nvPicPr>
          <p:cNvPr id="13" name="Picture 12">
            <a:extLst>
              <a:ext uri="{FF2B5EF4-FFF2-40B4-BE49-F238E27FC236}">
                <a16:creationId xmlns:a16="http://schemas.microsoft.com/office/drawing/2014/main" id="{90DB27AD-034E-0BA4-A555-D024AC522AEF}"/>
              </a:ext>
            </a:extLst>
          </p:cNvPr>
          <p:cNvPicPr>
            <a:picLocks noChangeAspect="1"/>
          </p:cNvPicPr>
          <p:nvPr/>
        </p:nvPicPr>
        <p:blipFill>
          <a:blip r:embed="rId2"/>
          <a:stretch>
            <a:fillRect/>
          </a:stretch>
        </p:blipFill>
        <p:spPr>
          <a:xfrm>
            <a:off x="588066" y="2159589"/>
            <a:ext cx="3854334" cy="2620100"/>
          </a:xfrm>
          <a:prstGeom prst="rect">
            <a:avLst/>
          </a:prstGeom>
        </p:spPr>
      </p:pic>
      <p:pic>
        <p:nvPicPr>
          <p:cNvPr id="15" name="Picture 14">
            <a:extLst>
              <a:ext uri="{FF2B5EF4-FFF2-40B4-BE49-F238E27FC236}">
                <a16:creationId xmlns:a16="http://schemas.microsoft.com/office/drawing/2014/main" id="{BC29E04E-EB12-B546-F6CF-42FEB45FA04A}"/>
              </a:ext>
            </a:extLst>
          </p:cNvPr>
          <p:cNvPicPr>
            <a:picLocks noChangeAspect="1"/>
          </p:cNvPicPr>
          <p:nvPr/>
        </p:nvPicPr>
        <p:blipFill>
          <a:blip r:embed="rId3"/>
          <a:stretch>
            <a:fillRect/>
          </a:stretch>
        </p:blipFill>
        <p:spPr>
          <a:xfrm>
            <a:off x="588065" y="540596"/>
            <a:ext cx="3854333" cy="1534074"/>
          </a:xfrm>
          <a:prstGeom prst="rect">
            <a:avLst/>
          </a:prstGeom>
        </p:spPr>
      </p:pic>
    </p:spTree>
    <p:extLst>
      <p:ext uri="{BB962C8B-B14F-4D97-AF65-F5344CB8AC3E}">
        <p14:creationId xmlns:p14="http://schemas.microsoft.com/office/powerpoint/2010/main" val="234451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00FE3-8708-7CFF-ABF0-B7FD713C77FC}"/>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C79624F0-1D51-1A8C-7A4C-58B0D4278E6C}"/>
              </a:ext>
            </a:extLst>
          </p:cNvPr>
          <p:cNvGrpSpPr/>
          <p:nvPr/>
        </p:nvGrpSpPr>
        <p:grpSpPr>
          <a:xfrm>
            <a:off x="119818" y="540595"/>
            <a:ext cx="8841302" cy="1423041"/>
            <a:chOff x="119818" y="3348596"/>
            <a:chExt cx="8841302" cy="1292772"/>
          </a:xfrm>
        </p:grpSpPr>
        <p:sp>
          <p:nvSpPr>
            <p:cNvPr id="28" name="Shape 2">
              <a:extLst>
                <a:ext uri="{FF2B5EF4-FFF2-40B4-BE49-F238E27FC236}">
                  <a16:creationId xmlns:a16="http://schemas.microsoft.com/office/drawing/2014/main" id="{43CAA25D-8201-A78A-0057-A898211215C7}"/>
                </a:ext>
              </a:extLst>
            </p:cNvPr>
            <p:cNvSpPr/>
            <p:nvPr/>
          </p:nvSpPr>
          <p:spPr>
            <a:xfrm>
              <a:off x="119818" y="3348596"/>
              <a:ext cx="8841302" cy="1292772"/>
            </a:xfrm>
            <a:prstGeom prst="rect">
              <a:avLst/>
            </a:prstGeom>
            <a:solidFill>
              <a:srgbClr val="161B22"/>
            </a:solidFill>
            <a:ln w="12700">
              <a:solidFill>
                <a:srgbClr val="81A6C6"/>
              </a:solidFill>
              <a:prstDash val="solid"/>
            </a:ln>
            <a:effectLst>
              <a:outerShdw blurRad="63500" dist="25400" dir="8100000" algn="bl" rotWithShape="0">
                <a:srgbClr val="000000">
                  <a:alpha val="8000"/>
                </a:srgbClr>
              </a:outerShdw>
            </a:effectLst>
          </p:spPr>
          <p:txBody>
            <a:bodyPr/>
            <a:lstStyle/>
            <a:p>
              <a:r>
                <a:rPr lang="en-US" sz="1600" b="1" dirty="0">
                  <a:solidFill>
                    <a:srgbClr val="81A6C6"/>
                  </a:solidFill>
                </a:rPr>
                <a:t>Exporting Data for Power BI</a:t>
              </a:r>
              <a:r>
                <a:rPr lang="ar-EG" sz="1600" b="1" dirty="0">
                  <a:solidFill>
                    <a:srgbClr val="81A6C6"/>
                  </a:solidFill>
                </a:rPr>
                <a:t> </a:t>
              </a:r>
              <a:endParaRPr lang="en-US" sz="1600" b="1" dirty="0">
                <a:solidFill>
                  <a:srgbClr val="81A6C6"/>
                </a:solidFill>
              </a:endParaRPr>
            </a:p>
            <a:p>
              <a:r>
                <a:rPr lang="en-US" sz="1600" b="1" dirty="0">
                  <a:solidFill>
                    <a:srgbClr val="81A6C6"/>
                  </a:solidFill>
                </a:rPr>
                <a:t>Implementation: </a:t>
              </a:r>
              <a:r>
                <a:rPr lang="en-US" sz="1600" dirty="0">
                  <a:solidFill>
                    <a:srgbClr val="DCEAF8"/>
                  </a:solidFill>
                </a:rPr>
                <a:t>Exported the final, cleaned, and enriched dataset into a CSV file named Final_User_Behavior_Analysis.csv.</a:t>
              </a:r>
            </a:p>
            <a:p>
              <a:r>
                <a:rPr lang="en-US" sz="1600" b="1" dirty="0">
                  <a:solidFill>
                    <a:srgbClr val="81A6C6"/>
                  </a:solidFill>
                </a:rPr>
                <a:t>Value:</a:t>
              </a:r>
              <a:r>
                <a:rPr lang="en-US" sz="1600" dirty="0">
                  <a:solidFill>
                    <a:srgbClr val="DCEAF8"/>
                  </a:solidFill>
                </a:rPr>
                <a:t> This marks the transition from data processing to Business Intelligence (BI); the exported file is now ready to be imported into Power BI or Tableau to create interactive dashboards for stakeholders</a:t>
              </a:r>
            </a:p>
          </p:txBody>
        </p:sp>
        <p:sp>
          <p:nvSpPr>
            <p:cNvPr id="29" name="Shape 3">
              <a:extLst>
                <a:ext uri="{FF2B5EF4-FFF2-40B4-BE49-F238E27FC236}">
                  <a16:creationId xmlns:a16="http://schemas.microsoft.com/office/drawing/2014/main" id="{27AD250C-351A-5691-5CCA-5686459CD677}"/>
                </a:ext>
              </a:extLst>
            </p:cNvPr>
            <p:cNvSpPr/>
            <p:nvPr/>
          </p:nvSpPr>
          <p:spPr>
            <a:xfrm>
              <a:off x="119818" y="3348596"/>
              <a:ext cx="58294" cy="1292772"/>
            </a:xfrm>
            <a:prstGeom prst="rect">
              <a:avLst/>
            </a:prstGeom>
            <a:solidFill>
              <a:srgbClr val="81A6C6"/>
            </a:solidFill>
            <a:ln w="12700">
              <a:solidFill>
                <a:srgbClr val="81A6C6"/>
              </a:solidFill>
              <a:prstDash val="solid"/>
            </a:ln>
          </p:spPr>
          <p:txBody>
            <a:bodyPr/>
            <a:lstStyle/>
            <a:p>
              <a:endParaRPr lang="en-US"/>
            </a:p>
          </p:txBody>
        </p:sp>
      </p:grpSp>
      <p:grpSp>
        <p:nvGrpSpPr>
          <p:cNvPr id="3" name="Group 2">
            <a:extLst>
              <a:ext uri="{FF2B5EF4-FFF2-40B4-BE49-F238E27FC236}">
                <a16:creationId xmlns:a16="http://schemas.microsoft.com/office/drawing/2014/main" id="{D16E7C12-B953-D364-06AE-ADCE82867A77}"/>
              </a:ext>
            </a:extLst>
          </p:cNvPr>
          <p:cNvGrpSpPr/>
          <p:nvPr/>
        </p:nvGrpSpPr>
        <p:grpSpPr>
          <a:xfrm>
            <a:off x="0" y="-3545"/>
            <a:ext cx="9144000" cy="425271"/>
            <a:chOff x="0" y="-3545"/>
            <a:chExt cx="9144000" cy="425271"/>
          </a:xfrm>
        </p:grpSpPr>
        <p:sp>
          <p:nvSpPr>
            <p:cNvPr id="4" name="Shape 0">
              <a:extLst>
                <a:ext uri="{FF2B5EF4-FFF2-40B4-BE49-F238E27FC236}">
                  <a16:creationId xmlns:a16="http://schemas.microsoft.com/office/drawing/2014/main" id="{CFBCCECA-171A-8E48-B94B-0C6F5B16C750}"/>
                </a:ext>
              </a:extLst>
            </p:cNvPr>
            <p:cNvSpPr/>
            <p:nvPr/>
          </p:nvSpPr>
          <p:spPr>
            <a:xfrm>
              <a:off x="0" y="-3545"/>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rPr>
                <a:t>  </a:t>
              </a:r>
              <a:r>
                <a:rPr lang="en-US" b="1" dirty="0">
                  <a:solidFill>
                    <a:srgbClr val="81A6C6"/>
                  </a:solidFill>
                  <a:latin typeface="Calibri" pitchFamily="34" charset="0"/>
                  <a:ea typeface="Calibri" pitchFamily="34" charset="-122"/>
                  <a:cs typeface="Calibri" pitchFamily="34" charset="-120"/>
                </a:rPr>
                <a:t>Code Overview—  Exporting Data for Power BI</a:t>
              </a:r>
              <a:r>
                <a:rPr lang="ar-EG" b="1" dirty="0">
                  <a:solidFill>
                    <a:srgbClr val="81A6C6"/>
                  </a:solidFill>
                  <a:latin typeface="Calibri" pitchFamily="34" charset="0"/>
                  <a:ea typeface="Calibri" pitchFamily="34" charset="-122"/>
                  <a:cs typeface="Calibri" pitchFamily="34" charset="-120"/>
                </a:rPr>
                <a:t> </a:t>
              </a:r>
              <a:endParaRPr lang="en-US" b="1" dirty="0">
                <a:solidFill>
                  <a:srgbClr val="81A6C6"/>
                </a:solidFill>
                <a:latin typeface="Calibri" pitchFamily="34" charset="0"/>
                <a:ea typeface="Calibri" pitchFamily="34" charset="-122"/>
                <a:cs typeface="Calibri" pitchFamily="34" charset="-120"/>
              </a:endParaRPr>
            </a:p>
          </p:txBody>
        </p:sp>
        <p:sp>
          <p:nvSpPr>
            <p:cNvPr id="5" name="Shape 5">
              <a:extLst>
                <a:ext uri="{FF2B5EF4-FFF2-40B4-BE49-F238E27FC236}">
                  <a16:creationId xmlns:a16="http://schemas.microsoft.com/office/drawing/2014/main" id="{D9076365-B335-739C-A4C7-B9F0972F5F25}"/>
                </a:ext>
              </a:extLst>
            </p:cNvPr>
            <p:cNvSpPr/>
            <p:nvPr/>
          </p:nvSpPr>
          <p:spPr>
            <a:xfrm>
              <a:off x="5113" y="-3545"/>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grpSp>
        <p:nvGrpSpPr>
          <p:cNvPr id="6" name="Group 5">
            <a:extLst>
              <a:ext uri="{FF2B5EF4-FFF2-40B4-BE49-F238E27FC236}">
                <a16:creationId xmlns:a16="http://schemas.microsoft.com/office/drawing/2014/main" id="{62CF3949-EB4E-248B-03F0-FE0A1DC9D469}"/>
              </a:ext>
            </a:extLst>
          </p:cNvPr>
          <p:cNvGrpSpPr/>
          <p:nvPr/>
        </p:nvGrpSpPr>
        <p:grpSpPr>
          <a:xfrm>
            <a:off x="0" y="4864608"/>
            <a:ext cx="9144000" cy="278892"/>
            <a:chOff x="0" y="4864608"/>
            <a:chExt cx="9144000" cy="278892"/>
          </a:xfrm>
        </p:grpSpPr>
        <p:sp>
          <p:nvSpPr>
            <p:cNvPr id="7" name="Shape 29">
              <a:extLst>
                <a:ext uri="{FF2B5EF4-FFF2-40B4-BE49-F238E27FC236}">
                  <a16:creationId xmlns:a16="http://schemas.microsoft.com/office/drawing/2014/main" id="{6CEB24F2-F839-FFD3-C55B-4C7CCC700C8B}"/>
                </a:ext>
              </a:extLst>
            </p:cNvPr>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8" name="Text 30">
              <a:extLst>
                <a:ext uri="{FF2B5EF4-FFF2-40B4-BE49-F238E27FC236}">
                  <a16:creationId xmlns:a16="http://schemas.microsoft.com/office/drawing/2014/main" id="{FA47A044-B09D-D027-E0AA-E587CBE69C6F}"/>
                </a:ext>
              </a:extLst>
            </p:cNvPr>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chemeClr val="bg1">
                      <a:lumMod val="95000"/>
                      <a:lumOff val="5000"/>
                    </a:schemeClr>
                  </a:solidFill>
                  <a:latin typeface="Calibri" pitchFamily="34" charset="0"/>
                  <a:ea typeface="Calibri" pitchFamily="34" charset="-122"/>
                  <a:cs typeface="Calibri" pitchFamily="34" charset="-120"/>
                </a:rPr>
                <a:t>Data Analysis Project</a:t>
              </a:r>
              <a:endParaRPr lang="en-US" sz="900" dirty="0">
                <a:solidFill>
                  <a:schemeClr val="bg1">
                    <a:lumMod val="95000"/>
                    <a:lumOff val="5000"/>
                  </a:schemeClr>
                </a:solidFill>
              </a:endParaRPr>
            </a:p>
          </p:txBody>
        </p:sp>
        <p:sp>
          <p:nvSpPr>
            <p:cNvPr id="9" name="Text 31">
              <a:extLst>
                <a:ext uri="{FF2B5EF4-FFF2-40B4-BE49-F238E27FC236}">
                  <a16:creationId xmlns:a16="http://schemas.microsoft.com/office/drawing/2014/main" id="{C56E7486-47FE-435E-AB3F-0B0D28D29154}"/>
                </a:ext>
              </a:extLst>
            </p:cNvPr>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24</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pic>
        <p:nvPicPr>
          <p:cNvPr id="10" name="Picture 9">
            <a:extLst>
              <a:ext uri="{FF2B5EF4-FFF2-40B4-BE49-F238E27FC236}">
                <a16:creationId xmlns:a16="http://schemas.microsoft.com/office/drawing/2014/main" id="{E0D4BD41-8F8D-39DE-9243-770DBEC57FCD}"/>
              </a:ext>
            </a:extLst>
          </p:cNvPr>
          <p:cNvPicPr>
            <a:picLocks noChangeAspect="1"/>
          </p:cNvPicPr>
          <p:nvPr/>
        </p:nvPicPr>
        <p:blipFill>
          <a:blip r:embed="rId2"/>
          <a:stretch>
            <a:fillRect/>
          </a:stretch>
        </p:blipFill>
        <p:spPr>
          <a:xfrm>
            <a:off x="119818" y="2040182"/>
            <a:ext cx="8841302" cy="2692992"/>
          </a:xfrm>
          <a:prstGeom prst="rect">
            <a:avLst/>
          </a:prstGeom>
        </p:spPr>
      </p:pic>
    </p:spTree>
    <p:extLst>
      <p:ext uri="{BB962C8B-B14F-4D97-AF65-F5344CB8AC3E}">
        <p14:creationId xmlns:p14="http://schemas.microsoft.com/office/powerpoint/2010/main" val="3095601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81A6C6"/>
          </a:solidFill>
          <a:ln w="12700">
            <a:solidFill>
              <a:srgbClr val="81A6C6"/>
            </a:solidFill>
            <a:prstDash val="solid"/>
          </a:ln>
        </p:spPr>
        <p:txBody>
          <a:bodyPr/>
          <a:lstStyle/>
          <a:p>
            <a:endParaRPr lang="en-US" dirty="0"/>
          </a:p>
        </p:txBody>
      </p:sp>
      <p:sp>
        <p:nvSpPr>
          <p:cNvPr id="3" name="Text 1"/>
          <p:cNvSpPr/>
          <p:nvPr/>
        </p:nvSpPr>
        <p:spPr>
          <a:xfrm>
            <a:off x="0" y="1097280"/>
            <a:ext cx="3200400" cy="1828800"/>
          </a:xfrm>
          <a:prstGeom prst="rect">
            <a:avLst/>
          </a:prstGeom>
          <a:noFill/>
          <a:ln/>
        </p:spPr>
        <p:txBody>
          <a:bodyPr wrap="square" lIns="0" tIns="0" rIns="0" bIns="0" rtlCol="0" anchor="ctr"/>
          <a:lstStyle/>
          <a:p>
            <a:pPr marL="0" indent="0" algn="ctr">
              <a:buNone/>
            </a:pPr>
            <a:r>
              <a:rPr lang="en-US" sz="12000" b="1" dirty="0">
                <a:solidFill>
                  <a:srgbClr val="DCEAF8"/>
                </a:solidFill>
                <a:latin typeface="Calibri" pitchFamily="34" charset="0"/>
                <a:ea typeface="Calibri" pitchFamily="34" charset="-122"/>
                <a:cs typeface="Calibri" pitchFamily="34" charset="-120"/>
              </a:rPr>
              <a:t>03</a:t>
            </a:r>
            <a:endParaRPr lang="en-US" sz="12000" dirty="0">
              <a:solidFill>
                <a:srgbClr val="DCEAF8"/>
              </a:solidFill>
            </a:endParaRPr>
          </a:p>
        </p:txBody>
      </p:sp>
      <p:sp>
        <p:nvSpPr>
          <p:cNvPr id="4" name="Text 2"/>
          <p:cNvSpPr/>
          <p:nvPr/>
        </p:nvSpPr>
        <p:spPr>
          <a:xfrm>
            <a:off x="3566160" y="1645920"/>
            <a:ext cx="5212080" cy="77724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Dashboard &amp; Insights</a:t>
            </a:r>
            <a:endParaRPr lang="en-US" sz="3400" dirty="0"/>
          </a:p>
        </p:txBody>
      </p:sp>
      <p:sp>
        <p:nvSpPr>
          <p:cNvPr id="5" name="Text 3"/>
          <p:cNvSpPr/>
          <p:nvPr/>
        </p:nvSpPr>
        <p:spPr>
          <a:xfrm>
            <a:off x="3566160" y="2514600"/>
            <a:ext cx="5212080" cy="548640"/>
          </a:xfrm>
          <a:prstGeom prst="rect">
            <a:avLst/>
          </a:prstGeom>
          <a:noFill/>
          <a:ln/>
        </p:spPr>
        <p:txBody>
          <a:bodyPr wrap="square" lIns="0" tIns="0" rIns="0" bIns="0" rtlCol="0" anchor="ctr"/>
          <a:lstStyle/>
          <a:p>
            <a:pPr marL="0" indent="0">
              <a:buNone/>
            </a:pPr>
            <a:r>
              <a:rPr lang="en-US" sz="1500" dirty="0">
                <a:solidFill>
                  <a:srgbClr val="AED6F1"/>
                </a:solidFill>
                <a:latin typeface="Calibri" pitchFamily="34" charset="0"/>
                <a:ea typeface="Calibri" pitchFamily="34" charset="-122"/>
                <a:cs typeface="Calibri" pitchFamily="34" charset="-120"/>
              </a:rPr>
              <a:t>Visual summaries, KPIs &amp; data snapshots — to guide decisions</a:t>
            </a:r>
            <a:endParaRPr lang="en-US" sz="1500" dirty="0"/>
          </a:p>
        </p:txBody>
      </p:sp>
      <p:sp>
        <p:nvSpPr>
          <p:cNvPr id="6" name="Shape 4"/>
          <p:cNvSpPr/>
          <p:nvPr/>
        </p:nvSpPr>
        <p:spPr>
          <a:xfrm>
            <a:off x="3566160" y="2450592"/>
            <a:ext cx="5029200" cy="45720"/>
          </a:xfrm>
          <a:prstGeom prst="rect">
            <a:avLst/>
          </a:prstGeom>
          <a:solidFill>
            <a:srgbClr val="81A6C6"/>
          </a:solidFill>
          <a:ln w="12700">
            <a:solidFill>
              <a:srgbClr val="81A6C6"/>
            </a:solidFill>
            <a:prstDash val="solid"/>
          </a:ln>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1" name="Add-in 40">
                <a:extLst>
                  <a:ext uri="{FF2B5EF4-FFF2-40B4-BE49-F238E27FC236}">
                    <a16:creationId xmlns:a16="http://schemas.microsoft.com/office/drawing/2014/main" id="{8D6C5ED7-B448-6467-B63C-A53FF3CC5A7C}"/>
                  </a:ext>
                </a:extLst>
              </p:cNvPr>
              <p:cNvGraphicFramePr>
                <a:graphicFrameLocks noGrp="1"/>
              </p:cNvGraphicFramePr>
              <p:nvPr/>
            </p:nvGraphicFramePr>
            <p:xfrm>
              <a:off x="0" y="-144780"/>
              <a:ext cx="9144000" cy="543306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1" name="Add-in 40">
                <a:extLst>
                  <a:ext uri="{FF2B5EF4-FFF2-40B4-BE49-F238E27FC236}">
                    <a16:creationId xmlns:a16="http://schemas.microsoft.com/office/drawing/2014/main" id="{8D6C5ED7-B448-6467-B63C-A53FF3CC5A7C}"/>
                  </a:ext>
                </a:extLst>
              </p:cNvPr>
              <p:cNvPicPr>
                <a:picLocks noGrp="1" noRot="1" noChangeAspect="1" noMove="1" noResize="1" noEditPoints="1" noAdjustHandles="1" noChangeArrowheads="1" noChangeShapeType="1"/>
              </p:cNvPicPr>
              <p:nvPr/>
            </p:nvPicPr>
            <p:blipFill>
              <a:blip r:embed="rId3"/>
              <a:stretch>
                <a:fillRect/>
              </a:stretch>
            </p:blipFill>
            <p:spPr>
              <a:xfrm>
                <a:off x="0" y="-144780"/>
                <a:ext cx="9144000" cy="543306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5" name="Shape 2"/>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6" name="Text 3"/>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rgbClr val="000000"/>
                </a:solidFill>
                <a:latin typeface="Calibri" pitchFamily="34" charset="0"/>
                <a:ea typeface="Calibri" pitchFamily="34" charset="-122"/>
                <a:cs typeface="Calibri" pitchFamily="34" charset="-120"/>
              </a:rPr>
              <a:t>Data Analysis Project</a:t>
            </a:r>
            <a:endParaRPr lang="en-US" sz="900" dirty="0"/>
          </a:p>
        </p:txBody>
      </p:sp>
      <p:sp>
        <p:nvSpPr>
          <p:cNvPr id="7" name="Text 4"/>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000000"/>
                </a:solidFill>
                <a:latin typeface="Calibri" pitchFamily="34" charset="0"/>
                <a:ea typeface="Calibri" pitchFamily="34" charset="-122"/>
                <a:cs typeface="Calibri" pitchFamily="34" charset="-120"/>
              </a:rPr>
              <a:t>27</a:t>
            </a:r>
            <a:r>
              <a:rPr lang="en-US" sz="900" dirty="0">
                <a:solidFill>
                  <a:srgbClr val="000000"/>
                </a:solidFill>
                <a:latin typeface="Calibri" pitchFamily="34" charset="0"/>
                <a:ea typeface="Calibri" pitchFamily="34" charset="-122"/>
                <a:cs typeface="Calibri" pitchFamily="34" charset="-120"/>
              </a:rPr>
              <a:t>/ </a:t>
            </a:r>
            <a:r>
              <a:rPr lang="ar-EG" sz="900" dirty="0">
                <a:solidFill>
                  <a:srgbClr val="000000"/>
                </a:solidFill>
                <a:latin typeface="Calibri" pitchFamily="34" charset="0"/>
                <a:ea typeface="Calibri" pitchFamily="34" charset="-122"/>
                <a:cs typeface="Calibri" pitchFamily="34" charset="-120"/>
              </a:rPr>
              <a:t>34</a:t>
            </a:r>
            <a:endParaRPr lang="en-US" sz="900" dirty="0"/>
          </a:p>
        </p:txBody>
      </p:sp>
      <p:grpSp>
        <p:nvGrpSpPr>
          <p:cNvPr id="4" name="Group 3">
            <a:extLst>
              <a:ext uri="{FF2B5EF4-FFF2-40B4-BE49-F238E27FC236}">
                <a16:creationId xmlns:a16="http://schemas.microsoft.com/office/drawing/2014/main" id="{D2C261DB-657E-2A44-6E4D-4A79567ADDC3}"/>
              </a:ext>
            </a:extLst>
          </p:cNvPr>
          <p:cNvGrpSpPr/>
          <p:nvPr/>
        </p:nvGrpSpPr>
        <p:grpSpPr>
          <a:xfrm>
            <a:off x="0" y="0"/>
            <a:ext cx="9144000" cy="425271"/>
            <a:chOff x="364878" y="128754"/>
            <a:chExt cx="9144000" cy="425271"/>
          </a:xfrm>
        </p:grpSpPr>
        <p:sp>
          <p:nvSpPr>
            <p:cNvPr id="8" name="Shape 0">
              <a:extLst>
                <a:ext uri="{FF2B5EF4-FFF2-40B4-BE49-F238E27FC236}">
                  <a16:creationId xmlns:a16="http://schemas.microsoft.com/office/drawing/2014/main" id="{13C1CAD2-C312-E0C5-F835-CE36F8C97E6D}"/>
                </a:ext>
              </a:extLst>
            </p:cNvPr>
            <p:cNvSpPr/>
            <p:nvPr/>
          </p:nvSpPr>
          <p:spPr>
            <a:xfrm>
              <a:off x="364878" y="128754"/>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latin typeface="Calibri" pitchFamily="34" charset="0"/>
                  <a:ea typeface="Calibri" pitchFamily="34" charset="-122"/>
                  <a:cs typeface="Calibri" pitchFamily="34" charset="-120"/>
                </a:rPr>
                <a:t> </a:t>
              </a:r>
              <a:r>
                <a:rPr lang="en-US" b="1" dirty="0">
                  <a:solidFill>
                    <a:srgbClr val="81A6C6"/>
                  </a:solidFill>
                  <a:latin typeface="Calibri" pitchFamily="34" charset="0"/>
                  <a:ea typeface="Calibri" pitchFamily="34" charset="-122"/>
                  <a:cs typeface="Calibri" pitchFamily="34" charset="-120"/>
                </a:rPr>
                <a:t>Insights</a:t>
              </a:r>
            </a:p>
          </p:txBody>
        </p:sp>
        <p:sp>
          <p:nvSpPr>
            <p:cNvPr id="9" name="Shape 5">
              <a:extLst>
                <a:ext uri="{FF2B5EF4-FFF2-40B4-BE49-F238E27FC236}">
                  <a16:creationId xmlns:a16="http://schemas.microsoft.com/office/drawing/2014/main" id="{31680389-6291-0CF2-DADD-9FB7DF9DD2BE}"/>
                </a:ext>
              </a:extLst>
            </p:cNvPr>
            <p:cNvSpPr/>
            <p:nvPr/>
          </p:nvSpPr>
          <p:spPr>
            <a:xfrm>
              <a:off x="364878" y="128754"/>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sp>
        <p:nvSpPr>
          <p:cNvPr id="13" name="TextBox 12">
            <a:extLst>
              <a:ext uri="{FF2B5EF4-FFF2-40B4-BE49-F238E27FC236}">
                <a16:creationId xmlns:a16="http://schemas.microsoft.com/office/drawing/2014/main" id="{6ECE0DD6-0C9F-A549-0211-5ACD8B93FBB9}"/>
              </a:ext>
            </a:extLst>
          </p:cNvPr>
          <p:cNvSpPr txBox="1"/>
          <p:nvPr/>
        </p:nvSpPr>
        <p:spPr>
          <a:xfrm>
            <a:off x="195189" y="521281"/>
            <a:ext cx="8753622" cy="4247317"/>
          </a:xfrm>
          <a:prstGeom prst="rect">
            <a:avLst/>
          </a:prstGeom>
          <a:noFill/>
        </p:spPr>
        <p:txBody>
          <a:bodyPr wrap="square">
            <a:spAutoFit/>
          </a:bodyPr>
          <a:lstStyle/>
          <a:p>
            <a:pPr marL="285750" indent="-285750">
              <a:buFont typeface="Arial" panose="020B0604020202020204" pitchFamily="34" charset="0"/>
              <a:buChar char="•"/>
            </a:pPr>
            <a:r>
              <a:rPr lang="ar-EG" dirty="0">
                <a:solidFill>
                  <a:srgbClr val="DCEAF8"/>
                </a:solidFill>
              </a:rPr>
              <a:t> </a:t>
            </a:r>
            <a:r>
              <a:rPr lang="en-US" dirty="0">
                <a:solidFill>
                  <a:srgbClr val="81A6C6"/>
                </a:solidFill>
              </a:rPr>
              <a:t>The scatter chart demonstrates</a:t>
            </a:r>
            <a:r>
              <a:rPr lang="ar-EG" dirty="0">
                <a:solidFill>
                  <a:srgbClr val="81A6C6"/>
                </a:solidFill>
              </a:rPr>
              <a:t>:</a:t>
            </a:r>
            <a:r>
              <a:rPr lang="en-US" dirty="0">
                <a:solidFill>
                  <a:srgbClr val="81A6C6"/>
                </a:solidFill>
              </a:rPr>
              <a:t> </a:t>
            </a:r>
            <a:r>
              <a:rPr lang="en-US" dirty="0">
                <a:solidFill>
                  <a:srgbClr val="DCEAF8"/>
                </a:solidFill>
              </a:rPr>
              <a:t>a clear, positive correlation between app usage time and battery consumption. As users spend more time on their devices, battery drain increases at a predictable rate.</a:t>
            </a:r>
            <a:endParaRPr lang="ar-EG" dirty="0">
              <a:solidFill>
                <a:srgbClr val="DCEAF8"/>
              </a:solidFill>
            </a:endParaRPr>
          </a:p>
          <a:p>
            <a:pPr marL="285750" indent="-285750">
              <a:buFont typeface="Arial" panose="020B0604020202020204" pitchFamily="34" charset="0"/>
              <a:buChar char="•"/>
            </a:pPr>
            <a:r>
              <a:rPr lang="ar-EG" dirty="0">
                <a:solidFill>
                  <a:srgbClr val="DCEAF8"/>
                </a:solidFill>
              </a:rPr>
              <a:t> </a:t>
            </a:r>
            <a:r>
              <a:rPr lang="en-US" dirty="0">
                <a:solidFill>
                  <a:srgbClr val="81A6C6"/>
                </a:solidFill>
              </a:rPr>
              <a:t>Usage Tiers: </a:t>
            </a:r>
            <a:r>
              <a:rPr lang="en-US" dirty="0">
                <a:solidFill>
                  <a:srgbClr val="DCEAF8"/>
                </a:solidFill>
              </a:rPr>
              <a:t>Users naturally fall into distinct clusters. These range from low-intensity users (bottom-left) with minimal drain to high-intensity users (top-right) with significant battery consumption.</a:t>
            </a:r>
            <a:endParaRPr lang="ar-EG" dirty="0">
              <a:solidFill>
                <a:srgbClr val="DCEAF8"/>
              </a:solidFill>
            </a:endParaRPr>
          </a:p>
          <a:p>
            <a:pPr marL="285750" indent="-285750">
              <a:buFont typeface="Arial" panose="020B0604020202020204" pitchFamily="34" charset="0"/>
              <a:buChar char="•"/>
            </a:pPr>
            <a:r>
              <a:rPr lang="ar-EG" dirty="0">
                <a:solidFill>
                  <a:srgbClr val="81A6C6"/>
                </a:solidFill>
              </a:rPr>
              <a:t> </a:t>
            </a:r>
            <a:r>
              <a:rPr lang="en-US" dirty="0">
                <a:solidFill>
                  <a:srgbClr val="81A6C6"/>
                </a:solidFill>
              </a:rPr>
              <a:t>​Performance Efficiency (The Trend Line): </a:t>
            </a:r>
            <a:r>
              <a:rPr lang="en-US" dirty="0">
                <a:solidFill>
                  <a:srgbClr val="DCEAF8"/>
                </a:solidFill>
              </a:rPr>
              <a:t>The dashed line represents the average battery "cost" per minute of usage.</a:t>
            </a:r>
            <a:endParaRPr lang="ar-EG" dirty="0">
              <a:solidFill>
                <a:srgbClr val="DCEAF8"/>
              </a:solidFill>
            </a:endParaRPr>
          </a:p>
          <a:p>
            <a:pPr marL="285750" indent="-285750">
              <a:buFont typeface="Arial" panose="020B0604020202020204" pitchFamily="34" charset="0"/>
              <a:buChar char="•"/>
            </a:pPr>
            <a:r>
              <a:rPr lang="ar-EG" dirty="0">
                <a:solidFill>
                  <a:srgbClr val="81A6C6"/>
                </a:solidFill>
              </a:rPr>
              <a:t>  </a:t>
            </a:r>
            <a:r>
              <a:rPr lang="en-US" dirty="0">
                <a:solidFill>
                  <a:srgbClr val="81A6C6"/>
                </a:solidFill>
              </a:rPr>
              <a:t>​Points Above the Line:</a:t>
            </a:r>
            <a:r>
              <a:rPr lang="en-US" dirty="0">
                <a:solidFill>
                  <a:srgbClr val="DCEAF8"/>
                </a:solidFill>
              </a:rPr>
              <a:t> These users are more efficient. They achieve more usage time for every unit of battery consumed.</a:t>
            </a:r>
            <a:endParaRPr lang="ar-EG" dirty="0">
              <a:solidFill>
                <a:srgbClr val="DCEAF8"/>
              </a:solidFill>
            </a:endParaRPr>
          </a:p>
          <a:p>
            <a:pPr marL="285750" indent="-285750">
              <a:buFont typeface="Arial" panose="020B0604020202020204" pitchFamily="34" charset="0"/>
              <a:buChar char="•"/>
            </a:pPr>
            <a:r>
              <a:rPr lang="ar-EG" dirty="0">
                <a:solidFill>
                  <a:srgbClr val="DCEAF8"/>
                </a:solidFill>
              </a:rPr>
              <a:t> </a:t>
            </a:r>
            <a:r>
              <a:rPr lang="en-US" dirty="0">
                <a:solidFill>
                  <a:srgbClr val="DCEAF8"/>
                </a:solidFill>
              </a:rPr>
              <a:t>​</a:t>
            </a:r>
            <a:r>
              <a:rPr lang="en-US" dirty="0">
                <a:solidFill>
                  <a:srgbClr val="81A6C6"/>
                </a:solidFill>
              </a:rPr>
              <a:t>Points Below the Line: </a:t>
            </a:r>
            <a:r>
              <a:rPr lang="en-US" dirty="0">
                <a:solidFill>
                  <a:srgbClr val="DCEAF8"/>
                </a:solidFill>
              </a:rPr>
              <a:t>These users are less efficient. They experience higher battery drain for the amount of time spent in-app.</a:t>
            </a:r>
            <a:endParaRPr lang="ar-EG" dirty="0">
              <a:solidFill>
                <a:srgbClr val="DCEAF8"/>
              </a:solidFill>
            </a:endParaRPr>
          </a:p>
          <a:p>
            <a:pPr marL="285750" indent="-285750">
              <a:buFont typeface="Arial" panose="020B0604020202020204" pitchFamily="34" charset="0"/>
              <a:buChar char="•"/>
            </a:pPr>
            <a:r>
              <a:rPr lang="ar-EG" dirty="0">
                <a:solidFill>
                  <a:srgbClr val="DCEAF8"/>
                </a:solidFill>
              </a:rPr>
              <a:t> </a:t>
            </a:r>
            <a:r>
              <a:rPr lang="en-US" dirty="0">
                <a:solidFill>
                  <a:srgbClr val="81A6C6"/>
                </a:solidFill>
              </a:rPr>
              <a:t>The are chart identifies</a:t>
            </a:r>
            <a:r>
              <a:rPr lang="ar-EG" dirty="0">
                <a:solidFill>
                  <a:srgbClr val="81A6C6"/>
                </a:solidFill>
              </a:rPr>
              <a:t>:</a:t>
            </a:r>
            <a:r>
              <a:rPr lang="en-US" dirty="0">
                <a:solidFill>
                  <a:srgbClr val="81A6C6"/>
                </a:solidFill>
              </a:rPr>
              <a:t> </a:t>
            </a:r>
            <a:r>
              <a:rPr lang="en-US" dirty="0">
                <a:solidFill>
                  <a:srgbClr val="DCEAF8"/>
                </a:solidFill>
              </a:rPr>
              <a:t>a clear behavioral threshold at 300 minutes. Beyond this point, Digital Burnout scores increase by nearly 200%, suggesting that 5 hours is the maximum limit for 'healthy' interaction with these devices.</a:t>
            </a:r>
            <a:endParaRPr lang="ar-EG" dirty="0">
              <a:solidFill>
                <a:srgbClr val="DCEAF8"/>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a:extLst>
                  <a:ext uri="{FF2B5EF4-FFF2-40B4-BE49-F238E27FC236}">
                    <a16:creationId xmlns:a16="http://schemas.microsoft.com/office/drawing/2014/main" id="{1FC441DE-CA3E-B523-76C0-B3C0D0240056}"/>
                  </a:ext>
                </a:extLst>
              </p:cNvPr>
              <p:cNvGraphicFramePr>
                <a:graphicFrameLocks noGrp="1"/>
              </p:cNvGraphicFramePr>
              <p:nvPr/>
            </p:nvGraphicFramePr>
            <p:xfrm>
              <a:off x="0" y="-144780"/>
              <a:ext cx="9144000" cy="543306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Add-in 3">
                <a:extLst>
                  <a:ext uri="{FF2B5EF4-FFF2-40B4-BE49-F238E27FC236}">
                    <a16:creationId xmlns:a16="http://schemas.microsoft.com/office/drawing/2014/main" id="{1FC441DE-CA3E-B523-76C0-B3C0D0240056}"/>
                  </a:ext>
                </a:extLst>
              </p:cNvPr>
              <p:cNvPicPr>
                <a:picLocks noGrp="1" noRot="1" noChangeAspect="1" noMove="1" noResize="1" noEditPoints="1" noAdjustHandles="1" noChangeArrowheads="1" noChangeShapeType="1"/>
              </p:cNvPicPr>
              <p:nvPr/>
            </p:nvPicPr>
            <p:blipFill>
              <a:blip r:embed="rId3"/>
              <a:stretch>
                <a:fillRect/>
              </a:stretch>
            </p:blipFill>
            <p:spPr>
              <a:xfrm>
                <a:off x="0" y="-144780"/>
                <a:ext cx="9144000" cy="543306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AD970-5609-17E0-5892-9108FBCDBEEA}"/>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567C440D-BE6B-557F-FF8D-4CA4933A88FF}"/>
              </a:ext>
            </a:extLst>
          </p:cNvPr>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6" name="Text 3">
            <a:extLst>
              <a:ext uri="{FF2B5EF4-FFF2-40B4-BE49-F238E27FC236}">
                <a16:creationId xmlns:a16="http://schemas.microsoft.com/office/drawing/2014/main" id="{746A1918-D561-D350-02CA-381C28CC1363}"/>
              </a:ext>
            </a:extLst>
          </p:cNvPr>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rgbClr val="000000"/>
                </a:solidFill>
                <a:latin typeface="Calibri" pitchFamily="34" charset="0"/>
                <a:ea typeface="Calibri" pitchFamily="34" charset="-122"/>
                <a:cs typeface="Calibri" pitchFamily="34" charset="-120"/>
              </a:rPr>
              <a:t>Data Analysis Project</a:t>
            </a:r>
            <a:endParaRPr lang="en-US" sz="900" dirty="0"/>
          </a:p>
        </p:txBody>
      </p:sp>
      <p:sp>
        <p:nvSpPr>
          <p:cNvPr id="7" name="Text 4">
            <a:extLst>
              <a:ext uri="{FF2B5EF4-FFF2-40B4-BE49-F238E27FC236}">
                <a16:creationId xmlns:a16="http://schemas.microsoft.com/office/drawing/2014/main" id="{FF403073-0858-1CA9-4FEE-E470993275E6}"/>
              </a:ext>
            </a:extLst>
          </p:cNvPr>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000000"/>
                </a:solidFill>
                <a:latin typeface="Calibri" pitchFamily="34" charset="0"/>
                <a:ea typeface="Calibri" pitchFamily="34" charset="-122"/>
                <a:cs typeface="Calibri" pitchFamily="34" charset="-120"/>
              </a:rPr>
              <a:t>29</a:t>
            </a:r>
            <a:r>
              <a:rPr lang="en-US" sz="900" dirty="0">
                <a:solidFill>
                  <a:srgbClr val="000000"/>
                </a:solidFill>
                <a:latin typeface="Calibri" pitchFamily="34" charset="0"/>
                <a:ea typeface="Calibri" pitchFamily="34" charset="-122"/>
                <a:cs typeface="Calibri" pitchFamily="34" charset="-120"/>
              </a:rPr>
              <a:t> / </a:t>
            </a:r>
            <a:r>
              <a:rPr lang="ar-EG" sz="900" dirty="0">
                <a:solidFill>
                  <a:srgbClr val="000000"/>
                </a:solidFill>
                <a:latin typeface="Calibri" pitchFamily="34" charset="0"/>
                <a:ea typeface="Calibri" pitchFamily="34" charset="-122"/>
                <a:cs typeface="Calibri" pitchFamily="34" charset="-120"/>
              </a:rPr>
              <a:t>34</a:t>
            </a:r>
            <a:endParaRPr lang="en-US" sz="900" dirty="0"/>
          </a:p>
        </p:txBody>
      </p:sp>
      <p:grpSp>
        <p:nvGrpSpPr>
          <p:cNvPr id="4" name="Group 3">
            <a:extLst>
              <a:ext uri="{FF2B5EF4-FFF2-40B4-BE49-F238E27FC236}">
                <a16:creationId xmlns:a16="http://schemas.microsoft.com/office/drawing/2014/main" id="{11614BAF-A1ED-0F08-F7B6-FFC14B53C33B}"/>
              </a:ext>
            </a:extLst>
          </p:cNvPr>
          <p:cNvGrpSpPr/>
          <p:nvPr/>
        </p:nvGrpSpPr>
        <p:grpSpPr>
          <a:xfrm>
            <a:off x="0" y="0"/>
            <a:ext cx="9144000" cy="425271"/>
            <a:chOff x="364878" y="128754"/>
            <a:chExt cx="9144000" cy="425271"/>
          </a:xfrm>
        </p:grpSpPr>
        <p:sp>
          <p:nvSpPr>
            <p:cNvPr id="8" name="Shape 0">
              <a:extLst>
                <a:ext uri="{FF2B5EF4-FFF2-40B4-BE49-F238E27FC236}">
                  <a16:creationId xmlns:a16="http://schemas.microsoft.com/office/drawing/2014/main" id="{7ED49322-DA4D-4DA5-D1CB-983EE9F60ED6}"/>
                </a:ext>
              </a:extLst>
            </p:cNvPr>
            <p:cNvSpPr/>
            <p:nvPr/>
          </p:nvSpPr>
          <p:spPr>
            <a:xfrm>
              <a:off x="364878" y="128754"/>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latin typeface="Calibri" pitchFamily="34" charset="0"/>
                  <a:ea typeface="Calibri" pitchFamily="34" charset="-122"/>
                  <a:cs typeface="Calibri" pitchFamily="34" charset="-120"/>
                </a:rPr>
                <a:t> </a:t>
              </a:r>
              <a:r>
                <a:rPr lang="en-US" b="1" dirty="0">
                  <a:solidFill>
                    <a:srgbClr val="81A6C6"/>
                  </a:solidFill>
                  <a:latin typeface="Calibri" pitchFamily="34" charset="0"/>
                  <a:ea typeface="Calibri" pitchFamily="34" charset="-122"/>
                  <a:cs typeface="Calibri" pitchFamily="34" charset="-120"/>
                </a:rPr>
                <a:t>Insights</a:t>
              </a:r>
            </a:p>
          </p:txBody>
        </p:sp>
        <p:sp>
          <p:nvSpPr>
            <p:cNvPr id="9" name="Shape 5">
              <a:extLst>
                <a:ext uri="{FF2B5EF4-FFF2-40B4-BE49-F238E27FC236}">
                  <a16:creationId xmlns:a16="http://schemas.microsoft.com/office/drawing/2014/main" id="{BE5F3D27-6A1F-7DBC-4DC1-FC08B799D643}"/>
                </a:ext>
              </a:extLst>
            </p:cNvPr>
            <p:cNvSpPr/>
            <p:nvPr/>
          </p:nvSpPr>
          <p:spPr>
            <a:xfrm>
              <a:off x="364878" y="128754"/>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sp>
        <p:nvSpPr>
          <p:cNvPr id="11" name="TextBox 10">
            <a:extLst>
              <a:ext uri="{FF2B5EF4-FFF2-40B4-BE49-F238E27FC236}">
                <a16:creationId xmlns:a16="http://schemas.microsoft.com/office/drawing/2014/main" id="{620915E0-D2C0-424D-0AF9-F65BBBFFC654}"/>
              </a:ext>
            </a:extLst>
          </p:cNvPr>
          <p:cNvSpPr txBox="1"/>
          <p:nvPr/>
        </p:nvSpPr>
        <p:spPr>
          <a:xfrm>
            <a:off x="188156" y="1002089"/>
            <a:ext cx="8641080" cy="3139321"/>
          </a:xfrm>
          <a:prstGeom prst="rect">
            <a:avLst/>
          </a:prstGeom>
          <a:noFill/>
        </p:spPr>
        <p:txBody>
          <a:bodyPr wrap="square">
            <a:spAutoFit/>
          </a:bodyPr>
          <a:lstStyle/>
          <a:p>
            <a:r>
              <a:rPr lang="en-US" dirty="0">
                <a:solidFill>
                  <a:srgbClr val="DCEAF8"/>
                </a:solidFill>
              </a:rPr>
              <a:t>Our data identifies a clear behavioral threshold at 300 minutes. Beyond this point, Digital Burnout scores increase by nearly 200%, suggesting that 5 hours is the maximum limit for 'healthy' interaction with these devices.</a:t>
            </a:r>
            <a:endParaRPr lang="ar-EG" dirty="0">
              <a:solidFill>
                <a:srgbClr val="DCEAF8"/>
              </a:solidFill>
            </a:endParaRPr>
          </a:p>
          <a:p>
            <a:endParaRPr lang="ar-EG" dirty="0">
              <a:solidFill>
                <a:srgbClr val="DCEAF8"/>
              </a:solidFill>
            </a:endParaRPr>
          </a:p>
          <a:p>
            <a:pPr marL="285750" indent="-285750">
              <a:buFont typeface="Arial" panose="020B0604020202020204" pitchFamily="34" charset="0"/>
              <a:buChar char="•"/>
            </a:pPr>
            <a:r>
              <a:rPr lang="ar-EG" dirty="0">
                <a:solidFill>
                  <a:srgbClr val="DCEAF8"/>
                </a:solidFill>
              </a:rPr>
              <a:t>  </a:t>
            </a:r>
            <a:r>
              <a:rPr lang="en-US" dirty="0">
                <a:solidFill>
                  <a:srgbClr val="81A6C6"/>
                </a:solidFill>
              </a:rPr>
              <a:t>Metric Correction: </a:t>
            </a:r>
            <a:r>
              <a:rPr lang="en-US" dirty="0">
                <a:solidFill>
                  <a:srgbClr val="DCEAF8"/>
                </a:solidFill>
              </a:rPr>
              <a:t>Total figures were skewed by larger user populations (Gen X showed more addiction which doesn't make sense).</a:t>
            </a:r>
            <a:endParaRPr lang="ar-EG" dirty="0">
              <a:solidFill>
                <a:srgbClr val="DCEAF8"/>
              </a:solidFill>
            </a:endParaRPr>
          </a:p>
          <a:p>
            <a:pPr marL="285750" indent="-285750">
              <a:buFont typeface="Arial" panose="020B0604020202020204" pitchFamily="34" charset="0"/>
              <a:buChar char="•"/>
            </a:pPr>
            <a:r>
              <a:rPr lang="ar-EG" dirty="0">
                <a:solidFill>
                  <a:srgbClr val="DCEAF8"/>
                </a:solidFill>
              </a:rPr>
              <a:t> </a:t>
            </a:r>
            <a:r>
              <a:rPr lang="en-US" dirty="0">
                <a:solidFill>
                  <a:srgbClr val="DCEAF8"/>
                </a:solidFill>
              </a:rPr>
              <a:t> </a:t>
            </a:r>
            <a:r>
              <a:rPr lang="en-US" dirty="0">
                <a:solidFill>
                  <a:srgbClr val="81A6C6"/>
                </a:solidFill>
              </a:rPr>
              <a:t>Switching to averages</a:t>
            </a:r>
            <a:r>
              <a:rPr lang="ar-EG" dirty="0">
                <a:solidFill>
                  <a:srgbClr val="81A6C6"/>
                </a:solidFill>
              </a:rPr>
              <a:t>:</a:t>
            </a:r>
            <a:r>
              <a:rPr lang="en-US" dirty="0">
                <a:solidFill>
                  <a:srgbClr val="81A6C6"/>
                </a:solidFill>
              </a:rPr>
              <a:t> </a:t>
            </a:r>
            <a:r>
              <a:rPr lang="en-US" dirty="0">
                <a:solidFill>
                  <a:srgbClr val="DCEAF8"/>
                </a:solidFill>
              </a:rPr>
              <a:t>provides a more accurate representation of user behavior.</a:t>
            </a:r>
            <a:endParaRPr lang="ar-EG" dirty="0">
              <a:solidFill>
                <a:srgbClr val="DCEAF8"/>
              </a:solidFill>
            </a:endParaRPr>
          </a:p>
          <a:p>
            <a:pPr marL="285750" indent="-285750">
              <a:buFont typeface="Arial" panose="020B0604020202020204" pitchFamily="34" charset="0"/>
              <a:buChar char="•"/>
            </a:pPr>
            <a:r>
              <a:rPr lang="ar-EG" dirty="0">
                <a:solidFill>
                  <a:srgbClr val="DCEAF8"/>
                </a:solidFill>
              </a:rPr>
              <a:t> </a:t>
            </a:r>
            <a:r>
              <a:rPr lang="en-US" dirty="0">
                <a:solidFill>
                  <a:srgbClr val="DCEAF8"/>
                </a:solidFill>
              </a:rPr>
              <a:t> ​</a:t>
            </a:r>
            <a:r>
              <a:rPr lang="en-US" dirty="0">
                <a:solidFill>
                  <a:srgbClr val="81A6C6"/>
                </a:solidFill>
              </a:rPr>
              <a:t>Engagement:</a:t>
            </a:r>
            <a:r>
              <a:rPr lang="en-US" dirty="0">
                <a:solidFill>
                  <a:srgbClr val="DCEAF8"/>
                </a:solidFill>
              </a:rPr>
              <a:t> While Gen X has more users, Gen Z leads in individual engagement with </a:t>
            </a:r>
            <a:r>
              <a:rPr lang="ar-EG" dirty="0">
                <a:solidFill>
                  <a:srgbClr val="DCEAF8"/>
                </a:solidFill>
              </a:rPr>
              <a:t> </a:t>
            </a:r>
            <a:r>
              <a:rPr lang="en-US" dirty="0">
                <a:solidFill>
                  <a:srgbClr val="DCEAF8"/>
                </a:solidFill>
              </a:rPr>
              <a:t>the highest average app usage time.</a:t>
            </a:r>
            <a:endParaRPr lang="ar-EG" dirty="0">
              <a:solidFill>
                <a:srgbClr val="DCEAF8"/>
              </a:solidFill>
            </a:endParaRPr>
          </a:p>
          <a:p>
            <a:pPr marL="285750" indent="-285750">
              <a:buFont typeface="Arial" panose="020B0604020202020204" pitchFamily="34" charset="0"/>
              <a:buChar char="•"/>
            </a:pPr>
            <a:r>
              <a:rPr lang="ar-EG" dirty="0">
                <a:solidFill>
                  <a:srgbClr val="DCEAF8"/>
                </a:solidFill>
              </a:rPr>
              <a:t> </a:t>
            </a:r>
            <a:r>
              <a:rPr lang="en-US" dirty="0">
                <a:solidFill>
                  <a:srgbClr val="DCEAF8"/>
                </a:solidFill>
              </a:rPr>
              <a:t> ​</a:t>
            </a:r>
            <a:r>
              <a:rPr lang="en-US" dirty="0">
                <a:solidFill>
                  <a:srgbClr val="81A6C6"/>
                </a:solidFill>
              </a:rPr>
              <a:t>Performance:</a:t>
            </a:r>
            <a:r>
              <a:rPr lang="en-US" dirty="0">
                <a:solidFill>
                  <a:srgbClr val="DCEAF8"/>
                </a:solidFill>
              </a:rPr>
              <a:t> Despite Android’s higher total drain, iOS experiences higher battery drain per user, indicating a need for platform-specific optimization.</a:t>
            </a:r>
            <a:endParaRPr lang="ar-EG" dirty="0">
              <a:solidFill>
                <a:srgbClr val="DCEAF8"/>
              </a:solidFill>
            </a:endParaRPr>
          </a:p>
        </p:txBody>
      </p:sp>
    </p:spTree>
    <p:extLst>
      <p:ext uri="{BB962C8B-B14F-4D97-AF65-F5344CB8AC3E}">
        <p14:creationId xmlns:p14="http://schemas.microsoft.com/office/powerpoint/2010/main" val="3477822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BC9C"/>
          </a:solidFill>
          <a:ln w="12700">
            <a:solidFill>
              <a:srgbClr val="1ABC9C"/>
            </a:solidFill>
            <a:prstDash val="solid"/>
          </a:ln>
        </p:spPr>
        <p:txBody>
          <a:bodyPr/>
          <a:lstStyle/>
          <a:p>
            <a:endParaRPr lang="en-US"/>
          </a:p>
        </p:txBody>
      </p:sp>
      <p:sp>
        <p:nvSpPr>
          <p:cNvPr id="3" name="Text 1"/>
          <p:cNvSpPr/>
          <p:nvPr/>
        </p:nvSpPr>
        <p:spPr>
          <a:xfrm>
            <a:off x="411480" y="164592"/>
            <a:ext cx="8321040" cy="566928"/>
          </a:xfrm>
          <a:prstGeom prst="rect">
            <a:avLst/>
          </a:prstGeom>
          <a:noFill/>
          <a:ln/>
        </p:spPr>
        <p:txBody>
          <a:bodyPr wrap="square" lIns="0" tIns="0" rIns="0" bIns="0" rtlCol="0" anchor="ctr"/>
          <a:lstStyle/>
          <a:p>
            <a:pPr marL="0" indent="0">
              <a:buNone/>
            </a:pPr>
            <a:r>
              <a:rPr lang="en-US" sz="2600" b="1" dirty="0">
                <a:solidFill>
                  <a:srgbClr val="0D2B4E"/>
                </a:solidFill>
                <a:latin typeface="Calibri" pitchFamily="34" charset="0"/>
                <a:ea typeface="Calibri" pitchFamily="34" charset="-122"/>
                <a:cs typeface="Calibri" pitchFamily="34" charset="-120"/>
              </a:rPr>
              <a:t>KPI Dashboard Overview</a:t>
            </a:r>
            <a:endParaRPr lang="en-US" sz="2600" dirty="0"/>
          </a:p>
        </p:txBody>
      </p:sp>
      <p:sp>
        <p:nvSpPr>
          <p:cNvPr id="5" name="Shape 2"/>
          <p:cNvSpPr/>
          <p:nvPr/>
        </p:nvSpPr>
        <p:spPr>
          <a:xfrm>
            <a:off x="5760720" y="960120"/>
            <a:ext cx="2971800" cy="3657600"/>
          </a:xfrm>
          <a:prstGeom prst="rect">
            <a:avLst/>
          </a:prstGeom>
          <a:solidFill>
            <a:srgbClr val="FFFFFF"/>
          </a:solidFill>
          <a:ln w="12700">
            <a:solidFill>
              <a:srgbClr val="D0DFF0"/>
            </a:solidFill>
            <a:prstDash val="solid"/>
          </a:ln>
          <a:effectLst>
            <a:outerShdw blurRad="63500" dist="25400" dir="8100000" algn="bl" rotWithShape="0">
              <a:srgbClr val="000000">
                <a:alpha val="8000"/>
              </a:srgbClr>
            </a:outerShdw>
          </a:effectLst>
        </p:spPr>
        <p:txBody>
          <a:bodyPr/>
          <a:lstStyle/>
          <a:p>
            <a:endParaRPr lang="en-US"/>
          </a:p>
        </p:txBody>
      </p:sp>
      <p:sp>
        <p:nvSpPr>
          <p:cNvPr id="6" name="Shape 3"/>
          <p:cNvSpPr/>
          <p:nvPr/>
        </p:nvSpPr>
        <p:spPr>
          <a:xfrm>
            <a:off x="5760720" y="960120"/>
            <a:ext cx="54864" cy="3657600"/>
          </a:xfrm>
          <a:prstGeom prst="rect">
            <a:avLst/>
          </a:prstGeom>
          <a:solidFill>
            <a:srgbClr val="1ABC9C"/>
          </a:solidFill>
          <a:ln w="12700">
            <a:solidFill>
              <a:srgbClr val="1ABC9C"/>
            </a:solidFill>
            <a:prstDash val="solid"/>
          </a:ln>
        </p:spPr>
        <p:txBody>
          <a:bodyPr/>
          <a:lstStyle/>
          <a:p>
            <a:endParaRPr lang="en-US"/>
          </a:p>
        </p:txBody>
      </p:sp>
      <p:sp>
        <p:nvSpPr>
          <p:cNvPr id="7" name="Text 4"/>
          <p:cNvSpPr/>
          <p:nvPr/>
        </p:nvSpPr>
        <p:spPr>
          <a:xfrm>
            <a:off x="5943600" y="1051560"/>
            <a:ext cx="2606040" cy="384048"/>
          </a:xfrm>
          <a:prstGeom prst="rect">
            <a:avLst/>
          </a:prstGeom>
          <a:noFill/>
          <a:ln/>
        </p:spPr>
        <p:txBody>
          <a:bodyPr wrap="square" lIns="0" tIns="0" rIns="0" bIns="0" rtlCol="0" anchor="ctr"/>
          <a:lstStyle/>
          <a:p>
            <a:pPr marL="0" indent="0">
              <a:buNone/>
            </a:pPr>
            <a:r>
              <a:rPr lang="en-US" sz="1400" b="1" dirty="0">
                <a:solidFill>
                  <a:srgbClr val="1ABC9C"/>
                </a:solidFill>
                <a:latin typeface="Calibri" pitchFamily="34" charset="0"/>
                <a:ea typeface="Calibri" pitchFamily="34" charset="-122"/>
                <a:cs typeface="Calibri" pitchFamily="34" charset="-120"/>
              </a:rPr>
              <a:t>Dashboard Highlights</a:t>
            </a:r>
            <a:endParaRPr lang="en-US" sz="1400" dirty="0"/>
          </a:p>
        </p:txBody>
      </p:sp>
      <p:sp>
        <p:nvSpPr>
          <p:cNvPr id="8" name="Text 5"/>
          <p:cNvSpPr/>
          <p:nvPr/>
        </p:nvSpPr>
        <p:spPr>
          <a:xfrm>
            <a:off x="5943600" y="1508760"/>
            <a:ext cx="2651760" cy="2999232"/>
          </a:xfrm>
          <a:prstGeom prst="rect">
            <a:avLst/>
          </a:prstGeom>
          <a:noFill/>
          <a:ln/>
        </p:spPr>
        <p:txBody>
          <a:bodyPr wrap="square" lIns="0" tIns="0" rIns="0" bIns="0" rtlCol="0" anchor="ctr"/>
          <a:lstStyle/>
          <a:p>
            <a:pPr marL="0" indent="0" algn="ctr">
              <a:buNone/>
            </a:pPr>
            <a:r>
              <a:rPr lang="en-US" sz="1200" i="1" dirty="0">
                <a:solidFill>
                  <a:srgbClr val="ABB2B9"/>
                </a:solidFill>
                <a:latin typeface="Calibri" pitchFamily="34" charset="0"/>
                <a:ea typeface="Calibri" pitchFamily="34" charset="-122"/>
                <a:cs typeface="Calibri" pitchFamily="34" charset="-120"/>
              </a:rPr>
              <a:t>[ Summarize the top 3-5 KPIs displayed in the dashboard. Describe trends, anomalies, or targets met/missed. ]</a:t>
            </a:r>
            <a:endParaRPr lang="en-US" sz="1200" dirty="0"/>
          </a:p>
        </p:txBody>
      </p:sp>
      <p:sp>
        <p:nvSpPr>
          <p:cNvPr id="9" name="Shape 6"/>
          <p:cNvSpPr/>
          <p:nvPr/>
        </p:nvSpPr>
        <p:spPr>
          <a:xfrm>
            <a:off x="0" y="4864608"/>
            <a:ext cx="9144000" cy="278892"/>
          </a:xfrm>
          <a:prstGeom prst="rect">
            <a:avLst/>
          </a:prstGeom>
          <a:solidFill>
            <a:srgbClr val="0D2B4E"/>
          </a:solidFill>
          <a:ln w="12700">
            <a:solidFill>
              <a:srgbClr val="0D2B4E"/>
            </a:solidFill>
            <a:prstDash val="solid"/>
          </a:ln>
        </p:spPr>
        <p:txBody>
          <a:bodyPr/>
          <a:lstStyle/>
          <a:p>
            <a:endParaRPr lang="en-US"/>
          </a:p>
        </p:txBody>
      </p:sp>
      <p:sp>
        <p:nvSpPr>
          <p:cNvPr id="10" name="Text 7"/>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rgbClr val="AED6F1"/>
                </a:solidFill>
                <a:latin typeface="Calibri" pitchFamily="34" charset="0"/>
                <a:ea typeface="Calibri" pitchFamily="34" charset="-122"/>
                <a:cs typeface="Calibri" pitchFamily="34" charset="-120"/>
              </a:rPr>
              <a:t>Data Analysis Project</a:t>
            </a:r>
            <a:endParaRPr lang="en-US" sz="900" dirty="0"/>
          </a:p>
        </p:txBody>
      </p:sp>
      <p:sp>
        <p:nvSpPr>
          <p:cNvPr id="11" name="Text 8"/>
          <p:cNvSpPr/>
          <p:nvPr/>
        </p:nvSpPr>
        <p:spPr>
          <a:xfrm>
            <a:off x="8046720" y="4864608"/>
            <a:ext cx="914400" cy="278892"/>
          </a:xfrm>
          <a:prstGeom prst="rect">
            <a:avLst/>
          </a:prstGeom>
          <a:noFill/>
          <a:ln/>
        </p:spPr>
        <p:txBody>
          <a:bodyPr wrap="square" lIns="0" tIns="0" rIns="0" bIns="0" rtlCol="0" anchor="ctr"/>
          <a:lstStyle/>
          <a:p>
            <a:pPr marL="0" indent="0" algn="r">
              <a:buNone/>
            </a:pPr>
            <a:r>
              <a:rPr lang="en-US" sz="900" dirty="0">
                <a:solidFill>
                  <a:srgbClr val="AED6F1"/>
                </a:solidFill>
                <a:latin typeface="Calibri" pitchFamily="34" charset="0"/>
                <a:ea typeface="Calibri" pitchFamily="34" charset="-122"/>
                <a:cs typeface="Calibri" pitchFamily="34" charset="-120"/>
              </a:rPr>
              <a:t>26 / 40</a:t>
            </a:r>
            <a:endParaRPr lang="en-US" sz="900"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a:extLst>
                  <a:ext uri="{FF2B5EF4-FFF2-40B4-BE49-F238E27FC236}">
                    <a16:creationId xmlns:a16="http://schemas.microsoft.com/office/drawing/2014/main" id="{3EC1F06B-55A9-2A2E-2A61-D1D9E1CB571B}"/>
                  </a:ext>
                </a:extLst>
              </p:cNvPr>
              <p:cNvGraphicFramePr>
                <a:graphicFrameLocks noGrp="1"/>
              </p:cNvGraphicFramePr>
              <p:nvPr/>
            </p:nvGraphicFramePr>
            <p:xfrm>
              <a:off x="0" y="-144780"/>
              <a:ext cx="9144000" cy="543306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Add-in 3">
                <a:extLst>
                  <a:ext uri="{FF2B5EF4-FFF2-40B4-BE49-F238E27FC236}">
                    <a16:creationId xmlns:a16="http://schemas.microsoft.com/office/drawing/2014/main" id="{3EC1F06B-55A9-2A2E-2A61-D1D9E1CB571B}"/>
                  </a:ext>
                </a:extLst>
              </p:cNvPr>
              <p:cNvPicPr>
                <a:picLocks noGrp="1" noRot="1" noChangeAspect="1" noMove="1" noResize="1" noEditPoints="1" noAdjustHandles="1" noChangeArrowheads="1" noChangeShapeType="1"/>
              </p:cNvPicPr>
              <p:nvPr/>
            </p:nvPicPr>
            <p:blipFill>
              <a:blip r:embed="rId3"/>
              <a:stretch>
                <a:fillRect/>
              </a:stretch>
            </p:blipFill>
            <p:spPr>
              <a:xfrm>
                <a:off x="0" y="-144780"/>
                <a:ext cx="9144000" cy="543306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8B103-8025-353D-CB68-E9C6042FBFC8}"/>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B1207704-2FEA-B37B-57CA-1FF6752ACE4B}"/>
              </a:ext>
            </a:extLst>
          </p:cNvPr>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6" name="Text 3">
            <a:extLst>
              <a:ext uri="{FF2B5EF4-FFF2-40B4-BE49-F238E27FC236}">
                <a16:creationId xmlns:a16="http://schemas.microsoft.com/office/drawing/2014/main" id="{440E8017-3E38-6477-10D9-168361D2AF13}"/>
              </a:ext>
            </a:extLst>
          </p:cNvPr>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rgbClr val="000000"/>
                </a:solidFill>
                <a:latin typeface="Calibri" pitchFamily="34" charset="0"/>
                <a:ea typeface="Calibri" pitchFamily="34" charset="-122"/>
                <a:cs typeface="Calibri" pitchFamily="34" charset="-120"/>
              </a:rPr>
              <a:t>Data Analysis Project</a:t>
            </a:r>
            <a:endParaRPr lang="en-US" sz="900" dirty="0"/>
          </a:p>
        </p:txBody>
      </p:sp>
      <p:sp>
        <p:nvSpPr>
          <p:cNvPr id="7" name="Text 4">
            <a:extLst>
              <a:ext uri="{FF2B5EF4-FFF2-40B4-BE49-F238E27FC236}">
                <a16:creationId xmlns:a16="http://schemas.microsoft.com/office/drawing/2014/main" id="{AF53F996-C257-D829-B2E4-D2945543D2A4}"/>
              </a:ext>
            </a:extLst>
          </p:cNvPr>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000000"/>
                </a:solidFill>
                <a:latin typeface="Calibri" pitchFamily="34" charset="0"/>
                <a:ea typeface="Calibri" pitchFamily="34" charset="-122"/>
                <a:cs typeface="Calibri" pitchFamily="34" charset="-120"/>
              </a:rPr>
              <a:t>31</a:t>
            </a:r>
            <a:r>
              <a:rPr lang="en-US" sz="900" dirty="0">
                <a:solidFill>
                  <a:srgbClr val="000000"/>
                </a:solidFill>
                <a:latin typeface="Calibri" pitchFamily="34" charset="0"/>
                <a:ea typeface="Calibri" pitchFamily="34" charset="-122"/>
                <a:cs typeface="Calibri" pitchFamily="34" charset="-120"/>
              </a:rPr>
              <a:t> / </a:t>
            </a:r>
            <a:r>
              <a:rPr lang="ar-EG" sz="900" dirty="0">
                <a:solidFill>
                  <a:srgbClr val="000000"/>
                </a:solidFill>
                <a:latin typeface="Calibri" pitchFamily="34" charset="0"/>
                <a:ea typeface="Calibri" pitchFamily="34" charset="-122"/>
                <a:cs typeface="Calibri" pitchFamily="34" charset="-120"/>
              </a:rPr>
              <a:t>34</a:t>
            </a:r>
            <a:endParaRPr lang="en-US" sz="900" dirty="0"/>
          </a:p>
        </p:txBody>
      </p:sp>
      <p:grpSp>
        <p:nvGrpSpPr>
          <p:cNvPr id="4" name="Group 3">
            <a:extLst>
              <a:ext uri="{FF2B5EF4-FFF2-40B4-BE49-F238E27FC236}">
                <a16:creationId xmlns:a16="http://schemas.microsoft.com/office/drawing/2014/main" id="{F827D470-4507-8233-95FD-0366BE7ED436}"/>
              </a:ext>
            </a:extLst>
          </p:cNvPr>
          <p:cNvGrpSpPr/>
          <p:nvPr/>
        </p:nvGrpSpPr>
        <p:grpSpPr>
          <a:xfrm>
            <a:off x="0" y="0"/>
            <a:ext cx="9144000" cy="425271"/>
            <a:chOff x="364878" y="128754"/>
            <a:chExt cx="9144000" cy="425271"/>
          </a:xfrm>
        </p:grpSpPr>
        <p:sp>
          <p:nvSpPr>
            <p:cNvPr id="8" name="Shape 0">
              <a:extLst>
                <a:ext uri="{FF2B5EF4-FFF2-40B4-BE49-F238E27FC236}">
                  <a16:creationId xmlns:a16="http://schemas.microsoft.com/office/drawing/2014/main" id="{350C0922-AF18-F9B9-B20B-CFAB8D921F4B}"/>
                </a:ext>
              </a:extLst>
            </p:cNvPr>
            <p:cNvSpPr/>
            <p:nvPr/>
          </p:nvSpPr>
          <p:spPr>
            <a:xfrm>
              <a:off x="364878" y="128754"/>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ar-EG" b="1" dirty="0">
                  <a:solidFill>
                    <a:srgbClr val="81A6C6"/>
                  </a:solidFill>
                  <a:latin typeface="Calibri" pitchFamily="34" charset="0"/>
                  <a:ea typeface="Calibri" pitchFamily="34" charset="-122"/>
                  <a:cs typeface="Calibri" pitchFamily="34" charset="-120"/>
                </a:rPr>
                <a:t> </a:t>
              </a:r>
              <a:r>
                <a:rPr lang="en-US" b="1" dirty="0">
                  <a:solidFill>
                    <a:srgbClr val="81A6C6"/>
                  </a:solidFill>
                  <a:latin typeface="Calibri" pitchFamily="34" charset="0"/>
                  <a:ea typeface="Calibri" pitchFamily="34" charset="-122"/>
                  <a:cs typeface="Calibri" pitchFamily="34" charset="-120"/>
                </a:rPr>
                <a:t>Insights</a:t>
              </a:r>
            </a:p>
          </p:txBody>
        </p:sp>
        <p:sp>
          <p:nvSpPr>
            <p:cNvPr id="9" name="Shape 5">
              <a:extLst>
                <a:ext uri="{FF2B5EF4-FFF2-40B4-BE49-F238E27FC236}">
                  <a16:creationId xmlns:a16="http://schemas.microsoft.com/office/drawing/2014/main" id="{595A43F7-91B4-1D1C-F1B2-C6CF75DD7B09}"/>
                </a:ext>
              </a:extLst>
            </p:cNvPr>
            <p:cNvSpPr/>
            <p:nvPr/>
          </p:nvSpPr>
          <p:spPr>
            <a:xfrm>
              <a:off x="364878" y="128754"/>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sp>
        <p:nvSpPr>
          <p:cNvPr id="10" name="Rectangle 1">
            <a:extLst>
              <a:ext uri="{FF2B5EF4-FFF2-40B4-BE49-F238E27FC236}">
                <a16:creationId xmlns:a16="http://schemas.microsoft.com/office/drawing/2014/main" id="{059DDAB5-BDFD-5DA6-607C-AD7C0F22599B}"/>
              </a:ext>
            </a:extLst>
          </p:cNvPr>
          <p:cNvSpPr>
            <a:spLocks noChangeArrowheads="1"/>
          </p:cNvSpPr>
          <p:nvPr/>
        </p:nvSpPr>
        <p:spPr bwMode="auto">
          <a:xfrm>
            <a:off x="107680" y="1377913"/>
            <a:ext cx="916725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rgbClr val="DCEAF8"/>
                </a:solidFill>
              </a:rPr>
              <a:t>​</a:t>
            </a:r>
            <a:r>
              <a:rPr lang="en-US" altLang="en-US" dirty="0">
                <a:solidFill>
                  <a:srgbClr val="81A6C6"/>
                </a:solidFill>
              </a:rPr>
              <a:t>User Behavior as the Primary Driver: </a:t>
            </a:r>
            <a:r>
              <a:rPr lang="en-US" altLang="en-US" dirty="0">
                <a:solidFill>
                  <a:srgbClr val="DCEAF8"/>
                </a:solidFill>
              </a:rPr>
              <a:t>Battery drain is primarily a User Behavior issue rather </a:t>
            </a:r>
          </a:p>
          <a:p>
            <a:pPr lvl="0" eaLnBrk="0" fontAlgn="base" hangingPunct="0">
              <a:spcBef>
                <a:spcPct val="0"/>
              </a:spcBef>
              <a:spcAft>
                <a:spcPct val="0"/>
              </a:spcAft>
            </a:pPr>
            <a:r>
              <a:rPr lang="en-US" altLang="en-US" dirty="0">
                <a:solidFill>
                  <a:srgbClr val="DCEAF8"/>
                </a:solidFill>
              </a:rPr>
              <a:t>than a hardware one. All tested models exhibit nearly identical drain patterns, confirming that </a:t>
            </a:r>
          </a:p>
          <a:p>
            <a:pPr lvl="0" eaLnBrk="0" fontAlgn="base" hangingPunct="0">
              <a:spcBef>
                <a:spcPct val="0"/>
              </a:spcBef>
              <a:spcAft>
                <a:spcPct val="0"/>
              </a:spcAft>
            </a:pPr>
            <a:r>
              <a:rPr lang="en-US" altLang="en-US" dirty="0">
                <a:solidFill>
                  <a:srgbClr val="DCEAF8"/>
                </a:solidFill>
              </a:rPr>
              <a:t>the hardware itself is not the root cause.</a:t>
            </a:r>
          </a:p>
          <a:p>
            <a:pPr marL="285750" lvl="0" indent="-285750" eaLnBrk="0" fontAlgn="base" hangingPunct="0">
              <a:spcBef>
                <a:spcPct val="0"/>
              </a:spcBef>
              <a:spcAft>
                <a:spcPct val="0"/>
              </a:spcAft>
              <a:buFont typeface="Arial" panose="020B0604020202020204" pitchFamily="34" charset="0"/>
              <a:buChar char="•"/>
            </a:pPr>
            <a:r>
              <a:rPr lang="en-US" altLang="en-US" dirty="0">
                <a:solidFill>
                  <a:srgbClr val="DCEAF8"/>
                </a:solidFill>
              </a:rPr>
              <a:t> </a:t>
            </a:r>
            <a:r>
              <a:rPr lang="en-US" altLang="en-US" dirty="0">
                <a:solidFill>
                  <a:srgbClr val="81A6C6"/>
                </a:solidFill>
              </a:rPr>
              <a:t>Scaling and Minimal Hardware Variance: </a:t>
            </a:r>
            <a:r>
              <a:rPr lang="en-US" altLang="en-US" dirty="0">
                <a:solidFill>
                  <a:srgbClr val="DCEAF8"/>
                </a:solidFill>
              </a:rPr>
              <a:t>Power consumption scales consistently as usage </a:t>
            </a:r>
          </a:p>
          <a:p>
            <a:pPr lvl="0" eaLnBrk="0" fontAlgn="base" hangingPunct="0">
              <a:spcBef>
                <a:spcPct val="0"/>
              </a:spcBef>
              <a:spcAft>
                <a:spcPct val="0"/>
              </a:spcAft>
            </a:pPr>
            <a:r>
              <a:rPr lang="en-US" altLang="en-US" dirty="0">
                <a:solidFill>
                  <a:srgbClr val="DCEAF8"/>
                </a:solidFill>
              </a:rPr>
              <a:t>intensity (Class 1–5) increases. Furthermore, hardware-specific variance remains minimal across</a:t>
            </a:r>
          </a:p>
          <a:p>
            <a:pPr lvl="0" eaLnBrk="0" fontAlgn="base" hangingPunct="0">
              <a:spcBef>
                <a:spcPct val="0"/>
              </a:spcBef>
              <a:spcAft>
                <a:spcPct val="0"/>
              </a:spcAft>
            </a:pPr>
            <a:r>
              <a:rPr lang="en-US" altLang="en-US" dirty="0">
                <a:solidFill>
                  <a:srgbClr val="DCEAF8"/>
                </a:solidFill>
              </a:rPr>
              <a:t>all categories, showing uniform performance across different models.</a:t>
            </a:r>
          </a:p>
        </p:txBody>
      </p:sp>
    </p:spTree>
    <p:extLst>
      <p:ext uri="{BB962C8B-B14F-4D97-AF65-F5344CB8AC3E}">
        <p14:creationId xmlns:p14="http://schemas.microsoft.com/office/powerpoint/2010/main" val="36430908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81A6C6"/>
          </a:solidFill>
          <a:ln w="12700">
            <a:solidFill>
              <a:srgbClr val="81A6C6"/>
            </a:solidFill>
            <a:prstDash val="solid"/>
          </a:ln>
        </p:spPr>
        <p:txBody>
          <a:bodyPr/>
          <a:lstStyle/>
          <a:p>
            <a:endParaRPr lang="en-US"/>
          </a:p>
        </p:txBody>
      </p:sp>
      <p:sp>
        <p:nvSpPr>
          <p:cNvPr id="3" name="Text 1"/>
          <p:cNvSpPr/>
          <p:nvPr/>
        </p:nvSpPr>
        <p:spPr>
          <a:xfrm>
            <a:off x="0" y="1097280"/>
            <a:ext cx="3200400" cy="1828800"/>
          </a:xfrm>
          <a:prstGeom prst="rect">
            <a:avLst/>
          </a:prstGeom>
          <a:noFill/>
          <a:ln/>
        </p:spPr>
        <p:txBody>
          <a:bodyPr wrap="square" lIns="0" tIns="0" rIns="0" bIns="0" rtlCol="0" anchor="ctr"/>
          <a:lstStyle/>
          <a:p>
            <a:pPr marL="0" indent="0" algn="ctr">
              <a:buNone/>
            </a:pPr>
            <a:r>
              <a:rPr lang="en-US" sz="12000" b="1" dirty="0">
                <a:solidFill>
                  <a:srgbClr val="DCEAF8"/>
                </a:solidFill>
                <a:latin typeface="Calibri" pitchFamily="34" charset="0"/>
                <a:ea typeface="Calibri" pitchFamily="34" charset="-122"/>
                <a:cs typeface="Calibri" pitchFamily="34" charset="-120"/>
              </a:rPr>
              <a:t>04</a:t>
            </a:r>
            <a:endParaRPr lang="en-US" sz="12000" dirty="0">
              <a:solidFill>
                <a:srgbClr val="DCEAF8"/>
              </a:solidFill>
            </a:endParaRPr>
          </a:p>
        </p:txBody>
      </p:sp>
      <p:sp>
        <p:nvSpPr>
          <p:cNvPr id="4" name="Text 2"/>
          <p:cNvSpPr/>
          <p:nvPr/>
        </p:nvSpPr>
        <p:spPr>
          <a:xfrm>
            <a:off x="3566160" y="1645920"/>
            <a:ext cx="5212080" cy="77724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Recommendations</a:t>
            </a:r>
            <a:endParaRPr lang="en-US" sz="3400" dirty="0"/>
          </a:p>
        </p:txBody>
      </p:sp>
      <p:sp>
        <p:nvSpPr>
          <p:cNvPr id="5" name="Text 3"/>
          <p:cNvSpPr/>
          <p:nvPr/>
        </p:nvSpPr>
        <p:spPr>
          <a:xfrm>
            <a:off x="3566160" y="2514600"/>
            <a:ext cx="5212080" cy="548640"/>
          </a:xfrm>
          <a:prstGeom prst="rect">
            <a:avLst/>
          </a:prstGeom>
          <a:noFill/>
          <a:ln/>
        </p:spPr>
        <p:txBody>
          <a:bodyPr wrap="square" lIns="0" tIns="0" rIns="0" bIns="0" rtlCol="0" anchor="ctr"/>
          <a:lstStyle/>
          <a:p>
            <a:pPr marL="0" indent="0">
              <a:buNone/>
            </a:pPr>
            <a:r>
              <a:rPr lang="en-US" sz="1500" dirty="0">
                <a:solidFill>
                  <a:srgbClr val="AED6F1"/>
                </a:solidFill>
                <a:latin typeface="Calibri" pitchFamily="34" charset="0"/>
                <a:ea typeface="Calibri" pitchFamily="34" charset="-122"/>
                <a:cs typeface="Calibri" pitchFamily="34" charset="-120"/>
              </a:rPr>
              <a:t>Actionable steps based on the analysis</a:t>
            </a:r>
            <a:endParaRPr lang="en-US" sz="1500" dirty="0"/>
          </a:p>
        </p:txBody>
      </p:sp>
      <p:sp>
        <p:nvSpPr>
          <p:cNvPr id="6" name="Shape 4"/>
          <p:cNvSpPr/>
          <p:nvPr/>
        </p:nvSpPr>
        <p:spPr>
          <a:xfrm>
            <a:off x="3566160" y="2450592"/>
            <a:ext cx="5029200" cy="45720"/>
          </a:xfrm>
          <a:prstGeom prst="rect">
            <a:avLst/>
          </a:prstGeom>
          <a:solidFill>
            <a:srgbClr val="81A6C6"/>
          </a:solidFill>
          <a:ln w="12700">
            <a:solidFill>
              <a:srgbClr val="81A6C6"/>
            </a:solidFill>
            <a:prstDash val="solid"/>
          </a:ln>
        </p:spPr>
        <p:txBody>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4" name="Shape 2"/>
          <p:cNvSpPr/>
          <p:nvPr/>
        </p:nvSpPr>
        <p:spPr>
          <a:xfrm>
            <a:off x="411480" y="952383"/>
            <a:ext cx="8321040" cy="804672"/>
          </a:xfrm>
          <a:prstGeom prst="rect">
            <a:avLst/>
          </a:prstGeom>
          <a:solidFill>
            <a:srgbClr val="161B22"/>
          </a:solidFill>
          <a:ln w="12700">
            <a:solidFill>
              <a:srgbClr val="D0DFF0"/>
            </a:solidFill>
            <a:prstDash val="solid"/>
          </a:ln>
          <a:effectLst>
            <a:outerShdw blurRad="63500" dist="25400" dir="8100000" algn="bl" rotWithShape="0">
              <a:srgbClr val="000000">
                <a:alpha val="8000"/>
              </a:srgbClr>
            </a:outerShdw>
          </a:effectLst>
        </p:spPr>
        <p:txBody>
          <a:bodyPr/>
          <a:lstStyle/>
          <a:p>
            <a:endParaRPr lang="en-US" dirty="0"/>
          </a:p>
        </p:txBody>
      </p:sp>
      <p:sp>
        <p:nvSpPr>
          <p:cNvPr id="5" name="Shape 3"/>
          <p:cNvSpPr/>
          <p:nvPr/>
        </p:nvSpPr>
        <p:spPr>
          <a:xfrm>
            <a:off x="411480" y="960120"/>
            <a:ext cx="64008" cy="804672"/>
          </a:xfrm>
          <a:prstGeom prst="rect">
            <a:avLst/>
          </a:prstGeom>
          <a:solidFill>
            <a:srgbClr val="81A6C6"/>
          </a:solidFill>
          <a:ln w="12700">
            <a:solidFill>
              <a:srgbClr val="81A6C6"/>
            </a:solidFill>
            <a:prstDash val="solid"/>
          </a:ln>
        </p:spPr>
        <p:txBody>
          <a:bodyPr/>
          <a:lstStyle/>
          <a:p>
            <a:endParaRPr lang="en-US"/>
          </a:p>
        </p:txBody>
      </p:sp>
      <p:sp>
        <p:nvSpPr>
          <p:cNvPr id="8" name="Text 6"/>
          <p:cNvSpPr/>
          <p:nvPr/>
        </p:nvSpPr>
        <p:spPr>
          <a:xfrm>
            <a:off x="1645920" y="960120"/>
            <a:ext cx="4642338" cy="347472"/>
          </a:xfrm>
          <a:prstGeom prst="rect">
            <a:avLst/>
          </a:prstGeom>
          <a:noFill/>
          <a:ln/>
        </p:spPr>
        <p:txBody>
          <a:bodyPr wrap="square" lIns="0" tIns="0" rIns="0" bIns="0" rtlCol="0" anchor="ctr"/>
          <a:lstStyle/>
          <a:p>
            <a:r>
              <a:rPr lang="en-US" sz="1400" dirty="0">
                <a:solidFill>
                  <a:srgbClr val="81A6C6"/>
                </a:solidFill>
              </a:rPr>
              <a:t>Use the SOT Efficiency metric as a "Health Score."</a:t>
            </a:r>
            <a:endParaRPr lang="en-US" sz="1300" dirty="0">
              <a:solidFill>
                <a:srgbClr val="81A6C6"/>
              </a:solidFill>
            </a:endParaRPr>
          </a:p>
        </p:txBody>
      </p:sp>
      <p:sp>
        <p:nvSpPr>
          <p:cNvPr id="9" name="Text 7"/>
          <p:cNvSpPr/>
          <p:nvPr/>
        </p:nvSpPr>
        <p:spPr>
          <a:xfrm>
            <a:off x="1627632" y="1315329"/>
            <a:ext cx="6858000" cy="320040"/>
          </a:xfrm>
          <a:prstGeom prst="rect">
            <a:avLst/>
          </a:prstGeom>
          <a:noFill/>
          <a:ln/>
        </p:spPr>
        <p:txBody>
          <a:bodyPr wrap="square" lIns="0" tIns="0" rIns="0" bIns="0" rtlCol="0" anchor="ctr"/>
          <a:lstStyle/>
          <a:p>
            <a:r>
              <a:rPr lang="en-US" sz="1100" dirty="0">
                <a:solidFill>
                  <a:srgbClr val="DCEAF8"/>
                </a:solidFill>
              </a:rPr>
              <a:t>Push a notification when efficiency drops. For example: </a:t>
            </a:r>
            <a:r>
              <a:rPr lang="en-US" sz="1100" i="1" dirty="0">
                <a:solidFill>
                  <a:srgbClr val="DCEAF8"/>
                </a:solidFill>
              </a:rPr>
              <a:t>"Your battery is draining 20% faster than usual today. Is it time for a 30-minute screen break to save your phone (and your eyes)?"</a:t>
            </a:r>
            <a:r>
              <a:rPr lang="en-US" sz="1100" dirty="0">
                <a:solidFill>
                  <a:srgbClr val="DCEAF8"/>
                </a:solidFill>
              </a:rPr>
              <a:t> This reframes "using the phone less" as "optimizing the phone's health."</a:t>
            </a:r>
          </a:p>
        </p:txBody>
      </p:sp>
      <p:sp>
        <p:nvSpPr>
          <p:cNvPr id="10" name="Shape 8"/>
          <p:cNvSpPr/>
          <p:nvPr/>
        </p:nvSpPr>
        <p:spPr>
          <a:xfrm>
            <a:off x="411480" y="1920240"/>
            <a:ext cx="8321040" cy="804672"/>
          </a:xfrm>
          <a:prstGeom prst="rect">
            <a:avLst/>
          </a:prstGeom>
          <a:solidFill>
            <a:srgbClr val="161B22"/>
          </a:solidFill>
          <a:ln w="12700">
            <a:solidFill>
              <a:srgbClr val="D0DFF0"/>
            </a:solidFill>
            <a:prstDash val="solid"/>
          </a:ln>
          <a:effectLst>
            <a:outerShdw blurRad="63500" dist="25400" dir="8100000" algn="bl" rotWithShape="0">
              <a:srgbClr val="000000">
                <a:alpha val="8000"/>
              </a:srgbClr>
            </a:outerShdw>
          </a:effectLst>
        </p:spPr>
        <p:txBody>
          <a:bodyPr/>
          <a:lstStyle/>
          <a:p>
            <a:endParaRPr lang="en-US"/>
          </a:p>
        </p:txBody>
      </p:sp>
      <p:sp>
        <p:nvSpPr>
          <p:cNvPr id="11" name="Shape 9"/>
          <p:cNvSpPr/>
          <p:nvPr/>
        </p:nvSpPr>
        <p:spPr>
          <a:xfrm>
            <a:off x="411480" y="1920240"/>
            <a:ext cx="64008" cy="804672"/>
          </a:xfrm>
          <a:prstGeom prst="rect">
            <a:avLst/>
          </a:prstGeom>
          <a:solidFill>
            <a:srgbClr val="81A6C6"/>
          </a:solidFill>
          <a:ln w="12700">
            <a:solidFill>
              <a:srgbClr val="81A6C6"/>
            </a:solidFill>
            <a:prstDash val="solid"/>
          </a:ln>
        </p:spPr>
        <p:txBody>
          <a:bodyPr/>
          <a:lstStyle/>
          <a:p>
            <a:endParaRPr lang="en-US"/>
          </a:p>
        </p:txBody>
      </p:sp>
      <p:sp>
        <p:nvSpPr>
          <p:cNvPr id="14" name="Text 12"/>
          <p:cNvSpPr/>
          <p:nvPr/>
        </p:nvSpPr>
        <p:spPr>
          <a:xfrm>
            <a:off x="1645920" y="1930088"/>
            <a:ext cx="3200400" cy="347472"/>
          </a:xfrm>
          <a:prstGeom prst="rect">
            <a:avLst/>
          </a:prstGeom>
          <a:noFill/>
          <a:ln/>
        </p:spPr>
        <p:txBody>
          <a:bodyPr wrap="square" lIns="0" tIns="0" rIns="0" bIns="0" rtlCol="0" anchor="ctr"/>
          <a:lstStyle/>
          <a:p>
            <a:r>
              <a:rPr lang="en-US" sz="1400" dirty="0">
                <a:solidFill>
                  <a:srgbClr val="81A6C6"/>
                </a:solidFill>
              </a:rPr>
              <a:t>Implement "Hard Stops" for Power Users.</a:t>
            </a:r>
            <a:endParaRPr lang="en-US" sz="1300" dirty="0">
              <a:solidFill>
                <a:srgbClr val="81A6C6"/>
              </a:solidFill>
            </a:endParaRPr>
          </a:p>
        </p:txBody>
      </p:sp>
      <p:sp>
        <p:nvSpPr>
          <p:cNvPr id="15" name="Text 13"/>
          <p:cNvSpPr/>
          <p:nvPr/>
        </p:nvSpPr>
        <p:spPr>
          <a:xfrm>
            <a:off x="1627632" y="2263492"/>
            <a:ext cx="6858000" cy="320040"/>
          </a:xfrm>
          <a:prstGeom prst="rect">
            <a:avLst/>
          </a:prstGeom>
          <a:noFill/>
          <a:ln/>
        </p:spPr>
        <p:txBody>
          <a:bodyPr wrap="square" lIns="0" tIns="0" rIns="0" bIns="0" rtlCol="0" anchor="ctr"/>
          <a:lstStyle/>
          <a:p>
            <a:r>
              <a:rPr lang="en-US" sz="1100" dirty="0">
                <a:solidFill>
                  <a:srgbClr val="DCEAF8"/>
                </a:solidFill>
              </a:rPr>
              <a:t>For users in Class 4 and 5, suggest a data-per-hour cap. If the data usage spikes (e.g., above 150 units/</a:t>
            </a:r>
            <a:r>
              <a:rPr lang="en-US" sz="1100" dirty="0" err="1">
                <a:solidFill>
                  <a:srgbClr val="DCEAF8"/>
                </a:solidFill>
              </a:rPr>
              <a:t>hr</a:t>
            </a:r>
            <a:r>
              <a:rPr lang="en-US" sz="1100" dirty="0">
                <a:solidFill>
                  <a:srgbClr val="DCEAF8"/>
                </a:solidFill>
              </a:rPr>
              <a:t>), suggest an "Offline Task" like reading or walking. The data usage becomes a proxy for how "absorbed" they are in the digital world.</a:t>
            </a:r>
          </a:p>
        </p:txBody>
      </p:sp>
      <p:sp>
        <p:nvSpPr>
          <p:cNvPr id="16" name="Shape 14"/>
          <p:cNvSpPr/>
          <p:nvPr/>
        </p:nvSpPr>
        <p:spPr>
          <a:xfrm>
            <a:off x="411480" y="2880360"/>
            <a:ext cx="8321040" cy="804672"/>
          </a:xfrm>
          <a:prstGeom prst="rect">
            <a:avLst/>
          </a:prstGeom>
          <a:solidFill>
            <a:srgbClr val="161B22"/>
          </a:solidFill>
          <a:ln w="12700">
            <a:solidFill>
              <a:srgbClr val="D0DFF0"/>
            </a:solidFill>
            <a:prstDash val="solid"/>
          </a:ln>
          <a:effectLst>
            <a:outerShdw blurRad="63500" dist="25400" dir="8100000" algn="bl" rotWithShape="0">
              <a:srgbClr val="000000">
                <a:alpha val="8000"/>
              </a:srgbClr>
            </a:outerShdw>
          </a:effectLst>
        </p:spPr>
        <p:txBody>
          <a:bodyPr/>
          <a:lstStyle/>
          <a:p>
            <a:endParaRPr lang="en-US"/>
          </a:p>
        </p:txBody>
      </p:sp>
      <p:sp>
        <p:nvSpPr>
          <p:cNvPr id="17" name="Shape 15"/>
          <p:cNvSpPr/>
          <p:nvPr/>
        </p:nvSpPr>
        <p:spPr>
          <a:xfrm>
            <a:off x="411480" y="2880360"/>
            <a:ext cx="64008" cy="804672"/>
          </a:xfrm>
          <a:prstGeom prst="rect">
            <a:avLst/>
          </a:prstGeom>
          <a:solidFill>
            <a:srgbClr val="81A6C6"/>
          </a:solidFill>
          <a:ln w="12700">
            <a:solidFill>
              <a:srgbClr val="81A6C6"/>
            </a:solidFill>
            <a:prstDash val="solid"/>
          </a:ln>
        </p:spPr>
        <p:txBody>
          <a:bodyPr/>
          <a:lstStyle/>
          <a:p>
            <a:endParaRPr lang="en-US"/>
          </a:p>
        </p:txBody>
      </p:sp>
      <p:sp>
        <p:nvSpPr>
          <p:cNvPr id="20" name="Text 18"/>
          <p:cNvSpPr/>
          <p:nvPr/>
        </p:nvSpPr>
        <p:spPr>
          <a:xfrm>
            <a:off x="1645920" y="2882470"/>
            <a:ext cx="3200400" cy="347472"/>
          </a:xfrm>
          <a:prstGeom prst="rect">
            <a:avLst/>
          </a:prstGeom>
          <a:noFill/>
          <a:ln/>
        </p:spPr>
        <p:txBody>
          <a:bodyPr wrap="square" lIns="0" tIns="0" rIns="0" bIns="0" rtlCol="0" anchor="ctr"/>
          <a:lstStyle/>
          <a:p>
            <a:r>
              <a:rPr lang="en-US" sz="1400" dirty="0">
                <a:solidFill>
                  <a:srgbClr val="81A6C6"/>
                </a:solidFill>
              </a:rPr>
              <a:t>Create a "Risk Budget."</a:t>
            </a:r>
            <a:endParaRPr lang="en-US" sz="1300" dirty="0">
              <a:solidFill>
                <a:srgbClr val="81A6C6"/>
              </a:solidFill>
            </a:endParaRPr>
          </a:p>
        </p:txBody>
      </p:sp>
      <p:sp>
        <p:nvSpPr>
          <p:cNvPr id="21" name="Text 19"/>
          <p:cNvSpPr/>
          <p:nvPr/>
        </p:nvSpPr>
        <p:spPr>
          <a:xfrm>
            <a:off x="1627632" y="3250692"/>
            <a:ext cx="6858000" cy="320040"/>
          </a:xfrm>
          <a:prstGeom prst="rect">
            <a:avLst/>
          </a:prstGeom>
          <a:noFill/>
          <a:ln/>
        </p:spPr>
        <p:txBody>
          <a:bodyPr wrap="square" lIns="0" tIns="0" rIns="0" bIns="0" rtlCol="0" anchor="ctr"/>
          <a:lstStyle/>
          <a:p>
            <a:r>
              <a:rPr lang="en-US" sz="1100" dirty="0">
                <a:solidFill>
                  <a:srgbClr val="DCEAF8"/>
                </a:solidFill>
              </a:rPr>
              <a:t>If a user’s personal "Risk Usage Rate" exceeds the 18% average, the dashboard should recommend "app-grouping." Hide high-risk/high-drain apps in a folder three screens away from the home page. The extra physical effort to find the app (increasing "friction") is a proven way to break the habit of checking them</a:t>
            </a:r>
            <a:r>
              <a:rPr lang="en-US" sz="1100" dirty="0"/>
              <a:t>.</a:t>
            </a:r>
          </a:p>
        </p:txBody>
      </p:sp>
      <p:sp>
        <p:nvSpPr>
          <p:cNvPr id="22" name="Shape 20"/>
          <p:cNvSpPr/>
          <p:nvPr/>
        </p:nvSpPr>
        <p:spPr>
          <a:xfrm>
            <a:off x="411480" y="3840480"/>
            <a:ext cx="8321040" cy="804672"/>
          </a:xfrm>
          <a:prstGeom prst="rect">
            <a:avLst/>
          </a:prstGeom>
          <a:solidFill>
            <a:srgbClr val="161B22"/>
          </a:solidFill>
          <a:ln w="12700">
            <a:solidFill>
              <a:srgbClr val="D0DFF0"/>
            </a:solidFill>
            <a:prstDash val="solid"/>
          </a:ln>
          <a:effectLst>
            <a:outerShdw blurRad="63500" dist="25400" dir="8100000" algn="bl" rotWithShape="0">
              <a:srgbClr val="000000">
                <a:alpha val="8000"/>
              </a:srgbClr>
            </a:outerShdw>
          </a:effectLst>
        </p:spPr>
        <p:txBody>
          <a:bodyPr/>
          <a:lstStyle/>
          <a:p>
            <a:endParaRPr lang="en-US" dirty="0"/>
          </a:p>
        </p:txBody>
      </p:sp>
      <p:sp>
        <p:nvSpPr>
          <p:cNvPr id="23" name="Shape 21"/>
          <p:cNvSpPr/>
          <p:nvPr/>
        </p:nvSpPr>
        <p:spPr>
          <a:xfrm>
            <a:off x="411480" y="3840480"/>
            <a:ext cx="64008" cy="804672"/>
          </a:xfrm>
          <a:prstGeom prst="rect">
            <a:avLst/>
          </a:prstGeom>
          <a:solidFill>
            <a:srgbClr val="81A6C6"/>
          </a:solidFill>
          <a:ln w="12700">
            <a:solidFill>
              <a:srgbClr val="81A6C6"/>
            </a:solidFill>
            <a:prstDash val="solid"/>
          </a:ln>
        </p:spPr>
        <p:txBody>
          <a:bodyPr/>
          <a:lstStyle/>
          <a:p>
            <a:endParaRPr lang="en-US"/>
          </a:p>
        </p:txBody>
      </p:sp>
      <p:sp>
        <p:nvSpPr>
          <p:cNvPr id="26" name="Text 24"/>
          <p:cNvSpPr/>
          <p:nvPr/>
        </p:nvSpPr>
        <p:spPr>
          <a:xfrm>
            <a:off x="1645920" y="3861526"/>
            <a:ext cx="3200400" cy="347472"/>
          </a:xfrm>
          <a:prstGeom prst="rect">
            <a:avLst/>
          </a:prstGeom>
          <a:noFill/>
          <a:ln/>
        </p:spPr>
        <p:txBody>
          <a:bodyPr wrap="square" lIns="0" tIns="0" rIns="0" bIns="0" rtlCol="0" anchor="ctr"/>
          <a:lstStyle/>
          <a:p>
            <a:r>
              <a:rPr lang="en-US" sz="1400" dirty="0">
                <a:solidFill>
                  <a:srgbClr val="81A6C6"/>
                </a:solidFill>
              </a:rPr>
              <a:t>Target the "Standby" period.</a:t>
            </a:r>
            <a:endParaRPr lang="en-US" sz="1300" dirty="0">
              <a:solidFill>
                <a:srgbClr val="81A6C6"/>
              </a:solidFill>
            </a:endParaRPr>
          </a:p>
        </p:txBody>
      </p:sp>
      <p:sp>
        <p:nvSpPr>
          <p:cNvPr id="27" name="Text 25"/>
          <p:cNvSpPr/>
          <p:nvPr/>
        </p:nvSpPr>
        <p:spPr>
          <a:xfrm>
            <a:off x="1645920" y="4261104"/>
            <a:ext cx="6858000" cy="320040"/>
          </a:xfrm>
          <a:prstGeom prst="rect">
            <a:avLst/>
          </a:prstGeom>
          <a:noFill/>
          <a:ln/>
        </p:spPr>
        <p:txBody>
          <a:bodyPr wrap="square" lIns="0" tIns="0" rIns="0" bIns="0" rtlCol="0" anchor="ctr"/>
          <a:lstStyle/>
          <a:p>
            <a:pPr marL="0" indent="0">
              <a:buNone/>
            </a:pPr>
            <a:endParaRPr lang="en-US" sz="1150" dirty="0"/>
          </a:p>
        </p:txBody>
      </p:sp>
      <p:sp>
        <p:nvSpPr>
          <p:cNvPr id="28" name="Shape 26"/>
          <p:cNvSpPr/>
          <p:nvPr/>
        </p:nvSpPr>
        <p:spPr>
          <a:xfrm>
            <a:off x="0" y="4864608"/>
            <a:ext cx="9144000" cy="278892"/>
          </a:xfrm>
          <a:prstGeom prst="rect">
            <a:avLst/>
          </a:prstGeom>
          <a:solidFill>
            <a:srgbClr val="81A6C6"/>
          </a:solidFill>
          <a:ln w="12700">
            <a:solidFill>
              <a:srgbClr val="81A6C6"/>
            </a:solidFill>
            <a:prstDash val="solid"/>
          </a:ln>
        </p:spPr>
        <p:txBody>
          <a:bodyPr/>
          <a:lstStyle/>
          <a:p>
            <a:endParaRPr lang="en-US"/>
          </a:p>
        </p:txBody>
      </p:sp>
      <p:sp>
        <p:nvSpPr>
          <p:cNvPr id="29" name="Text 27"/>
          <p:cNvSpPr/>
          <p:nvPr/>
        </p:nvSpPr>
        <p:spPr>
          <a:xfrm>
            <a:off x="320040" y="4864608"/>
            <a:ext cx="6400800" cy="278892"/>
          </a:xfrm>
          <a:prstGeom prst="rect">
            <a:avLst/>
          </a:prstGeom>
          <a:noFill/>
          <a:ln/>
        </p:spPr>
        <p:txBody>
          <a:bodyPr wrap="square" lIns="0" tIns="0" rIns="0" bIns="0" rtlCol="0" anchor="ctr"/>
          <a:lstStyle/>
          <a:p>
            <a:pPr marL="0" indent="0">
              <a:buNone/>
            </a:pPr>
            <a:r>
              <a:rPr lang="en-US" sz="900" dirty="0">
                <a:solidFill>
                  <a:srgbClr val="161B22"/>
                </a:solidFill>
                <a:latin typeface="Calibri" pitchFamily="34" charset="0"/>
                <a:ea typeface="Calibri" pitchFamily="34" charset="-122"/>
                <a:cs typeface="Calibri" pitchFamily="34" charset="-120"/>
              </a:rPr>
              <a:t>Data Analysis Project</a:t>
            </a:r>
            <a:endParaRPr lang="en-US" sz="900" dirty="0">
              <a:solidFill>
                <a:srgbClr val="161B22"/>
              </a:solidFill>
            </a:endParaRPr>
          </a:p>
        </p:txBody>
      </p:sp>
      <p:sp>
        <p:nvSpPr>
          <p:cNvPr id="30" name="Text 28"/>
          <p:cNvSpPr/>
          <p:nvPr/>
        </p:nvSpPr>
        <p:spPr>
          <a:xfrm>
            <a:off x="8046720" y="4864608"/>
            <a:ext cx="914400" cy="278892"/>
          </a:xfrm>
          <a:prstGeom prst="rect">
            <a:avLst/>
          </a:prstGeom>
          <a:noFill/>
          <a:ln/>
        </p:spPr>
        <p:txBody>
          <a:bodyPr wrap="square" lIns="0" tIns="0" rIns="0" bIns="0" rtlCol="0" anchor="ctr"/>
          <a:lstStyle/>
          <a:p>
            <a:pPr marL="0" indent="0" algn="r">
              <a:buNone/>
            </a:pPr>
            <a:r>
              <a:rPr lang="ar-EG" sz="900" dirty="0">
                <a:solidFill>
                  <a:srgbClr val="161B22"/>
                </a:solidFill>
                <a:latin typeface="Calibri" pitchFamily="34" charset="0"/>
                <a:ea typeface="Calibri" pitchFamily="34" charset="-122"/>
                <a:cs typeface="Calibri" pitchFamily="34" charset="-120"/>
              </a:rPr>
              <a:t>33</a:t>
            </a:r>
            <a:r>
              <a:rPr lang="en-US" sz="900" dirty="0">
                <a:solidFill>
                  <a:srgbClr val="161B22"/>
                </a:solidFill>
                <a:latin typeface="Calibri" pitchFamily="34" charset="0"/>
                <a:ea typeface="Calibri" pitchFamily="34" charset="-122"/>
                <a:cs typeface="Calibri" pitchFamily="34" charset="-120"/>
              </a:rPr>
              <a:t> / </a:t>
            </a:r>
            <a:r>
              <a:rPr lang="ar-EG" sz="900" dirty="0">
                <a:solidFill>
                  <a:srgbClr val="161B22"/>
                </a:solidFill>
                <a:latin typeface="Calibri" pitchFamily="34" charset="0"/>
                <a:ea typeface="Calibri" pitchFamily="34" charset="-122"/>
                <a:cs typeface="Calibri" pitchFamily="34" charset="-120"/>
              </a:rPr>
              <a:t>34</a:t>
            </a:r>
            <a:endParaRPr lang="en-US" sz="900" dirty="0">
              <a:solidFill>
                <a:srgbClr val="161B22"/>
              </a:solidFill>
            </a:endParaRPr>
          </a:p>
        </p:txBody>
      </p:sp>
      <p:grpSp>
        <p:nvGrpSpPr>
          <p:cNvPr id="31" name="Group 30">
            <a:extLst>
              <a:ext uri="{FF2B5EF4-FFF2-40B4-BE49-F238E27FC236}">
                <a16:creationId xmlns:a16="http://schemas.microsoft.com/office/drawing/2014/main" id="{BC5D9202-9045-B74F-6ED2-9DF3E188A673}"/>
              </a:ext>
            </a:extLst>
          </p:cNvPr>
          <p:cNvGrpSpPr/>
          <p:nvPr/>
        </p:nvGrpSpPr>
        <p:grpSpPr>
          <a:xfrm>
            <a:off x="0" y="0"/>
            <a:ext cx="9144000" cy="425271"/>
            <a:chOff x="364878" y="128754"/>
            <a:chExt cx="9144000" cy="425271"/>
          </a:xfrm>
        </p:grpSpPr>
        <p:sp>
          <p:nvSpPr>
            <p:cNvPr id="32" name="Shape 0">
              <a:extLst>
                <a:ext uri="{FF2B5EF4-FFF2-40B4-BE49-F238E27FC236}">
                  <a16:creationId xmlns:a16="http://schemas.microsoft.com/office/drawing/2014/main" id="{2D58AA7E-AFF0-9C1F-5DD9-1CD716B7F0D6}"/>
                </a:ext>
              </a:extLst>
            </p:cNvPr>
            <p:cNvSpPr/>
            <p:nvPr/>
          </p:nvSpPr>
          <p:spPr>
            <a:xfrm>
              <a:off x="364878" y="128754"/>
              <a:ext cx="9144000" cy="425271"/>
            </a:xfrm>
            <a:prstGeom prst="rect">
              <a:avLst/>
            </a:prstGeom>
            <a:solidFill>
              <a:srgbClr val="161B22">
                <a:alpha val="20000"/>
              </a:srgbClr>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81A6C6"/>
                  </a:solidFill>
                  <a:latin typeface="Calibri" pitchFamily="34" charset="0"/>
                  <a:ea typeface="Calibri" pitchFamily="34" charset="-122"/>
                  <a:cs typeface="Calibri" pitchFamily="34" charset="-120"/>
                </a:rPr>
                <a:t>Recommendations</a:t>
              </a:r>
            </a:p>
            <a:p>
              <a:r>
                <a:rPr lang="en-US" b="1" dirty="0">
                  <a:solidFill>
                    <a:srgbClr val="81A6C6"/>
                  </a:solidFill>
                  <a:latin typeface="Calibri" pitchFamily="34" charset="0"/>
                  <a:ea typeface="Calibri" pitchFamily="34" charset="-122"/>
                  <a:cs typeface="Calibri" pitchFamily="34" charset="-120"/>
                </a:rPr>
                <a:t>  </a:t>
              </a:r>
            </a:p>
          </p:txBody>
        </p:sp>
        <p:sp>
          <p:nvSpPr>
            <p:cNvPr id="33" name="Shape 5">
              <a:extLst>
                <a:ext uri="{FF2B5EF4-FFF2-40B4-BE49-F238E27FC236}">
                  <a16:creationId xmlns:a16="http://schemas.microsoft.com/office/drawing/2014/main" id="{E2A94820-9E23-1FA0-3CA9-716FB91DC99E}"/>
                </a:ext>
              </a:extLst>
            </p:cNvPr>
            <p:cNvSpPr/>
            <p:nvPr/>
          </p:nvSpPr>
          <p:spPr>
            <a:xfrm>
              <a:off x="364878" y="128754"/>
              <a:ext cx="59688" cy="425271"/>
            </a:xfrm>
            <a:prstGeom prst="rect">
              <a:avLst/>
            </a:prstGeom>
            <a:solidFill>
              <a:srgbClr val="81A6C6"/>
            </a:solidFill>
            <a:ln w="12700">
              <a:solidFill>
                <a:srgbClr val="81A6C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81A6C6"/>
                </a:solidFill>
              </a:endParaRPr>
            </a:p>
          </p:txBody>
        </p:sp>
      </p:grpSp>
      <p:sp>
        <p:nvSpPr>
          <p:cNvPr id="2" name="Shape 3">
            <a:extLst>
              <a:ext uri="{FF2B5EF4-FFF2-40B4-BE49-F238E27FC236}">
                <a16:creationId xmlns:a16="http://schemas.microsoft.com/office/drawing/2014/main" id="{01FAAA48-20B1-BFB5-F86D-66A278FABAC6}"/>
              </a:ext>
            </a:extLst>
          </p:cNvPr>
          <p:cNvSpPr/>
          <p:nvPr/>
        </p:nvSpPr>
        <p:spPr>
          <a:xfrm>
            <a:off x="822960" y="1097984"/>
            <a:ext cx="457200" cy="457200"/>
          </a:xfrm>
          <a:prstGeom prst="ellipse">
            <a:avLst/>
          </a:prstGeom>
          <a:solidFill>
            <a:srgbClr val="81A6C6"/>
          </a:solidFill>
          <a:ln w="12700">
            <a:solidFill>
              <a:srgbClr val="81A6C6"/>
            </a:solidFill>
            <a:prstDash val="solid"/>
          </a:ln>
        </p:spPr>
        <p:txBody>
          <a:bodyPr/>
          <a:lstStyle/>
          <a:p>
            <a:r>
              <a:rPr lang="en-US" dirty="0">
                <a:solidFill>
                  <a:srgbClr val="DCEAF8"/>
                </a:solidFill>
              </a:rPr>
              <a:t>1</a:t>
            </a:r>
          </a:p>
        </p:txBody>
      </p:sp>
      <p:sp>
        <p:nvSpPr>
          <p:cNvPr id="34" name="Shape 3">
            <a:extLst>
              <a:ext uri="{FF2B5EF4-FFF2-40B4-BE49-F238E27FC236}">
                <a16:creationId xmlns:a16="http://schemas.microsoft.com/office/drawing/2014/main" id="{E56F90AE-4B3A-B662-8D54-FF7C914CB691}"/>
              </a:ext>
            </a:extLst>
          </p:cNvPr>
          <p:cNvSpPr/>
          <p:nvPr/>
        </p:nvSpPr>
        <p:spPr>
          <a:xfrm>
            <a:off x="832104" y="2084128"/>
            <a:ext cx="457200" cy="457200"/>
          </a:xfrm>
          <a:prstGeom prst="ellipse">
            <a:avLst/>
          </a:prstGeom>
          <a:solidFill>
            <a:srgbClr val="81A6C6"/>
          </a:solidFill>
          <a:ln w="12700">
            <a:solidFill>
              <a:srgbClr val="81A6C6"/>
            </a:solidFill>
            <a:prstDash val="solid"/>
          </a:ln>
        </p:spPr>
        <p:txBody>
          <a:bodyPr/>
          <a:lstStyle/>
          <a:p>
            <a:r>
              <a:rPr lang="en-US" dirty="0">
                <a:solidFill>
                  <a:srgbClr val="DCEAF8"/>
                </a:solidFill>
              </a:rPr>
              <a:t>2</a:t>
            </a:r>
          </a:p>
        </p:txBody>
      </p:sp>
      <p:sp>
        <p:nvSpPr>
          <p:cNvPr id="35" name="Shape 3">
            <a:extLst>
              <a:ext uri="{FF2B5EF4-FFF2-40B4-BE49-F238E27FC236}">
                <a16:creationId xmlns:a16="http://schemas.microsoft.com/office/drawing/2014/main" id="{B551C309-23DE-B6E3-3D2D-3C120B34A992}"/>
              </a:ext>
            </a:extLst>
          </p:cNvPr>
          <p:cNvSpPr/>
          <p:nvPr/>
        </p:nvSpPr>
        <p:spPr>
          <a:xfrm>
            <a:off x="832104" y="3059094"/>
            <a:ext cx="457200" cy="457200"/>
          </a:xfrm>
          <a:prstGeom prst="ellipse">
            <a:avLst/>
          </a:prstGeom>
          <a:solidFill>
            <a:srgbClr val="81A6C6"/>
          </a:solidFill>
          <a:ln w="12700">
            <a:solidFill>
              <a:srgbClr val="81A6C6"/>
            </a:solidFill>
            <a:prstDash val="solid"/>
          </a:ln>
        </p:spPr>
        <p:txBody>
          <a:bodyPr/>
          <a:lstStyle/>
          <a:p>
            <a:r>
              <a:rPr lang="en-US" dirty="0">
                <a:solidFill>
                  <a:srgbClr val="DCEAF8"/>
                </a:solidFill>
              </a:rPr>
              <a:t>3</a:t>
            </a:r>
          </a:p>
        </p:txBody>
      </p:sp>
      <p:sp>
        <p:nvSpPr>
          <p:cNvPr id="36" name="Shape 3">
            <a:extLst>
              <a:ext uri="{FF2B5EF4-FFF2-40B4-BE49-F238E27FC236}">
                <a16:creationId xmlns:a16="http://schemas.microsoft.com/office/drawing/2014/main" id="{6153E0ED-4334-C8C0-0B14-9F56FBD8CBB4}"/>
              </a:ext>
            </a:extLst>
          </p:cNvPr>
          <p:cNvSpPr/>
          <p:nvPr/>
        </p:nvSpPr>
        <p:spPr>
          <a:xfrm>
            <a:off x="832104" y="4014216"/>
            <a:ext cx="457200" cy="457200"/>
          </a:xfrm>
          <a:prstGeom prst="ellipse">
            <a:avLst/>
          </a:prstGeom>
          <a:solidFill>
            <a:srgbClr val="81A6C6"/>
          </a:solidFill>
          <a:ln w="12700">
            <a:solidFill>
              <a:srgbClr val="81A6C6"/>
            </a:solidFill>
            <a:prstDash val="solid"/>
          </a:ln>
        </p:spPr>
        <p:txBody>
          <a:bodyPr/>
          <a:lstStyle/>
          <a:p>
            <a:r>
              <a:rPr lang="en-US" dirty="0">
                <a:solidFill>
                  <a:srgbClr val="DCEAF8"/>
                </a:solidFill>
              </a:rPr>
              <a:t>4</a:t>
            </a:r>
          </a:p>
        </p:txBody>
      </p:sp>
      <p:sp>
        <p:nvSpPr>
          <p:cNvPr id="45" name="Rectangle 7">
            <a:extLst>
              <a:ext uri="{FF2B5EF4-FFF2-40B4-BE49-F238E27FC236}">
                <a16:creationId xmlns:a16="http://schemas.microsoft.com/office/drawing/2014/main" id="{2476AFE4-65C0-D49B-862E-E93EB6A515BA}"/>
              </a:ext>
            </a:extLst>
          </p:cNvPr>
          <p:cNvSpPr>
            <a:spLocks noChangeArrowheads="1"/>
          </p:cNvSpPr>
          <p:nvPr/>
        </p:nvSpPr>
        <p:spPr bwMode="auto">
          <a:xfrm>
            <a:off x="1576835" y="4119122"/>
            <a:ext cx="653897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i="0" u="none" strike="noStrike" cap="none" normalizeH="0" baseline="0" dirty="0">
                <a:ln>
                  <a:noFill/>
                </a:ln>
                <a:solidFill>
                  <a:srgbClr val="DCEAF8"/>
                </a:solidFill>
                <a:effectLst/>
              </a:rPr>
              <a:t>Encourage users to reach the Google Pixel 5 level of drain (1476) by enabling "Extreme Battery Saver" at night.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i="0" u="none" strike="noStrike" cap="none" normalizeH="0" baseline="0" dirty="0">
                <a:ln>
                  <a:noFill/>
                </a:ln>
                <a:solidFill>
                  <a:srgbClr val="DCEAF8"/>
                </a:solidFill>
                <a:effectLst/>
              </a:rPr>
              <a:t>By reducing the device's capability at </a:t>
            </a:r>
            <a:r>
              <a:rPr kumimoji="0" lang="en-US" altLang="en-US" sz="1100" i="0" u="none" strike="noStrike" cap="none" normalizeH="0" baseline="0" dirty="0" err="1">
                <a:ln>
                  <a:noFill/>
                </a:ln>
                <a:solidFill>
                  <a:srgbClr val="DCEAF8"/>
                </a:solidFill>
                <a:effectLst/>
              </a:rPr>
              <a:t>night,users</a:t>
            </a:r>
            <a:r>
              <a:rPr kumimoji="0" lang="en-US" altLang="en-US" sz="1100" i="0" u="none" strike="noStrike" cap="none" normalizeH="0" baseline="0" dirty="0">
                <a:ln>
                  <a:noFill/>
                </a:ln>
                <a:solidFill>
                  <a:srgbClr val="DCEAF8"/>
                </a:solidFill>
                <a:effectLst/>
              </a:rPr>
              <a:t> are less likely to engage in "revenge bedtime procrastination“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i="0" u="none" strike="noStrike" cap="none" normalizeH="0" baseline="0" dirty="0">
                <a:ln>
                  <a:noFill/>
                </a:ln>
                <a:solidFill>
                  <a:srgbClr val="DCEAF8"/>
                </a:solidFill>
                <a:effectLst/>
              </a:rPr>
              <a:t>(scrolling when they should be sleeping</a:t>
            </a:r>
            <a:r>
              <a:rPr kumimoji="0" lang="en-US" altLang="en-US" sz="1100" i="0" u="none" strike="noStrike" cap="none" normalizeH="0" baseline="0" dirty="0">
                <a:ln>
                  <a:noFill/>
                </a:ln>
                <a:solidFill>
                  <a:schemeClr val="tx1"/>
                </a:solidFill>
                <a:effectLst/>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rgbClr val="DCEAF8"/>
          </a:solidFill>
          <a:ln w="12700">
            <a:solidFill>
              <a:srgbClr val="DCEAF8"/>
            </a:solidFill>
            <a:prstDash val="solid"/>
          </a:ln>
        </p:spPr>
        <p:txBody>
          <a:bodyPr/>
          <a:lstStyle/>
          <a:p>
            <a:endParaRPr lang="en-US"/>
          </a:p>
        </p:txBody>
      </p:sp>
      <p:sp>
        <p:nvSpPr>
          <p:cNvPr id="3" name="Shape 1"/>
          <p:cNvSpPr/>
          <p:nvPr/>
        </p:nvSpPr>
        <p:spPr>
          <a:xfrm>
            <a:off x="6583680" y="0"/>
            <a:ext cx="64008" cy="5143500"/>
          </a:xfrm>
          <a:prstGeom prst="rect">
            <a:avLst/>
          </a:prstGeom>
          <a:solidFill>
            <a:srgbClr val="DCEAF8"/>
          </a:solidFill>
          <a:ln w="12700">
            <a:solidFill>
              <a:srgbClr val="DCEAF8"/>
            </a:solidFill>
            <a:prstDash val="solid"/>
          </a:ln>
        </p:spPr>
        <p:txBody>
          <a:bodyPr/>
          <a:lstStyle/>
          <a:p>
            <a:endParaRPr lang="en-US" dirty="0"/>
          </a:p>
        </p:txBody>
      </p:sp>
      <p:sp>
        <p:nvSpPr>
          <p:cNvPr id="6" name="Text 4"/>
          <p:cNvSpPr/>
          <p:nvPr/>
        </p:nvSpPr>
        <p:spPr>
          <a:xfrm>
            <a:off x="457200" y="822960"/>
            <a:ext cx="5943600" cy="91440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Thank You</a:t>
            </a:r>
            <a:endParaRPr lang="en-US" sz="5000" dirty="0"/>
          </a:p>
        </p:txBody>
      </p:sp>
      <p:sp>
        <p:nvSpPr>
          <p:cNvPr id="7" name="Shape 5"/>
          <p:cNvSpPr/>
          <p:nvPr/>
        </p:nvSpPr>
        <p:spPr>
          <a:xfrm>
            <a:off x="457200" y="1874520"/>
            <a:ext cx="5029200" cy="64008"/>
          </a:xfrm>
          <a:prstGeom prst="rect">
            <a:avLst/>
          </a:prstGeom>
          <a:solidFill>
            <a:srgbClr val="81A6C6"/>
          </a:solidFill>
          <a:ln w="12700">
            <a:solidFill>
              <a:srgbClr val="81A6C6"/>
            </a:solidFill>
            <a:prstDash val="solid"/>
          </a:ln>
        </p:spPr>
        <p:txBody>
          <a:bodyPr/>
          <a:lstStyle/>
          <a:p>
            <a:endParaRPr lang="en-US"/>
          </a:p>
        </p:txBody>
      </p:sp>
      <p:sp>
        <p:nvSpPr>
          <p:cNvPr id="8" name="Text 6"/>
          <p:cNvSpPr/>
          <p:nvPr/>
        </p:nvSpPr>
        <p:spPr>
          <a:xfrm>
            <a:off x="457200" y="2057400"/>
            <a:ext cx="5943600" cy="411480"/>
          </a:xfrm>
          <a:prstGeom prst="rect">
            <a:avLst/>
          </a:prstGeom>
          <a:noFill/>
          <a:ln/>
        </p:spPr>
        <p:txBody>
          <a:bodyPr wrap="square" lIns="0" tIns="0" rIns="0" bIns="0" rtlCol="0" anchor="ctr"/>
          <a:lstStyle/>
          <a:p>
            <a:pPr marL="0" indent="0">
              <a:buNone/>
            </a:pPr>
            <a:endParaRPr lang="en-US" sz="1700" dirty="0"/>
          </a:p>
        </p:txBody>
      </p:sp>
      <p:sp>
        <p:nvSpPr>
          <p:cNvPr id="9" name="Text 7"/>
          <p:cNvSpPr/>
          <p:nvPr/>
        </p:nvSpPr>
        <p:spPr>
          <a:xfrm>
            <a:off x="457200" y="2514600"/>
            <a:ext cx="5943600" cy="347472"/>
          </a:xfrm>
          <a:prstGeom prst="rect">
            <a:avLst/>
          </a:prstGeom>
          <a:noFill/>
          <a:ln/>
        </p:spPr>
        <p:txBody>
          <a:bodyPr wrap="square" lIns="0" tIns="0" rIns="0" bIns="0" rtlCol="0" anchor="ctr"/>
          <a:lstStyle/>
          <a:p>
            <a:pPr marL="0" indent="0">
              <a:buNone/>
            </a:pPr>
            <a:endParaRPr lang="en-US" sz="1300" dirty="0"/>
          </a:p>
        </p:txBody>
      </p:sp>
      <p:sp>
        <p:nvSpPr>
          <p:cNvPr id="10" name="Text 8"/>
          <p:cNvSpPr/>
          <p:nvPr/>
        </p:nvSpPr>
        <p:spPr>
          <a:xfrm>
            <a:off x="457200" y="2944368"/>
            <a:ext cx="5943600" cy="320040"/>
          </a:xfrm>
          <a:prstGeom prst="rect">
            <a:avLst/>
          </a:prstGeom>
          <a:noFill/>
          <a:ln/>
        </p:spPr>
        <p:txBody>
          <a:bodyPr wrap="square" lIns="0" tIns="0" rIns="0" bIns="0" rtlCol="0" anchor="ctr"/>
          <a:lstStyle/>
          <a:p>
            <a:pPr marL="0" indent="0">
              <a:buNone/>
            </a:pPr>
            <a:endParaRPr lang="en-US" sz="1300" dirty="0"/>
          </a:p>
        </p:txBody>
      </p:sp>
      <p:sp>
        <p:nvSpPr>
          <p:cNvPr id="11" name="Text 9"/>
          <p:cNvSpPr/>
          <p:nvPr/>
        </p:nvSpPr>
        <p:spPr>
          <a:xfrm>
            <a:off x="457200" y="3310128"/>
            <a:ext cx="5943600" cy="320040"/>
          </a:xfrm>
          <a:prstGeom prst="rect">
            <a:avLst/>
          </a:prstGeom>
          <a:noFill/>
          <a:ln/>
        </p:spPr>
        <p:txBody>
          <a:bodyPr wrap="square" lIns="0" tIns="0" rIns="0" bIns="0" rtlCol="0" anchor="ctr"/>
          <a:lstStyle/>
          <a:p>
            <a:pPr marL="0" indent="0">
              <a:buNone/>
            </a:pPr>
            <a:endParaRPr lang="en-US" sz="1300" dirty="0"/>
          </a:p>
        </p:txBody>
      </p:sp>
      <p:sp>
        <p:nvSpPr>
          <p:cNvPr id="12" name="Shape 10"/>
          <p:cNvSpPr/>
          <p:nvPr/>
        </p:nvSpPr>
        <p:spPr>
          <a:xfrm>
            <a:off x="0" y="4773168"/>
            <a:ext cx="9144000" cy="370332"/>
          </a:xfrm>
          <a:prstGeom prst="rect">
            <a:avLst/>
          </a:prstGeom>
          <a:solidFill>
            <a:srgbClr val="81A6C6"/>
          </a:solidFill>
          <a:ln w="12700">
            <a:solidFill>
              <a:srgbClr val="81A6C6"/>
            </a:solidFill>
            <a:prstDash val="solid"/>
          </a:ln>
        </p:spPr>
        <p:txBody>
          <a:bodyPr/>
          <a:lstStyle/>
          <a:p>
            <a:endParaRPr lang="en-US" dirty="0"/>
          </a:p>
        </p:txBody>
      </p:sp>
      <p:sp>
        <p:nvSpPr>
          <p:cNvPr id="13" name="Text 11"/>
          <p:cNvSpPr/>
          <p:nvPr/>
        </p:nvSpPr>
        <p:spPr>
          <a:xfrm>
            <a:off x="457200" y="4773168"/>
            <a:ext cx="8229600" cy="370332"/>
          </a:xfrm>
          <a:prstGeom prst="rect">
            <a:avLst/>
          </a:prstGeom>
          <a:noFill/>
          <a:ln/>
        </p:spPr>
        <p:txBody>
          <a:bodyPr wrap="square" lIns="0" tIns="0" rIns="0" bIns="0" rtlCol="0" anchor="ctr"/>
          <a:lstStyle/>
          <a:p>
            <a:pPr marL="0" indent="0" algn="ctr">
              <a:buNone/>
            </a:pPr>
            <a:r>
              <a:rPr lang="en-US" sz="1000" b="1" dirty="0">
                <a:solidFill>
                  <a:srgbClr val="0D2B4E"/>
                </a:solidFill>
                <a:latin typeface="Calibri" pitchFamily="34" charset="0"/>
                <a:ea typeface="Calibri" pitchFamily="34" charset="-122"/>
                <a:cs typeface="Calibri" pitchFamily="34" charset="-120"/>
              </a:rPr>
              <a:t>Data Analysis Project  </a:t>
            </a:r>
            <a:endParaRPr lang="en-US" sz="1000" dirty="0"/>
          </a:p>
        </p:txBody>
      </p:sp>
      <p:sp>
        <p:nvSpPr>
          <p:cNvPr id="5" name="TextBox 4">
            <a:extLst>
              <a:ext uri="{FF2B5EF4-FFF2-40B4-BE49-F238E27FC236}">
                <a16:creationId xmlns:a16="http://schemas.microsoft.com/office/drawing/2014/main" id="{4BE6C890-B0B7-F21D-1E7C-DF5778F53563}"/>
              </a:ext>
            </a:extLst>
          </p:cNvPr>
          <p:cNvSpPr txBox="1"/>
          <p:nvPr/>
        </p:nvSpPr>
        <p:spPr>
          <a:xfrm>
            <a:off x="457200" y="2258568"/>
            <a:ext cx="4579034" cy="1754326"/>
          </a:xfrm>
          <a:prstGeom prst="rect">
            <a:avLst/>
          </a:prstGeom>
          <a:noFill/>
        </p:spPr>
        <p:txBody>
          <a:bodyPr wrap="square">
            <a:spAutoFit/>
          </a:bodyPr>
          <a:lstStyle/>
          <a:p>
            <a:r>
              <a:rPr lang="en-US" dirty="0">
                <a:solidFill>
                  <a:srgbClr val="81A6C6"/>
                </a:solidFill>
              </a:rPr>
              <a:t>Members :</a:t>
            </a:r>
            <a:endParaRPr lang="ar-EG" dirty="0">
              <a:solidFill>
                <a:srgbClr val="81A6C6"/>
              </a:solidFill>
            </a:endParaRPr>
          </a:p>
          <a:p>
            <a:pPr marL="285750" indent="-285750">
              <a:buFont typeface="Arial" panose="020B0604020202020204" pitchFamily="34" charset="0"/>
              <a:buChar char="•"/>
            </a:pPr>
            <a:r>
              <a:rPr lang="en-US" dirty="0">
                <a:solidFill>
                  <a:srgbClr val="DCEAF8"/>
                </a:solidFill>
              </a:rPr>
              <a:t>Basmala Mahmoud</a:t>
            </a:r>
          </a:p>
          <a:p>
            <a:pPr marL="285750" indent="-285750">
              <a:buFont typeface="Arial" panose="020B0604020202020204" pitchFamily="34" charset="0"/>
              <a:buChar char="•"/>
            </a:pPr>
            <a:r>
              <a:rPr lang="en-US" dirty="0">
                <a:solidFill>
                  <a:srgbClr val="DCEAF8"/>
                </a:solidFill>
              </a:rPr>
              <a:t>Hager Mohamed</a:t>
            </a:r>
          </a:p>
          <a:p>
            <a:pPr marL="285750" indent="-285750">
              <a:buFont typeface="Arial" panose="020B0604020202020204" pitchFamily="34" charset="0"/>
              <a:buChar char="•"/>
            </a:pPr>
            <a:r>
              <a:rPr lang="en-US" dirty="0">
                <a:solidFill>
                  <a:srgbClr val="DCEAF8"/>
                </a:solidFill>
              </a:rPr>
              <a:t>Mohamed Ragab </a:t>
            </a:r>
          </a:p>
          <a:p>
            <a:pPr marL="285750" indent="-285750">
              <a:buFont typeface="Arial" panose="020B0604020202020204" pitchFamily="34" charset="0"/>
              <a:buChar char="•"/>
            </a:pPr>
            <a:r>
              <a:rPr lang="en-US" dirty="0">
                <a:solidFill>
                  <a:srgbClr val="DCEAF8"/>
                </a:solidFill>
              </a:rPr>
              <a:t>Sulaf Judah</a:t>
            </a:r>
          </a:p>
          <a:p>
            <a:pPr marL="285750" indent="-285750">
              <a:buFont typeface="Arial" panose="020B0604020202020204" pitchFamily="34" charset="0"/>
              <a:buChar char="•"/>
            </a:pPr>
            <a:r>
              <a:rPr lang="en-US" dirty="0">
                <a:solidFill>
                  <a:srgbClr val="DCEAF8"/>
                </a:solidFill>
              </a:rPr>
              <a:t>Ahmed Ghieth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webextension1.xml><?xml version="1.0" encoding="utf-8"?>
<we:webextension xmlns:we="http://schemas.microsoft.com/office/webextensions/webextension/2010/11" id="{B6E49083-F6B2-46D3-BDB3-F9A511EFF204}">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F7EBDE&quot;"/>
    <we:property name="bookmark" value="&quot;H4sIAAAAAAAAA+1abU/bSBD+K5W/9E6KTvviV74BoVKlckLAVSedUDS7O0m3OHa0tmlzKP/9xt5wFJQ2YJpcgONTvLuenZnnmZkdL9eBsdUsh/nvMMVgLzgoy8spuMs3PBgEhR9L0lhqw+M0hiTlLA2Z0TRbzmpbFlWwdx3U4CZYf7RVA3kriAb/uhgEkOcnMGmfxpBXOAhm6KqygNz+jX4xTdWuwcUgwK+zvHTQijyrocZW7BUtp2dSgf8maUfQtb3CM9S1H5VxLCRD1CJKOGihU9WqXfkFnWYrl7Siu+0Py6IGW9A27RiGEuMkYkmqBDKmmcZOjbHN6+USNT/6OnNkHdk8n7XOOSRdJ6WzGvKgs8Jh5ZW+Dg7LvJl2v47ujJ+VjdN4iuNuqqhtPSdJQzsd/VGhCxbkjhNXkrO68XZs1PqkqbqpT+WXQ4e0rQn22OKCRipbTPKlR2+NO/cKVrnVJJTwUp/JMZ0ZUyS82h8Gauismfn9LPr50nTT2Bl7HXyw5AAv+yPkTSv27ZDeMOWX4i0pRX8XrWoeINL98zcQdG9U3S6bcAht3O4sMwiTGEWsY5kaxWUYbRm7IV6Rp+8r60dHx+TR/PXB9yCfeATZmPFxykymJWhQLOKMr0Vw31xBocmVT4PvHVneUe0Ya6JDdV/h/dmMpimVjc7tFN/8omxR/boCzcF6xfYnE4cTqJePRxvUemgntoZ8dNC4omzq0ZkuncfiXVMscyjfdSNa1w9tVTvoNB69Lwx+XW/E2rgCWnv4CVx9J7TordIZdAfzjmVD626KjRjcM2f3gFxcfCeEl3lu3iOI+0aGj+koA8NVIrNISKVBMAhVK/6HyNgpibuLSitLhiZEAwwZZ1pkmYpD6CuLY5QaTEOhklgzKh2Cs76ydMIgEiZlCUsFGBUrnfS20QieRWgUhkwylqaJ6W2jCqU0aZaIkAlgEjGE9RXxuxF/jFA1Dp9aus/LlsftTK+zjAZn+sbrRizwddNEgiuiOEEWpXEqM0yeULoeqejaCL2ajChKb4N0xx3fxx4Pg4hDLjOdZRCHcQqgFar+MGwxv5/a6nKZRU/b1ufp1e0peO2S4ctzqcJISw2MZSqNmYgZ314qewgfD6AmReZDR83kCwive+YsQRiHhnOTARMRj8PERDLcKRCG1Ax1XHoBCHxri3d/JsNUx2qMmBmhw0wxuRsN7pIso6Px2GqLhZ6PPuDVymZ3tzqLG8Vvo/Y29bAeFJpZfC4NxRrTN9FI9CKQ7yLGBgyd0zHVwFkESkkGW6T+Omf6+nWGkykW9atjvc6bigSi8Wr+HwE/jUee/JxHIlTcMJ7FDFXMo3B92d38R+l9Y6z/INOd4Z5Hxr/7seL1kn+dHzaV/x9BJE9+5EiUGTNIUqEZCJ7pbWb+fjcyu8X5jeX7A3DPhe//0XHnoXdXBmUW80RGmWFMhajAZP07q59dlEjf98OXRvPdUv6xdWmwe4V+/T2m7hBamTK2f9K6ITVF/p/dBrtD1YvuPnax+sK3bOpqBhpPoMAVF79EAChMi8gPL3+7/8b49953sfgHvdha5QUiAAA=&quot;"/>
    <we:property name="creatorSessionId" value="&quot;30d0912f-28eb-4605-ac06-fd3d604376ca&quot;"/>
    <we:property name="creatorTenantId" value="&quot;5fcc9d9b-e3d3-4e19-ac0c-90aacae677cf&quot;"/>
    <we:property name="creatorUserId" value="&quot;100320052181C784&quot;"/>
    <we:property name="datasetId" value="&quot;54c8a1b6-f861-4a8f-8d59-246f420b7558&quot;"/>
    <we:property name="embedUrl" value="&quot;/reportEmbed?reportId=be259929-8f33-4fd7-9e7f-053f01ea9e79&amp;groupId=eb31d6ea-63c4-421a-911e-80e421be7b77&amp;w=2&amp;config=eyJjbHVzdGVyVXJsIjoiaHR0cHM6Ly9XQUJJLVdFU1QtRVVST1BFLUItUFJJTUFSWS1yZWRpcmVjdC5hbmFseXNpcy53aW5kb3dzLm5ldCIsImVtYmVkRmVhdHVyZXMiOnsidXNhZ2VNZXRyaWNzVk5leHQiOnRydWV9fQ%3D%3D&amp;disableSensitivityBanner=true&amp;storytellingChangeViewModeShortcutKeys=true&quot;"/>
    <we:property name="initialStateBookmark" value="&quot;H4sIAAAAAAAAA+1abW/bNhD+K4W+dAOMgRT1mm9OnAJFmzZIsmLAEBhH8uyykSWDkt24gf/7TpSzNIFbJUrtOcn8ySape3ueuyNFX3nalNMMFh9ggt6et18UFxOwF6+41/Py1djHj++O+ifvhh/6R4c0XEwrU+Slt3flVWDHWH0y5QyyWgIN/n3e8yDLjmFc/xpBVmLPm6Itixwy8w2bxTRV2Rkuex5eTrPCQi3ytIIKa7FzWk6/STf/Q5BGUJWZ4ymqqhkVUeQLhqj8MOagfJXI2t6yWeAsW7ukFu3UHxR5BSYnNfUYBgKjOGRxIn1kTDGFzoyRyarVErk4vJxa8o58XkzrqByQrePCGgWZ57ywWDZGX3kHRTabuG+Ht8ZPi5lVeIIjN5VXplqQpIGZDP8s0XpLCsexLShYbrweG9YxmZVu6nPx9cAiqdXeHlue00hp8nG2iuiNc2eNgWVmFAklvOQXCoxzY4KEV/1FQwXOm2mjz2AzX2g3jc7ZK++9oQA0sj9BNqvFvh7QE7r4mr8mo+hzXpvWAES2f/kOAvdE6bRsIiCkuNYsUgjiCP1IRSLRkosg3DJ2A5xTpO8a24wOjyii2cuD714xaRBkI8ZHCdOpEqBAspAz3opgX88hVxTKx8H3hjx3VDvCiuhQ3jW4P53SNJWy4ZmZ4KvfpMnL39eg2Ws3rD8eWxxDtfp5uEGrB2ZsKsiG+zObF7NqeKoK22DxZpavaijfdSfq0A9MWVlwFg/f5hov251ozSugtQefwVa3UoueKqxGu79wLBsYe91s/N4dd3YPyOX5D1J4VecWHZK4a2Y0OR2moLmMRRr6QirwGQSyFv9TZMyExN1GpZYlAh2gBoaMM+WnqYwC6CqLY5hoTAJfxpFi1Dp8zrrKUjGD0NcJi1nig5aRVHFnH7XP0xC1xIAJxpIk1p19lIEQOkljP2A+MIEYQHtH/GHGHyGUM4uPbd1nRc3jeqbTXkaB1V3zdSMeNH1Thz6XRHGCLEyiRKQYP6J1PdDQ1gydj4eUpTdJuuOB7+JPA4MfBVykKk0hCqIEQEmU3WHYYn0/MeXFqoqe1Eefx3e3x+C1S46v9qUSQyUUMJbKJGJ+xPj2Stl9+LgPFRmyGFg6TD6D9LrjzgqEUaA51ykwP+RREOtQBDsFwoAOQ45LzwCB731pwp+KIFGRHCGm2ldBKpnYjQPuiizDw9HIKIO5Wgzf43ztYXe3ThbXht9k7U3pYR0oNDX4VA4ULa5v4iDRiUDNKWKkQdM+HRMFnIUgpWCwReq3BbPpX6c4nmBevTjWq2xWkkDUjZn/Z8Av41FDfs5DP5BcM55GDGXEw6C97W7+pXRfa9O8kHF7uKdR8W+/rHi55G+Lw6bq/wOI1JAfORJlRgzixFcMfJ6qbVb+bjcyu8X5jdX7fbBPhe//0XbnvndXGkUa8ViEqWZMBihBp91PVr+6KZG9bwfPjea7ZfxD+1Jv9xp9+z2mcgitLRnb32ldk5oy/y+nYHeoeu7uY5frL3yLWVVOQeEx5Ljm4pcIALmuEfnp5a/7N4bnlBBGRmZtt8X1fzT+vSdeLv8BY9KXQC4iAAA=&quot;"/>
    <we:property name="isFiltersActionButtonVisible" value="true"/>
    <we:property name="isVisualContainerHeaderHidden" value="false"/>
    <we:property name="pageDisplayName" value="&quot;Overview&quot;"/>
    <we:property name="pageName" value="&quot;366230eec2571ac2c8b1&quot;"/>
    <we:property name="reportEmbeddedTime" value="&quot;2026-03-05T22:43:17.242Z&quot;"/>
    <we:property name="reportName" value="&quot;user_behavior (2)&quot;"/>
    <we:property name="reportState" value="&quot;CONNECTED&quot;"/>
    <we:property name="reportUrl" value="&quot;/links/vx4EgEOTwI?ctid=5fcc9d9b-e3d3-4e19-ac0c-90aacae677cf&amp;bookmarkGuid=7a72a756-f3b7-48b3-bca3-002d16731f98&quot;"/>
  </we:properties>
  <we:bindings/>
  <we:snapshot xmlns:r="http://schemas.openxmlformats.org/officeDocument/2006/relationships"/>
</we:webextension>
</file>

<file path=ppt/webextensions/webextension2.xml><?xml version="1.0" encoding="utf-8"?>
<we:webextension xmlns:we="http://schemas.microsoft.com/office/webextensions/webextension/2010/11" id="{2480A2E7-7730-447E-9E73-512BF3FF53B0}">
  <we:reference id="wa200003233" version="2.0.0.3" store="en-US" storeType="OMEX"/>
  <we:alternateReferences>
    <we:reference id="WA200003233" version="2.0.0.3" store="WA200003233" storeType="OMEX"/>
  </we:alternateReferences>
  <we:properties>
    <we:property name="embedUrl" value="&quot;/reportEmbed?reportId=be259929-8f33-4fd7-9e7f-053f01ea9e79&amp;groupId=eb31d6ea-63c4-421a-911e-80e421be7b77&amp;w=2&amp;config=eyJjbHVzdGVyVXJsIjoiaHR0cHM6Ly9XQUJJLVdFU1QtRVVST1BFLUItUFJJTUFSWS1yZWRpcmVjdC5hbmFseXNpcy53aW5kb3dzLm5ldCIsImVtYmVkRmVhdHVyZXMiOnsidXNhZ2VNZXRyaWNzVk5leHQiOnRydWV9fQ%3D%3D&amp;disableSensitivityBanner=true&amp;storytellingChangeViewModeShortcutKeys=true&quot;"/>
    <we:property name="bookmark" value="&quot;H4sIAAAAAAAAA+VZUW/bNhD+K4OejYESJZLKW2K3e1m3IMn6MgTGkTyramRJoGSvXuD/viPlNo1T1J2DpGrzZIt3On533+fTUb6NbNm1FWz+gCVGJ9FZ09wswd38EkeTqB7W8lSYJE2FAs0wNmmecEvWpu3Lpu6ik9uoB1dg/7bsVlD5QLT49/Ukgqo6h8JfLaDqcBK16Lqmhqr8FwdnMvVuhdtJhB/aqnHgQ1720KMPuyZ3uiYI8a+cdgTTl2u8RNMPqyLT1kCeWaaVVSrXiJrcusEhIPuiiw8dtp82dQ9lTdv4tYU2nMWogGXKxDlXWqZhvaz6nYvevPrQOsqOct60vjhTwlo0rjRQRSELh90A+jaaNtVqGb69urd+2aycwQtcBFPdl/2GIs3K5fyvDl20pXKcu4aKFdZ/QwIYChMs75p/pg5pVxudsO3kE5BTu4baoH2A4rQoHBZDgAdQ/h/E18RAwPgGe0q524d62rZkJsrnVyVJx1tfr+odXewh+mta6cq6qHZyuGPmakjKVKuOao/2DNz0Hbje606/J4I9HXR34yy6s01gZFa6j9JIJnv5jKgI2+uPSqab3n+m1Z2UhmSeQDvXW29d8CQTFoXk2sqYp8Bt/BOo/A1Ct3L4WBhXTQ9VsHRfwHFQr/qRMn2SLL6z4KSOudGcC6EwTiQTTCQvT3AHu8a6mFPn2Gsc45bfMTl9ZzHGKmNcmcQ3v0wqyTTAM4txhuvS4D7WP9sAtS7mlxt65C1/5C746ak9FOfldMRvpnb3KAaV2JyhTTkTyLjNJHu5YvyWbnIGPVVmM3M0tR+jzLbEsTXIvZRGIk2TMQm55orpJDccJGp5UJpjOILsyjm/k8hXTyCTsf2unlzC4+FiJFJPeSoWIDPBM8OyTOucGR/zqyyUS5pp7lPgY1nGshgTJU0mGMstCIRjYyWca6N1zLjIbZLFUuVHx9IaNSoeQ4KEL05ZivmxsfIspXGegZCJMsgVsPT4ei2EyRFZkslUaGDCZodfuYx9+gFnRzbteDNPpeKJsZAKzDSLpeGHj2E/1OnnGQt/3MnHOyGKRKqEWWo1KbecusThmW8MD9aLsrvZvde68O9n77fz+Jn5GlPiA7Fgrc1NvjBgWa5ynsf4CGJHODuP7Of1YG4OJNDEKiUdpQwmGiwqFHZUJMygh6Cln4CBz3MJs5T3uQMXLdEVYcNm1XctGDyHGgPQdghUYvCjokNt0e6+O//5e0l8DSV4C9XKZx/+Q4rCNmGz/wCVc10CuxoAAA==&quot;"/>
    <we:property name="datasetId" value="&quot;54c8a1b6-f861-4a8f-8d59-246f420b7558&quot;"/>
    <we:property name="pageName" value="&quot;65bdca95d0b8d889beeb&quot;"/>
    <we:property name="reportUrl" value="&quot;/links/vx4EgEOTwI?ctid=5fcc9d9b-e3d3-4e19-ac0c-90aacae677cf&amp;bookmarkGuid=45d4bc16-8d14-4944-bee5-ede15d7619c1&quot;"/>
    <we:property name="reportName" value="&quot;user_behavior (2)&quot;"/>
    <we:property name="reportState" value="&quot;CONNECTED&quot;"/>
    <we:property name="pageDisplayName" value="&quot;Data Bias&quot;"/>
    <we:property name="backgroundColor" value="&quot;#F7EBDE&quot;"/>
    <we:property name="initialStateBookmark" value="&quot;H4sIAAAAAAAAA+VZwW7bOBD9lYXOxoISJZHKzbHTHrppgiTbyyIwhuRYVSNLAiV76w387zuk3KZxirp1kFRtTraHo+Gbec+joXQbmKJtSli/hQUGR8FxXd8swN78EQajoNrazs7enI4v3szejk9PyFw3XVFXbXB0G3Rgc+zeFe0SSheBjP9cjwIoy3PI3a85lC2OggZtW1dQFv9h70xLnV3iZhTgx6asLbiQlx106MKuyJ1+097hn5x2BN0VK7xE3fXWNFFGQ5YYpqSRMlOIitza3sEj+6qLC+23n9RVB0VF2zjbXGnOQpTAEqnDjEslYm8vym7rotYnHxtL2VHO68ZVZUJY89oWGsrAZ2Gx7UHfBpO6XC78t5N79st6aTVe4NwvVV3RrSnStFjM/m7RBhsqx7mtqVje/hoJoC+MX3lf/zuxSLua4IhtRp+BjM0KKk3WXRTjPLeY9wEeQPkxiK+IAY/xFDtKud2FOm4aWibKZ1cFacatvlpWW7rYQ/TXZGmLKi+3crhj5qpPSpfLlmqP5hjs5D3YzulOfSCCHR10dW0N2uO1Z2Ra2E/SiEY7+QyoCJvrT0qmiz58odWtlPpknkA71xu3OudRkhpMBVdGhDwGbsLfQOWnCO3S4mNhXNUdlH6l/QqOvXpVj5Tpk2TxkwUnVMi14jxNJYaRYClLo5cnuL1dY5XPqHPsNI5hy++QnH6yGEOZMC515JpfIqRgCuCZxTjFVaFxF+tZ46FW+exyTbe8xa/cBT/ftfvivJyO+N3Ubm/FICOTMTQxZykybhLBXq4Yv6ebHENHlVlPLU3thyizKXBoDXInpYFIUydMQKa4ZCrKNAeBSuyV5hCOINtyzu4k8s0TyGho/6snl/BwuBiI1GMep3MQScoTzZJEqYxpF/ObLBQLmmnuU+BiGcaSECMpdJIylhlIEQ6NFXGutFIh42lmoiQUMjs4llKoUPIQIiR8YcxizA6NlSUxjfMMUhFJjVwCiw+v1zzVGSKLEhGnClhqkv2PXIY+/YA1A5t23DKPheSRNhCnmCgWCs33H8N+qdPPMxb+sJOPc0JMIyEjZqjVxNxw6hL7Z74h3FgvivZm+1zrwj2fvd/Ow2fma0iJ98SCMSbT2VyDYZnMeBbiI4gd4Ow8sL/Xg7nZk0ATqxB0lNIYKTAoMTWDImEKHXgt/QYMfJmLn6Wczx24YIE29xvWy65tQOM5VOiBNn2gAr0fFR0qg2b73brPvwriqy/BOyiXLnv/Dinwm1BVClXingvcm6XAw/Lg/gcxv8+X5BoAAA==&quot;"/>
    <we:property name="isFiltersActionButtonVisible" value="true"/>
    <we:property name="isVisualContainerHeaderHidden" value="false"/>
    <we:property name="reportEmbeddedTime" value="&quot;2026-03-05T22:43:32.590Z&quot;"/>
    <we:property name="creatorTenantId" value="&quot;5fcc9d9b-e3d3-4e19-ac0c-90aacae677cf&quot;"/>
    <we:property name="creatorUserId" value="&quot;100320052181C784&quot;"/>
    <we:property name="creatorSessionId" value="&quot;4c10405f-fa80-4afa-83ae-895ccd215961&quot;"/>
    <we:property name="artifactViewState" value="&quot;live&quot;"/>
  </we:properties>
  <we:bindings/>
  <we:snapshot xmlns:r="http://schemas.openxmlformats.org/officeDocument/2006/relationships"/>
</we:webextension>
</file>

<file path=ppt/webextensions/webextension3.xml><?xml version="1.0" encoding="utf-8"?>
<we:webextension xmlns:we="http://schemas.microsoft.com/office/webextensions/webextension/2010/11" id="{ADDDF541-2977-4336-BEFF-4461CE619AC0}">
  <we:reference id="wa200003233" version="2.0.0.3" store="en-US" storeType="OMEX"/>
  <we:alternateReferences>
    <we:reference id="WA200003233" version="2.0.0.3" store="" storeType="OMEX"/>
  </we:alternateReferences>
  <we:properties>
    <we:property name="reportUrl" value="&quot;/groups/eb31d6ea-63c4-421a-911e-80e421be7b77/reports/be259929-8f33-4fd7-9e7f-053f01ea9e79/0d7013110983800583da?bookmarkGuid=ee493e32-8b72-4187-82e6-3695f72be294&amp;bookmarkUsage=1&amp;ctid=5fcc9d9b-e3d3-4e19-ac0c-90aacae677cf&amp;fromEntryPoint=export&quot;"/>
    <we:property name="reportName" value="&quot;user_behavior (2)&quot;"/>
    <we:property name="reportState" value="&quot;CONNECTED&quot;"/>
    <we:property name="embedUrl" value="&quot;/reportEmbed?reportId=be259929-8f33-4fd7-9e7f-053f01ea9e79&amp;groupId=eb31d6ea-63c4-421a-911e-80e421be7b77&amp;w=2&amp;config=eyJjbHVzdGVyVXJsIjoiaHR0cHM6Ly9XQUJJLVdFU1QtRVVST1BFLUItUFJJTUFSWS1yZWRpcmVjdC5hbmFseXNpcy53aW5kb3dzLm5ldCIsImVtYmVkRmVhdHVyZXMiOnsidXNhZ2VNZXRyaWNzVk5leHQiOnRydWV9fQ%3D%3D&amp;disableSensitivityBanner=true&amp;storytellingChangeViewModeShortcutKeys=true&quot;"/>
    <we:property name="pageName" value="&quot;0d7013110983800583da&quot;"/>
    <we:property name="pageDisplayName" value="&quot;Models Performance&quot;"/>
    <we:property name="datasetId" value="&quot;54c8a1b6-f861-4a8f-8d59-246f420b7558&quot;"/>
    <we:property name="backgroundColor" value="&quot;#F7EBDE&quot;"/>
    <we:property name="bookmark" value="&quot;H4sIAAAAAAAAA+1Z3W/bNhD/Vwq99MUYKH5IVN5iJ8UGLF2QZMWAIRBO5MlRI0uCJLv1gvzvPVFeu3jOnLiJKwPLS0Qefby7332RvPNs1lQ5LN/DDL0jb1yWtzOob9/43sgr+rnUT6TgiWWhr4NQmzCBkKhl1WZl0XhHd14L9RTbD1kzh7xjRJN/Xo88yPNzmHajFPIGR16FdVMWkGd/Yb+YSG09x/uRh5+rvKyhY3nZQosd2wUtpzGJ4P8kaEcwbbbASzRtP8tsyHzh+yzSQjOmtLBAy5p+gZNs45KOtdt+UhYtZAVt081pHkZJGgETqCQmvm+Rd/NplrerJcny9HNVk3ak87LqjDMhWadlnRnIPadFjU0v9J03KfP5zH2dPpi/LOe1wQtMHalos3ZJnE6yWXyCi8ygd08GOa9LMldPcbPxWWkxd7Sb8tOkRtrZekfs/ppmmqyY5iujftPvqpexyenndQdZ8pFs4zSZIUHWfVhowSlU9Rtm2NNps+4/On3vvF8zskHP+wPk847t2zE0mXlLEtHfdSdXDxBJ/vEfELjljdvilQxCexM9NUaGKpIiQSZNkvjKt1vhO7YLKAzZcR274+m0xim0q+HpdwD7jswS/95gfYYtOUqzrs0YWhJwGZ/U5IuO+G5erHyc/Rvu0ZB8bzQoSx5XFZEp5cRX2Qy3m3J75BiHzeQG6vZB/Dzm7CtIlq/q7iPvD8d/QJbtQ1CHBlFQ5gSupUGmOVMHEYLv57ME67hMY1K0iX8pmpaKF8n0jGgcgh47p5JHhX++D3fircvVzcVjvIFFVtbxJIem2S2ZnCE08xq/V56rkvB1lE1yvHxa2Hu8Pt2h+8hVMk1smHJkLAnQaIXcHELvM6zwc2EX0yj+mX7/AvXH5POG7I+2l3Ojw5W1xXrcV5yTrP67O+ajNZUGZIeuhP248ukcnjxFR1yCAGmZYGilCnYvVc9MS1vtRz35Gxq8+Wq+AbeAe3XiVzb0AByT8xSFjfwokloZ7ScsYP9n4ucCe/nbVXyappnJsDDLl8zEY9hc9weYhrcZYQDerlkImIQhR6HDUAcWIr17Gv4xzephBN8LZ87jxTRenTa+HTaeGVNVtijbK0hy3DWYXsm8jweG22/Xy6ynOxvtf1F+2sOlWQSpAcPAlz4Pkbr/yLgT+3/ils1gugZZx8umdIIwPlgpmeEYCmW3V659+mtX7d0lxk5dDNR2IF3Lui795as0IhBGRyiE5UwlUkdsVyiF1kkqpRVcKFB+QOy2HwcPKfUMDM01dXpAdSBkkAhmJechM6EKGN8V0EQGaYQ2FL6yiZSGiu5h3MxdZM3t6ubxonsWetjE+HuGfkiK905CrVNoIU1BRQljiRKKB7s6SQSBIEbMgNI+MsU4H1YCP66qtUvoww77dX1WkEqhDUaM6QhClIopaXaFNBV+aqSKjPU5gaRQRPuD9JVuX/cI4tM0cL1Ut2LT+2o5b5sKDJ5DgRveWcnAUFi0q+/H3lrdA/rXl9b7+y9ywA3JuB8AAA==&quot;"/>
    <we:property name="initialStateBookmark" value="&quot;H4sIAAAAAAAAA+1Z227bOBD9lUAvfTEWlEjqkjfbSbGLbi5IssUCRSCMyJHDRpYESXbrBvn3HVHetvE6deImrgxsXmKR1FzOmRmOyDtHm7rMYHEKU3QOnVFR3E6huj1wnYGTL8fOzt6dDC/exafDk2MaLsrGFHntHN45DVQTbN6begZZK4EGP1wPHMiyc5i0TylkNQ6cEqu6yCEzX7BbTFNNNcP7gYOfy6yooBV52UCDrdg5Ladn0u3+xkkjqMbM8RJV040yHTCXuy6LQh4yJkOugZbV3QJr2dolrWirflzkDZic1LRjoRdESRoB4ygFJq6r0WvHU5M1yyXJ4vhzWZF35POibFEZk62TojIKMsd6UWHdGX3njItsNrW/jh+MXxazSuEFpnYqb0yzIElHZhof4dwodO4JkPOqILi6GTsanxQaMzt3U3waV0iatXPI7q9ppDb5JFuC+s2/q87GOqPXq5ay5CNhYz2ZIlHW/tDQgHWo7BQa7OZJWfsfrb93zp+GMOhkv4ds1op9M4LaqDdkEf1dt3Z1BJHlH7+jwC6vrYpXAoR003yqlAhkJHiCTKgkcaWrN9I31HPIFeG4yt1wMqlwAs3y8fgniH1LsMR/1VidYEOBUq96M4KGDFzERxXFop18O8uXMc7+S/egT7E36BWSw7KkaSo58ZWZ4mYoN2eOstyMb6BqHuTPY8G+pGTxquE+cP628nuEbJeCYaAQOVVO8EKhkIUek3uRgqezaYJVXKQxOVrHf+R1Q5sX2fSMbOyDH1uXkkeNf34Mt+at2tWOxSO8gbkpqnicQV1vV0xOEOpZhT9rz1VB/NqZdXa8fFnYeb4+PaC7zJUiTXSQeshY4qMKJXpqH3qffqWfTbuYnuLf6f0X2H9UNqsJf9SdnWsDrqg0VqNuxzky1b/dsTdYcalHOLRb2K/bPm3AU6SEkSeAg9CMM9RC+ttvVc8sSxvxo578gB4OvsLX4xZwp0H8ykD3IDA9L0WuIzeKRChV6CbMZ/9X4ucSe3l2FR+nqVEGc7V4yUo8gvX7fg/L8CYQehDtIQsAkyDwkIdBEPoaonD7MvxrmtX9SL4XrpzD+SRefm18+9h4Zk6VZl40V5BkuG0yvRK8jyeG1bftYdbTg430XxSfdnBoFkGqQDFwhesFSN1/pOwX+w95M1OYrFDWytIpfUEoF7QQTHkYcKk371y7jNd2t7eHGFt1MVDpnnQtq750h69CcZ+rMELOtcdkIsKIbUslD8MkFUJzj0uQrk/iNn8O7lPp6RmbK+50hIY+F37CmRaeFzAVSJ952xKaCD+NUAfclToRQtGmux8ncxemvl2ePF6010IPmxh3x9T3yfEuSKh1CjSkKcgoYSyRXHr+tkESgc9JEFMgQxeZZJ7XrwI+LMuVQ+j9TvtVf5aUCh4qjBgLIwhQSCaF2pbSlLupEjJS2vWIJIk82h2lr3T6ukMSn+aB7aXaFevuV4tZU5eg8BxyXHPPSgBDrlEvfz9212ov0B2rhLAwbcv84xfaa/WvN7P39/8AbxPQu+EfAAA=&quot;"/>
    <we:property name="isFiltersActionButtonVisible" value="true"/>
    <we:property name="isVisualContainerHeaderHidden" value="false"/>
    <we:property name="reportEmbeddedTime" value="&quot;2026-03-05T22:39:43.589Z&quot;"/>
    <we:property name="creatorTenantId" value="&quot;5fcc9d9b-e3d3-4e19-ac0c-90aacae677cf&quot;"/>
    <we:property name="creatorUserId" value="&quot;100320052181C784&quot;"/>
    <we:property name="creatorSessionId" value="&quot;17fa75fb-9c74-4d76-bee4-5b557827adf8&quot;"/>
    <we:property name="artifactViewState" value="&quot;liv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655</TotalTime>
  <Words>2673</Words>
  <Application>Microsoft Office PowerPoint</Application>
  <PresentationFormat>On-screen Show (16:9)</PresentationFormat>
  <Paragraphs>260</Paragraphs>
  <Slides>34</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Abadi ExtraLight</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Project Template</dc:title>
  <dc:subject>PptxGenJS Presentation</dc:subject>
  <dc:creator>PptxGenJS</dc:creator>
  <cp:lastModifiedBy>ahmed mohamd ghieth</cp:lastModifiedBy>
  <cp:revision>11</cp:revision>
  <dcterms:created xsi:type="dcterms:W3CDTF">2026-03-05T14:14:23Z</dcterms:created>
  <dcterms:modified xsi:type="dcterms:W3CDTF">2026-03-06T14:14:28Z</dcterms:modified>
</cp:coreProperties>
</file>